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2DBF26-8D31-4875-AB5F-5A379796C634}">
  <a:tblStyle styleId="{4F2DBF26-8D31-4875-AB5F-5A379796C6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Economic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conomic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20336164eea597c6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20336164eea597c6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0336164eea597c6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0336164eea597c6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e1d3a27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be1d3a2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e1d3a27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be1d3a27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e1d3a27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e1d3a27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e1d3a27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e1d3a27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e1d3a27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be1d3a27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e1d3a27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be1d3a27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be1d3a27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be1d3a27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453725" y="2798675"/>
            <a:ext cx="8346300" cy="58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Pricing the Ride: How Clean Data Turned 500,000 Trips into Three Product Decisions</a:t>
            </a:r>
            <a:endParaRPr b="1" sz="17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0" y="4589475"/>
            <a:ext cx="71814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11">
                <a:solidFill>
                  <a:schemeClr val="lt1"/>
                </a:solidFill>
              </a:rPr>
              <a:t>     Prepared by:   </a:t>
            </a:r>
            <a:r>
              <a:rPr b="1" lang="en-GB" sz="1711">
                <a:solidFill>
                  <a:schemeClr val="lt1"/>
                </a:solidFill>
              </a:rPr>
              <a:t>Esraa Elgebaly</a:t>
            </a:r>
            <a:endParaRPr sz="171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20450" y="1389750"/>
            <a:ext cx="7111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2"/>
                </a:solidFill>
              </a:rPr>
              <a:t>Uber Fare Prediction </a:t>
            </a:r>
            <a:endParaRPr b="1" sz="4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101847" y="120425"/>
            <a:ext cx="8968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2473"/>
              <a:buFont typeface="Arial"/>
              <a:buNone/>
            </a:pPr>
            <a:r>
              <a:rPr b="1" i="0" lang="en-GB" sz="2473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Three data problems, three fixes</a:t>
            </a:r>
            <a:endParaRPr b="0" i="0" sz="24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01700" y="1046216"/>
            <a:ext cx="2841900" cy="3267000"/>
          </a:xfrm>
          <a:prstGeom prst="roundRect">
            <a:avLst>
              <a:gd fmla="val 2081" name="adj"/>
            </a:avLst>
          </a:prstGeom>
          <a:solidFill>
            <a:srgbClr val="F1F2F4"/>
          </a:solidFill>
          <a:ln cap="flat" cmpd="sng" w="10475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4"/>
          </a:p>
        </p:txBody>
      </p:sp>
      <p:sp>
        <p:nvSpPr>
          <p:cNvPr id="71" name="Google Shape;71;p14"/>
          <p:cNvSpPr txBox="1"/>
          <p:nvPr/>
        </p:nvSpPr>
        <p:spPr>
          <a:xfrm>
            <a:off x="323446" y="1240675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907"/>
              <a:buFont typeface="Courier New"/>
              <a:buNone/>
            </a:pPr>
            <a:r>
              <a:rPr b="1" i="0" lang="en-GB" sz="1107" u="none" cap="none" strike="noStrike">
                <a:solidFill>
                  <a:srgbClr val="073763"/>
                </a:solidFill>
              </a:rPr>
              <a:t>PROBLEM 1 · IMPOSSIBLE VALUES</a:t>
            </a:r>
            <a:endParaRPr b="1" i="0" sz="1107" u="none" cap="none" strike="noStrike">
              <a:solidFill>
                <a:srgbClr val="073763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23446" y="1551810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989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What we saw</a:t>
            </a:r>
            <a:endParaRPr b="0" i="0" sz="9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23446" y="1769604"/>
            <a:ext cx="239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 or negative fares, 0 passengers, missing GPS locations.</a:t>
            </a:r>
            <a:endParaRPr b="0" i="0" sz="10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23446" y="2251863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11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b="0" i="0" sz="11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3446" y="2469657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rgbClr val="4A5260"/>
                </a:solidFill>
                <a:latin typeface="Arial"/>
                <a:ea typeface="Arial"/>
                <a:cs typeface="Arial"/>
                <a:sym typeface="Arial"/>
              </a:rPr>
              <a:t>Removed them.</a:t>
            </a:r>
            <a:endParaRPr b="0" i="0" sz="10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249531" y="2757456"/>
            <a:ext cx="2545800" cy="894600"/>
          </a:xfrm>
          <a:prstGeom prst="roundRect">
            <a:avLst>
              <a:gd fmla="val 6957" name="adj"/>
            </a:avLst>
          </a:prstGeom>
          <a:solidFill>
            <a:srgbClr val="E4E7EB"/>
          </a:solidFill>
          <a:ln cap="flat" cmpd="sng" w="10475">
            <a:solidFill>
              <a:srgbClr val="E4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360404" y="2819683"/>
            <a:ext cx="23241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89"/>
              <a:buFont typeface="Arial"/>
              <a:buNone/>
            </a:pPr>
            <a:r>
              <a:rPr b="1" i="0" lang="en-GB" sz="10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this fix</a:t>
            </a:r>
            <a:endParaRPr b="1" i="0" sz="10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60404" y="3029699"/>
            <a:ext cx="2324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07"/>
              <a:buFont typeface="Arial"/>
              <a:buNone/>
            </a:pPr>
            <a:r>
              <a:rPr b="1" i="0" lang="en-GB" sz="1007" u="none" cap="none" strike="noStrike">
                <a:solidFill>
                  <a:schemeClr val="dk1"/>
                </a:solidFill>
              </a:rPr>
              <a:t>They cannot be real trips, and the true values are unknown, so repairing them would invent data. Only 2.3% of trips.</a:t>
            </a:r>
            <a:endParaRPr b="1" i="0" sz="1007" u="none" cap="none" strike="noStrike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23446" y="3768644"/>
            <a:ext cx="23979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648"/>
              <a:buFont typeface="Arial"/>
              <a:buNone/>
            </a:pPr>
            <a:r>
              <a:rPr b="1" i="0" lang="en-GB" sz="1648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488,316 real trips kept</a:t>
            </a:r>
            <a:endParaRPr b="0" i="0" sz="1648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165000" y="1046216"/>
            <a:ext cx="2841900" cy="3267000"/>
          </a:xfrm>
          <a:prstGeom prst="roundRect">
            <a:avLst>
              <a:gd fmla="val 2081" name="adj"/>
            </a:avLst>
          </a:prstGeom>
          <a:solidFill>
            <a:srgbClr val="F1F2F4"/>
          </a:solidFill>
          <a:ln cap="flat" cmpd="sng" w="10475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3386746" y="1240675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907"/>
              <a:buFont typeface="Courier New"/>
              <a:buNone/>
            </a:pPr>
            <a:r>
              <a:rPr b="1" i="0" lang="en-GB" sz="1107" u="none" cap="none" strike="noStrike">
                <a:solidFill>
                  <a:srgbClr val="073763"/>
                </a:solidFill>
              </a:rPr>
              <a:t>PROBLEM 2 · ZERO DISTANCE</a:t>
            </a:r>
            <a:endParaRPr i="0" sz="1107" u="none" cap="none" strike="noStrike">
              <a:solidFill>
                <a:srgbClr val="073763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386746" y="1551810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989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What we saw</a:t>
            </a:r>
            <a:endParaRPr b="0" i="0" sz="9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3386746" y="1769604"/>
            <a:ext cx="239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= 0 km, yet fares up to $100.</a:t>
            </a:r>
            <a:endParaRPr b="0" i="0" sz="10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386746" y="2251863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11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b="0" i="0" sz="11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3386746" y="2469657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rgbClr val="4A5260"/>
                </a:solidFill>
                <a:latin typeface="Arial"/>
                <a:ea typeface="Arial"/>
                <a:cs typeface="Arial"/>
                <a:sym typeface="Arial"/>
              </a:rPr>
              <a:t>Removed trips with distance 0.</a:t>
            </a:r>
            <a:endParaRPr b="0" i="0" sz="10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312830" y="2757456"/>
            <a:ext cx="2545800" cy="894600"/>
          </a:xfrm>
          <a:prstGeom prst="roundRect">
            <a:avLst>
              <a:gd fmla="val 6957" name="adj"/>
            </a:avLst>
          </a:prstGeom>
          <a:solidFill>
            <a:srgbClr val="E4E7EB"/>
          </a:solidFill>
          <a:ln cap="flat" cmpd="sng" w="10475">
            <a:solidFill>
              <a:srgbClr val="E4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3423703" y="2819683"/>
            <a:ext cx="23241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89"/>
              <a:buFont typeface="Arial"/>
              <a:buNone/>
            </a:pPr>
            <a:r>
              <a:rPr b="1" i="0" lang="en-GB" sz="10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this fix</a:t>
            </a:r>
            <a:endParaRPr b="0" i="0" sz="10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423703" y="3029699"/>
            <a:ext cx="2324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07"/>
              <a:buFont typeface="Arial"/>
              <a:buNone/>
            </a:pPr>
            <a:r>
              <a:rPr b="1" i="0" lang="en-GB" sz="1007" u="none" cap="none" strike="noStrike">
                <a:solidFill>
                  <a:schemeClr val="dk1"/>
                </a:solidFill>
              </a:rPr>
              <a:t>A linear model reads 0 km as a cheap trip, so these rows mislead it. The real distance is unknown, so filling it would be a guess.</a:t>
            </a:r>
            <a:endParaRPr b="1" i="0" sz="10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386746" y="3768644"/>
            <a:ext cx="23979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648"/>
              <a:buFont typeface="Arial"/>
              <a:buNone/>
            </a:pPr>
            <a:r>
              <a:rPr b="1" i="0" lang="en-GB" sz="1648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R² 0.618 → 0.688</a:t>
            </a:r>
            <a:endParaRPr b="0" i="0" sz="1648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228300" y="1046216"/>
            <a:ext cx="2841900" cy="3267000"/>
          </a:xfrm>
          <a:prstGeom prst="roundRect">
            <a:avLst>
              <a:gd fmla="val 2081" name="adj"/>
            </a:avLst>
          </a:prstGeom>
          <a:solidFill>
            <a:srgbClr val="F1F2F4"/>
          </a:solidFill>
          <a:ln cap="flat" cmpd="sng" w="10475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450046" y="1240675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907"/>
              <a:buFont typeface="Courier New"/>
              <a:buNone/>
            </a:pPr>
            <a:r>
              <a:rPr b="1" i="0" lang="en-GB" sz="1107" u="none" cap="none" strike="noStrike">
                <a:solidFill>
                  <a:srgbClr val="073763"/>
                </a:solidFill>
              </a:rPr>
              <a:t>PROBLEM 3 · EXTREME FARES</a:t>
            </a:r>
            <a:endParaRPr i="0" sz="1107" u="none" cap="none" strike="noStrike">
              <a:solidFill>
                <a:srgbClr val="073763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450046" y="1551810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989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What we saw</a:t>
            </a:r>
            <a:endParaRPr b="0" i="0" sz="9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450046" y="1769604"/>
            <a:ext cx="239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Fares up to $500, while 99.9% are below $80.</a:t>
            </a:r>
            <a:endParaRPr b="0" i="0" sz="10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450046" y="2251863"/>
            <a:ext cx="239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89"/>
              <a:buFont typeface="Arial"/>
              <a:buNone/>
            </a:pPr>
            <a:r>
              <a:rPr b="1" i="0" lang="en-GB" sz="11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b="0" i="0" sz="11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50046" y="2469657"/>
            <a:ext cx="2397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89"/>
              <a:buFont typeface="Arial"/>
              <a:buNone/>
            </a:pPr>
            <a:r>
              <a:rPr b="0" i="0" lang="en-GB" sz="1089" u="none" cap="none" strike="noStrike">
                <a:solidFill>
                  <a:srgbClr val="4A5260"/>
                </a:solidFill>
                <a:latin typeface="Arial"/>
                <a:ea typeface="Arial"/>
                <a:cs typeface="Arial"/>
                <a:sym typeface="Arial"/>
              </a:rPr>
              <a:t>Removed fares above $80.</a:t>
            </a:r>
            <a:endParaRPr b="0" i="0" sz="10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376131" y="2757456"/>
            <a:ext cx="2545800" cy="894600"/>
          </a:xfrm>
          <a:prstGeom prst="roundRect">
            <a:avLst>
              <a:gd fmla="val 6957" name="adj"/>
            </a:avLst>
          </a:prstGeom>
          <a:solidFill>
            <a:srgbClr val="E4E7EB"/>
          </a:solidFill>
          <a:ln cap="flat" cmpd="sng" w="10475">
            <a:solidFill>
              <a:srgbClr val="E4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87004" y="2819683"/>
            <a:ext cx="23241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89"/>
              <a:buFont typeface="Arial"/>
              <a:buNone/>
            </a:pPr>
            <a:r>
              <a:rPr b="1" i="0" lang="en-GB" sz="1089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this fix</a:t>
            </a:r>
            <a:endParaRPr b="0" i="0" sz="1089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487004" y="3029699"/>
            <a:ext cx="2324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907"/>
              <a:buFont typeface="Arial"/>
              <a:buNone/>
            </a:pPr>
            <a:r>
              <a:rPr b="1" i="0" lang="en-GB" sz="1007" u="none" cap="none" strike="noStrike">
                <a:solidFill>
                  <a:srgbClr val="151A21"/>
                </a:solidFill>
              </a:rPr>
              <a:t>Capping at $100 turns every extreme fare into a fake $100 trip. A limit of $80 keeps real airport trips ($45–57).</a:t>
            </a:r>
            <a:endParaRPr b="1" i="0" sz="10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450046" y="3768644"/>
            <a:ext cx="23979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648"/>
              <a:buFont typeface="Arial"/>
              <a:buNone/>
            </a:pPr>
            <a:r>
              <a:rPr b="1" i="0" lang="en-GB" sz="1648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R² 0.688 → 0.816</a:t>
            </a:r>
            <a:endParaRPr b="0" i="0" sz="1648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01700" y="4468697"/>
            <a:ext cx="8968200" cy="4821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0475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86488" y="4530923"/>
            <a:ext cx="8598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236"/>
              <a:buFont typeface="Arial"/>
              <a:buNone/>
            </a:pPr>
            <a:r>
              <a:rPr b="1" i="0" lang="en-GB" sz="1236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Same model, cleaner data:</a:t>
            </a:r>
            <a:r>
              <a:rPr b="1" i="0" lang="en-GB" sz="1236" u="none" cap="none" strike="noStrike">
                <a:solidFill>
                  <a:srgbClr val="1E6E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236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R² 0.618 → 0.816, and the error (RMSE) dropped from $5.90 to $3.92.</a:t>
            </a:r>
            <a:endParaRPr b="0" i="0" sz="12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-10" y="5623555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000"/>
              <a:buFont typeface="Courier New"/>
              <a:buNone/>
            </a:pPr>
            <a:r>
              <a:rPr b="0" i="0" lang="en-GB" sz="1000" u="none" cap="none" strike="noStrike">
                <a:solidFill>
                  <a:srgbClr val="5F6673"/>
                </a:solidFill>
                <a:latin typeface="Courier New"/>
                <a:ea typeface="Courier New"/>
                <a:cs typeface="Courier New"/>
                <a:sym typeface="Courier New"/>
              </a:rPr>
              <a:t>Uber Fare Prediction · 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0" y="560076"/>
            <a:ext cx="9143700" cy="5061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0475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88407" y="625381"/>
            <a:ext cx="87669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236"/>
              <a:buFont typeface="Arial"/>
              <a:buNone/>
            </a:pPr>
            <a:r>
              <a:rPr b="1" i="0" lang="en-GB" sz="1236" u="none" cap="none" strike="noStrike">
                <a:solidFill>
                  <a:srgbClr val="073763"/>
                </a:solidFill>
              </a:rPr>
              <a:t>Result:</a:t>
            </a:r>
            <a:r>
              <a:rPr b="1" i="0" lang="en-GB" sz="1236" u="none" cap="none" strike="noStrike">
                <a:solidFill>
                  <a:srgbClr val="1E6E55"/>
                </a:solidFill>
              </a:rPr>
              <a:t> </a:t>
            </a:r>
            <a:r>
              <a:rPr i="0" lang="en-GB" sz="1236" u="none" cap="none" strike="noStrike">
                <a:solidFill>
                  <a:srgbClr val="151A21"/>
                </a:solidFill>
              </a:rPr>
              <a:t>passenger count barely changes the fare. Only trips with 6 passengers cost a little more.</a:t>
            </a:r>
            <a:endParaRPr i="0" sz="1236" u="none" cap="none" strike="noStrike">
              <a:solidFill>
                <a:srgbClr val="000000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-25" y="1481487"/>
            <a:ext cx="4672500" cy="2856900"/>
          </a:xfrm>
          <a:prstGeom prst="rect">
            <a:avLst/>
          </a:prstGeom>
          <a:solidFill>
            <a:srgbClr val="FFFFFF"/>
          </a:solidFill>
          <a:ln cap="flat" cmpd="sng" w="7850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0" y="4386885"/>
            <a:ext cx="4672500" cy="5877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0475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50726" y="4435864"/>
            <a:ext cx="4371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07"/>
              <a:buFont typeface="Arial"/>
              <a:buNone/>
            </a:pPr>
            <a:r>
              <a:rPr b="1" i="0" lang="en-GB" sz="1107" u="none" cap="none" strike="noStrike">
                <a:solidFill>
                  <a:srgbClr val="073763"/>
                </a:solidFill>
              </a:rPr>
              <a:t>Why a boxplot? </a:t>
            </a:r>
            <a:r>
              <a:rPr i="0" lang="en-GB" sz="1107" u="none" cap="none" strike="noStrike">
                <a:solidFill>
                  <a:schemeClr val="dk1"/>
                </a:solidFill>
              </a:rPr>
              <a:t>Passenger count is a group (1 to 6) and fare is a number. A boxplot shows the typical fare and the spread for each group, so they are easy to compare.</a:t>
            </a:r>
            <a:endParaRPr i="0" sz="1107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973948" y="1448152"/>
            <a:ext cx="417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07"/>
              <a:buFont typeface="Courier New"/>
              <a:buNone/>
            </a:pPr>
            <a:r>
              <a:rPr b="1" i="0" lang="en-GB" sz="1207" u="none" cap="none" strike="noStrike">
                <a:solidFill>
                  <a:srgbClr val="1C4587"/>
                </a:solidFill>
              </a:rPr>
              <a:t>1 TO 5 PASSENGERS: ALMOST THE SAME</a:t>
            </a:r>
            <a:endParaRPr b="1" i="0" sz="1207" u="none" cap="none" strike="noStrike">
              <a:solidFill>
                <a:srgbClr val="1C4587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973948" y="1709373"/>
            <a:ext cx="417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071"/>
              <a:buFont typeface="Arial"/>
              <a:buNone/>
            </a:pPr>
            <a:r>
              <a:rPr i="0" lang="en-GB" sz="1371" u="none" cap="none" strike="noStrike">
                <a:solidFill>
                  <a:schemeClr val="dk1"/>
                </a:solidFill>
              </a:rPr>
              <a:t>The typical fare (median) is about $8.50 for every group, and most trips cost between $6 and $12.50.</a:t>
            </a:r>
            <a:endParaRPr i="0" sz="1371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973948" y="2427730"/>
            <a:ext cx="417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07"/>
              <a:buFont typeface="Courier New"/>
              <a:buNone/>
            </a:pPr>
            <a:r>
              <a:rPr b="1" i="0" lang="en-GB" sz="1207" u="none" cap="none" strike="noStrike">
                <a:solidFill>
                  <a:srgbClr val="1C4587"/>
                </a:solidFill>
              </a:rPr>
              <a:t>WHY DO 6 PASSENGERS PAY MORE?</a:t>
            </a:r>
            <a:endParaRPr b="1" i="0" sz="1207" u="none" cap="none" strike="noStrike">
              <a:solidFill>
                <a:srgbClr val="1C4587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973948" y="2688950"/>
            <a:ext cx="4170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071"/>
              <a:buFont typeface="Arial"/>
              <a:buNone/>
            </a:pPr>
            <a:r>
              <a:rPr i="0" lang="en-GB" sz="1371" u="none" cap="none" strike="noStrike">
                <a:solidFill>
                  <a:schemeClr val="dk1"/>
                </a:solidFill>
              </a:rPr>
              <a:t>Their typical fare is about $9.50.</a:t>
            </a:r>
            <a:r>
              <a:rPr lang="en-GB" sz="1371">
                <a:solidFill>
                  <a:schemeClr val="dk1"/>
                </a:solidFill>
              </a:rPr>
              <a:t> I</a:t>
            </a:r>
            <a:r>
              <a:rPr i="0" lang="en-GB" sz="1371" u="none" cap="none" strike="noStrike">
                <a:solidFill>
                  <a:schemeClr val="dk1"/>
                </a:solidFill>
              </a:rPr>
              <a:t> tested two ideas:</a:t>
            </a:r>
            <a:endParaRPr i="0" sz="1371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95"/>
              </a:spcBef>
              <a:spcAft>
                <a:spcPts val="0"/>
              </a:spcAft>
              <a:buClr>
                <a:srgbClr val="4A5260"/>
              </a:buClr>
              <a:buSzPts val="1071"/>
              <a:buFont typeface="Arial"/>
              <a:buNone/>
            </a:pPr>
            <a:r>
              <a:rPr b="1" i="0" lang="en-GB" sz="1371" u="none" cap="none" strike="noStrike">
                <a:solidFill>
                  <a:schemeClr val="dk1"/>
                </a:solidFill>
              </a:rPr>
              <a:t>Longer trips? </a:t>
            </a:r>
            <a:r>
              <a:rPr i="0" lang="en-GB" sz="1371" u="none" cap="none" strike="noStrike">
                <a:solidFill>
                  <a:schemeClr val="dk1"/>
                </a:solidFill>
              </a:rPr>
              <a:t>No. Every group travels about 2.2 km.</a:t>
            </a:r>
            <a:endParaRPr i="0" sz="1371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95"/>
              </a:spcBef>
              <a:spcAft>
                <a:spcPts val="0"/>
              </a:spcAft>
              <a:buClr>
                <a:srgbClr val="4A5260"/>
              </a:buClr>
              <a:buSzPts val="1071"/>
              <a:buFont typeface="Arial"/>
              <a:buNone/>
            </a:pPr>
            <a:r>
              <a:rPr b="1" i="0" lang="en-GB" sz="1371" u="none" cap="none" strike="noStrike">
                <a:solidFill>
                  <a:schemeClr val="dk1"/>
                </a:solidFill>
              </a:rPr>
              <a:t>More expensive hours? </a:t>
            </a:r>
            <a:r>
              <a:rPr i="0" lang="en-GB" sz="1371" u="none" cap="none" strike="noStrike">
                <a:solidFill>
                  <a:schemeClr val="dk1"/>
                </a:solidFill>
              </a:rPr>
              <a:t>No. At the same hour, they still pay $0.20–$0.40 more per km in 23 of 24 hours.</a:t>
            </a:r>
            <a:endParaRPr i="0" sz="1371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95"/>
              </a:spcBef>
              <a:spcAft>
                <a:spcPts val="0"/>
              </a:spcAft>
              <a:buClr>
                <a:srgbClr val="151A21"/>
              </a:buClr>
              <a:buSzPts val="1071"/>
              <a:buFont typeface="Arial"/>
              <a:buNone/>
            </a:pPr>
            <a:r>
              <a:rPr i="0" lang="en-GB" sz="1371" u="none" cap="none" strike="noStrike">
                <a:solidFill>
                  <a:schemeClr val="dk1"/>
                </a:solidFill>
              </a:rPr>
              <a:t>So</a:t>
            </a:r>
            <a:r>
              <a:rPr lang="en-GB" sz="1371">
                <a:solidFill>
                  <a:schemeClr val="dk1"/>
                </a:solidFill>
              </a:rPr>
              <a:t>,</a:t>
            </a:r>
            <a:r>
              <a:rPr i="0" lang="en-GB" sz="1371" u="none" cap="none" strike="noStrike">
                <a:solidFill>
                  <a:schemeClr val="dk1"/>
                </a:solidFill>
              </a:rPr>
              <a:t> 6 passengers really pay about 6% more per km ($4.04 vs about $3.80). That is only about $0.45 per trip, a very small difference.</a:t>
            </a:r>
            <a:endParaRPr i="0" sz="1371" u="none" cap="none" strike="noStrike">
              <a:solidFill>
                <a:schemeClr val="dk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0" y="0"/>
            <a:ext cx="91437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3000"/>
              <a:buFont typeface="Arial"/>
              <a:buNone/>
            </a:pPr>
            <a:r>
              <a:rPr b="1" lang="en-GB" sz="2400">
                <a:solidFill>
                  <a:srgbClr val="151A21"/>
                </a:solidFill>
              </a:rPr>
              <a:t>Is higher Passenger higher price?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title="Q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" y="1298606"/>
            <a:ext cx="4662626" cy="279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0" y="114075"/>
            <a:ext cx="8994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2558"/>
              <a:buFont typeface="Arial"/>
              <a:buNone/>
            </a:pPr>
            <a:r>
              <a:rPr b="1" lang="en-GB" sz="2400">
                <a:solidFill>
                  <a:srgbClr val="151A21"/>
                </a:solidFill>
              </a:rPr>
              <a:t>Does car condition influence the fare amount?</a:t>
            </a:r>
            <a:endParaRPr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0" y="815837"/>
            <a:ext cx="8994300" cy="4833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08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85324" y="878216"/>
            <a:ext cx="8623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279"/>
              <a:buFont typeface="Arial"/>
              <a:buNone/>
            </a:pPr>
            <a:r>
              <a:rPr b="1" i="0" lang="en-GB" sz="1279" u="none" cap="none" strike="noStrike">
                <a:solidFill>
                  <a:srgbClr val="073763"/>
                </a:solidFill>
              </a:rPr>
              <a:t>Result:</a:t>
            </a:r>
            <a:r>
              <a:rPr b="1" i="0" lang="en-GB" sz="1279" u="none" cap="none" strike="noStrike">
                <a:solidFill>
                  <a:srgbClr val="1E6E55"/>
                </a:solidFill>
              </a:rPr>
              <a:t> </a:t>
            </a:r>
            <a:r>
              <a:rPr i="0" lang="en-GB" sz="1279" u="none" cap="none" strike="noStrike">
                <a:solidFill>
                  <a:srgbClr val="151A21"/>
                </a:solidFill>
              </a:rPr>
              <a:t>no. Riders pay the same whether the car is in bad or excellent condition.</a:t>
            </a:r>
            <a:endParaRPr i="0" sz="1279" u="none" cap="none" strike="noStrike">
              <a:solidFill>
                <a:srgbClr val="000000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0" y="1439626"/>
            <a:ext cx="4596000" cy="2729100"/>
          </a:xfrm>
          <a:prstGeom prst="rect">
            <a:avLst/>
          </a:prstGeom>
          <a:solidFill>
            <a:srgbClr val="FFFFFF"/>
          </a:solidFill>
          <a:ln cap="flat" cmpd="sng" w="8125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6" title="Carcondi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5" y="1502000"/>
            <a:ext cx="4492226" cy="26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0" y="4246675"/>
            <a:ext cx="4596000" cy="5616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0850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48259" y="4293459"/>
            <a:ext cx="42993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38"/>
              <a:buFont typeface="Arial"/>
              <a:buNone/>
            </a:pPr>
            <a:r>
              <a:rPr b="1" i="0" lang="en-GB" sz="1238" u="none" cap="none" strike="noStrike">
                <a:solidFill>
                  <a:srgbClr val="073763"/>
                </a:solidFill>
              </a:rPr>
              <a:t>Why a boxplot? </a:t>
            </a:r>
            <a:r>
              <a:rPr i="0" lang="en-GB" sz="1238" u="none" cap="none" strike="noStrike">
                <a:solidFill>
                  <a:srgbClr val="151A21"/>
                </a:solidFill>
              </a:rPr>
              <a:t>Car condition is a group (Bad to Excellent) and fare is a number. A boxplot shows the typical fare and the spread for each group, so they are easy to compare.</a:t>
            </a:r>
            <a:endParaRPr i="0" sz="1238" u="none" cap="none" strike="noStrike">
              <a:solidFill>
                <a:srgbClr val="000000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92554" y="1439626"/>
            <a:ext cx="4101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38"/>
              <a:buFont typeface="Courier New"/>
              <a:buNone/>
            </a:pPr>
            <a:r>
              <a:rPr b="1" i="0" lang="en-GB" sz="1238" u="none" cap="none" strike="noStrike">
                <a:solidFill>
                  <a:srgbClr val="073763"/>
                </a:solidFill>
              </a:rPr>
              <a:t>HOW WE CONFIRMED IT</a:t>
            </a:r>
            <a:endParaRPr b="1" i="0" sz="1238" u="none" cap="none" strike="noStrike">
              <a:solidFill>
                <a:srgbClr val="073763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892554" y="1689141"/>
            <a:ext cx="41016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109"/>
              <a:buFont typeface="Arial"/>
              <a:buNone/>
            </a:pPr>
            <a:r>
              <a:rPr b="1" i="0" lang="en-GB" sz="1309" u="none" cap="none" strike="noStrike">
                <a:solidFill>
                  <a:srgbClr val="073763"/>
                </a:solidFill>
              </a:rPr>
              <a:t>The plot:</a:t>
            </a:r>
            <a:r>
              <a:rPr b="1" i="0" lang="en-GB" sz="1309" u="none" cap="none" strike="noStrike">
                <a:solidFill>
                  <a:schemeClr val="dk1"/>
                </a:solidFill>
              </a:rPr>
              <a:t> </a:t>
            </a:r>
            <a:r>
              <a:rPr i="0" lang="en-GB" sz="1309" u="none" cap="none" strike="noStrike">
                <a:solidFill>
                  <a:schemeClr val="dk1"/>
                </a:solidFill>
              </a:rPr>
              <a:t>the four boxes look the same.</a:t>
            </a:r>
            <a:endParaRPr i="0" sz="1309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41"/>
              </a:spcBef>
              <a:spcAft>
                <a:spcPts val="0"/>
              </a:spcAft>
              <a:buClr>
                <a:srgbClr val="4A5260"/>
              </a:buClr>
              <a:buSzPts val="1109"/>
              <a:buFont typeface="Arial"/>
              <a:buNone/>
            </a:pPr>
            <a:r>
              <a:rPr b="1" i="0" lang="en-GB" sz="1309" u="none" cap="none" strike="noStrike">
                <a:solidFill>
                  <a:srgbClr val="073763"/>
                </a:solidFill>
              </a:rPr>
              <a:t>Typical fare:</a:t>
            </a:r>
            <a:r>
              <a:rPr b="1" i="0" lang="en-GB" sz="1309" u="none" cap="none" strike="noStrike">
                <a:solidFill>
                  <a:srgbClr val="1C4587"/>
                </a:solidFill>
              </a:rPr>
              <a:t> </a:t>
            </a:r>
            <a:r>
              <a:rPr i="0" lang="en-GB" sz="1309" u="none" cap="none" strike="noStrike">
                <a:solidFill>
                  <a:schemeClr val="dk1"/>
                </a:solidFill>
              </a:rPr>
              <a:t>exactly $8.50 in every group.</a:t>
            </a:r>
            <a:endParaRPr i="0" sz="1309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41"/>
              </a:spcBef>
              <a:spcAft>
                <a:spcPts val="0"/>
              </a:spcAft>
              <a:buClr>
                <a:srgbClr val="4A5260"/>
              </a:buClr>
              <a:buSzPts val="1109"/>
              <a:buFont typeface="Arial"/>
              <a:buNone/>
            </a:pPr>
            <a:r>
              <a:rPr b="1" i="0" lang="en-GB" sz="1309" u="none" cap="none" strike="noStrike">
                <a:solidFill>
                  <a:srgbClr val="073763"/>
                </a:solidFill>
              </a:rPr>
              <a:t>Fare per km:</a:t>
            </a:r>
            <a:r>
              <a:rPr b="1" i="0" lang="en-GB" sz="1309" u="none" cap="none" strike="noStrike">
                <a:solidFill>
                  <a:srgbClr val="4A5260"/>
                </a:solidFill>
              </a:rPr>
              <a:t> </a:t>
            </a:r>
            <a:r>
              <a:rPr i="0" lang="en-GB" sz="1309" u="none" cap="none" strike="noStrike">
                <a:solidFill>
                  <a:schemeClr val="dk1"/>
                </a:solidFill>
              </a:rPr>
              <a:t>$3.819 to $3.827, less than 1 cent apart.</a:t>
            </a:r>
            <a:endParaRPr i="0" sz="1309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892554" y="2648216"/>
            <a:ext cx="4101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38"/>
              <a:buFont typeface="Courier New"/>
              <a:buNone/>
            </a:pPr>
            <a:r>
              <a:rPr b="1" i="0" lang="en-GB" sz="1238" u="none" cap="none" strike="noStrike">
                <a:solidFill>
                  <a:srgbClr val="073763"/>
                </a:solidFill>
              </a:rPr>
              <a:t>A HINT THE COLUMN IS RANDOM</a:t>
            </a:r>
            <a:endParaRPr i="0" sz="1238" u="none" cap="none" strike="noStrike">
              <a:solidFill>
                <a:srgbClr val="073763"/>
              </a:solidFill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892554" y="2897732"/>
            <a:ext cx="4101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109"/>
              <a:buFont typeface="Arial"/>
              <a:buNone/>
            </a:pPr>
            <a:r>
              <a:rPr i="0" lang="en-GB" sz="1309" u="none" cap="none" strike="noStrike">
                <a:solidFill>
                  <a:schemeClr val="dk1"/>
                </a:solidFill>
              </a:rPr>
              <a:t>Each group has about 120,000 trips, almost exactly 25% each. A real taxi fleet would not be split this evenly.</a:t>
            </a:r>
            <a:endParaRPr i="0" sz="1309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892554" y="3631912"/>
            <a:ext cx="4101600" cy="1263600"/>
          </a:xfrm>
          <a:prstGeom prst="roundRect">
            <a:avLst>
              <a:gd fmla="val 4938" name="adj"/>
            </a:avLst>
          </a:prstGeom>
          <a:solidFill>
            <a:srgbClr val="E8F3EE"/>
          </a:solidFill>
          <a:ln cap="flat" cmpd="sng" w="108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950" lIns="77950" spcFirstLastPara="1" rIns="77950" wrap="square" tIns="7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077878" y="3725481"/>
            <a:ext cx="373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38"/>
              <a:buFont typeface="Courier New"/>
              <a:buNone/>
            </a:pPr>
            <a:r>
              <a:rPr b="1" i="0" lang="en-GB" sz="1238" u="none" cap="none" strike="noStrike">
                <a:solidFill>
                  <a:srgbClr val="073763"/>
                </a:solidFill>
              </a:rPr>
              <a:t>WHAT </a:t>
            </a:r>
            <a:r>
              <a:rPr b="1" lang="en-GB" sz="1238">
                <a:solidFill>
                  <a:srgbClr val="073763"/>
                </a:solidFill>
              </a:rPr>
              <a:t>I GET</a:t>
            </a:r>
            <a:endParaRPr i="0" sz="1238" u="none" cap="none" strike="noStrike">
              <a:solidFill>
                <a:srgbClr val="073763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077875" y="3959400"/>
            <a:ext cx="37305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62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223"/>
              <a:buChar char="●"/>
            </a:pPr>
            <a:r>
              <a:rPr b="1" i="0" lang="en-GB" sz="1223" u="none" cap="none" strike="noStrike">
                <a:solidFill>
                  <a:srgbClr val="151A21"/>
                </a:solidFill>
              </a:rPr>
              <a:t>Distance and time set the price, not the car.</a:t>
            </a:r>
            <a:endParaRPr b="1" i="0" sz="1223" u="none" cap="none" strike="noStrike">
              <a:solidFill>
                <a:srgbClr val="000000"/>
              </a:solidFill>
            </a:endParaRPr>
          </a:p>
          <a:p>
            <a:pPr indent="-3062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223"/>
              <a:buChar char="●"/>
            </a:pPr>
            <a:r>
              <a:rPr b="1" i="0" lang="en-GB" sz="1223" u="none" cap="none" strike="noStrike">
                <a:solidFill>
                  <a:srgbClr val="151A21"/>
                </a:solidFill>
              </a:rPr>
              <a:t>The model can likely drop this column</a:t>
            </a:r>
            <a:r>
              <a:rPr b="1" lang="en-GB" sz="1223">
                <a:solidFill>
                  <a:srgbClr val="151A21"/>
                </a:solidFill>
              </a:rPr>
              <a:t>.</a:t>
            </a:r>
            <a:endParaRPr b="1" i="0" sz="1223" u="none" cap="none" strike="noStrike">
              <a:solidFill>
                <a:srgbClr val="000000"/>
              </a:solidFill>
            </a:endParaRPr>
          </a:p>
          <a:p>
            <a:pPr indent="-30627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223"/>
              <a:buChar char="●"/>
            </a:pPr>
            <a:r>
              <a:rPr b="1" i="0" lang="en-GB" sz="1223" u="none" cap="none" strike="noStrike">
                <a:solidFill>
                  <a:srgbClr val="151A21"/>
                </a:solidFill>
              </a:rPr>
              <a:t>Weather and traffic may be random too, so we check them the same way.</a:t>
            </a:r>
            <a:endParaRPr b="1" i="0" sz="1223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0" y="0"/>
            <a:ext cx="914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3000"/>
              <a:buFont typeface="Arial"/>
              <a:buNone/>
            </a:pPr>
            <a:r>
              <a:rPr b="1" lang="en-GB" sz="2400">
                <a:solidFill>
                  <a:srgbClr val="151A21"/>
                </a:solidFill>
              </a:rPr>
              <a:t> At what hour of the day are fares typically highest?</a:t>
            </a:r>
            <a:endParaRPr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-2" y="570200"/>
            <a:ext cx="8930400" cy="5670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270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13598" y="648050"/>
            <a:ext cx="8930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73763"/>
                </a:solidFill>
              </a:rPr>
              <a:t>Result: </a:t>
            </a:r>
            <a:r>
              <a:rPr i="0" lang="en-GB" sz="1500" u="none" cap="none" strike="noStrike">
                <a:solidFill>
                  <a:srgbClr val="151A21"/>
                </a:solidFill>
              </a:rPr>
              <a:t>fares peak at 5 a.m. because trips are longer then, not because each km costs more.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0" y="1554475"/>
            <a:ext cx="4439400" cy="225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ne plot of average fare by hour with a peak at 5 a.m.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1332700"/>
            <a:ext cx="4439474" cy="24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-9450" y="4006300"/>
            <a:ext cx="4682400" cy="8505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2700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5225" y="4021825"/>
            <a:ext cx="43890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Arial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a line plot?</a:t>
            </a:r>
            <a:r>
              <a:rPr b="1" i="0" lang="en-GB" sz="1100" u="none" cap="none" strike="noStrike">
                <a:solidFill>
                  <a:srgbClr val="1E6E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GB" sz="1200" u="none" cap="none" strike="noStrike">
                <a:solidFill>
                  <a:schemeClr val="dk1"/>
                </a:solidFill>
              </a:rPr>
              <a:t>Hours are in time order and the question is how the fare changes through the day. Note: the y-axis starts near $10, so the real gap is about $4.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4682410" y="1332700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Courier New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</a:rPr>
              <a:t>WHAT THE FIGURE SHOWS</a:t>
            </a:r>
            <a:endParaRPr b="1" i="0" sz="1200" u="none" cap="none" strike="noStrike">
              <a:solidFill>
                <a:srgbClr val="073763"/>
              </a:solidFill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4682402" y="1596275"/>
            <a:ext cx="39243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100" u="none" cap="none" strike="noStrike">
                <a:solidFill>
                  <a:srgbClr val="073763"/>
                </a:solidFill>
              </a:rPr>
              <a:t>Peak:</a:t>
            </a:r>
            <a:r>
              <a:rPr b="1" i="0" lang="en-GB" sz="1100" u="none" cap="none" strike="noStrike">
                <a:solidFill>
                  <a:schemeClr val="dk1"/>
                </a:solidFill>
              </a:rPr>
              <a:t> </a:t>
            </a:r>
            <a:r>
              <a:rPr i="0" lang="en-GB" sz="1100" u="none" cap="none" strike="noStrike">
                <a:solidFill>
                  <a:schemeClr val="dk1"/>
                </a:solidFill>
              </a:rPr>
              <a:t>5 a.m. (about $14.55), rising from 3 a.m.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100" u="none" cap="none" strike="noStrike">
                <a:solidFill>
                  <a:srgbClr val="073763"/>
                </a:solidFill>
              </a:rPr>
              <a:t>Lowest: </a:t>
            </a:r>
            <a:r>
              <a:rPr i="0" lang="en-GB" sz="1100" u="none" cap="none" strike="noStrike">
                <a:solidFill>
                  <a:schemeClr val="dk1"/>
                </a:solidFill>
              </a:rPr>
              <a:t>7 p.m. ($10.48) and 7–10 a.m. (about $10.70).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100" u="none" cap="none" strike="noStrike">
                <a:solidFill>
                  <a:srgbClr val="073763"/>
                </a:solidFill>
              </a:rPr>
              <a:t>Small second rise:</a:t>
            </a:r>
            <a:r>
              <a:rPr b="1" i="0" lang="en-GB" sz="1100" u="none" cap="none" strike="noStrike">
                <a:solidFill>
                  <a:schemeClr val="dk1"/>
                </a:solidFill>
              </a:rPr>
              <a:t> </a:t>
            </a:r>
            <a:r>
              <a:rPr i="0" lang="en-GB" sz="1100" u="none" cap="none" strike="noStrike">
                <a:solidFill>
                  <a:schemeClr val="dk1"/>
                </a:solidFill>
              </a:rPr>
              <a:t>1–4 p.m. (about $11.80 at 3 p.m.).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100" u="none" cap="none" strike="noStrike">
                <a:solidFill>
                  <a:srgbClr val="073763"/>
                </a:solidFill>
              </a:rPr>
              <a:t>Shaded band:</a:t>
            </a:r>
            <a:r>
              <a:rPr b="1" i="0" lang="en-GB" sz="1100" u="none" cap="none" strike="noStrike">
                <a:solidFill>
                  <a:schemeClr val="dk1"/>
                </a:solidFill>
              </a:rPr>
              <a:t> </a:t>
            </a:r>
            <a:r>
              <a:rPr i="0" lang="en-GB" sz="1100" u="none" cap="none" strike="noStrike">
                <a:solidFill>
                  <a:schemeClr val="dk1"/>
                </a:solidFill>
              </a:rPr>
              <a:t>widest at 4–5 a.m., where there are fewest trips (4,686), so less certain.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4743610" y="2557648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Courier New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</a:rPr>
              <a:t>WHY? LONGER TRIPS, CHEAPER KM</a:t>
            </a:r>
            <a:endParaRPr b="1" i="0" sz="1200" u="none" cap="none" strike="noStrike">
              <a:solidFill>
                <a:srgbClr val="073763"/>
              </a:solidFill>
            </a:endParaRPr>
          </a:p>
        </p:txBody>
      </p:sp>
      <p:graphicFrame>
        <p:nvGraphicFramePr>
          <p:cNvPr id="150" name="Google Shape;150;p17"/>
          <p:cNvGraphicFramePr/>
          <p:nvPr/>
        </p:nvGraphicFramePr>
        <p:xfrm>
          <a:off x="4743560" y="2921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{4F2DBF26-8D31-4875-AB5F-5A379796C634}</a:tableStyleId>
              </a:tblPr>
              <a:tblGrid>
                <a:gridCol w="840900"/>
                <a:gridCol w="1617950"/>
                <a:gridCol w="1617950"/>
              </a:tblGrid>
              <a:tr h="22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Typical distance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Fare per km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</a:tr>
              <a:tr h="34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4–5 a.m.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3.1–3.2 km (longest)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$3.09–3.12 (cheapest)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Midday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 km (shortest)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$4.1–4.2 (priciest)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4734149" y="4181475"/>
            <a:ext cx="4186800" cy="850500"/>
          </a:xfrm>
          <a:prstGeom prst="roundRect">
            <a:avLst>
              <a:gd fmla="val 6557" name="adj"/>
            </a:avLst>
          </a:prstGeom>
          <a:solidFill>
            <a:srgbClr val="E8F3EE"/>
          </a:solidFill>
          <a:ln cap="flat" cmpd="sng" w="1270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734160" y="4038943"/>
            <a:ext cx="441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Courier New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</a:rPr>
              <a:t>WHAT</a:t>
            </a:r>
            <a:r>
              <a:rPr b="1" lang="en-GB" sz="1200">
                <a:solidFill>
                  <a:srgbClr val="073763"/>
                </a:solidFill>
              </a:rPr>
              <a:t> I GAIN</a:t>
            </a:r>
            <a:endParaRPr b="1" i="0" sz="1200" u="none" cap="none" strike="noStrike">
              <a:solidFill>
                <a:srgbClr val="073763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734150" y="4294850"/>
            <a:ext cx="4076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100"/>
              <a:buChar char="●"/>
            </a:pPr>
            <a:r>
              <a:rPr b="1" i="0" lang="en-GB" sz="1100" u="none" cap="none" strike="noStrike">
                <a:solidFill>
                  <a:srgbClr val="151A21"/>
                </a:solidFill>
              </a:rPr>
              <a:t>Hour affects the fare, but not in a straight line</a:t>
            </a:r>
            <a:r>
              <a:rPr b="1" lang="en-GB" sz="1100">
                <a:solidFill>
                  <a:srgbClr val="151A21"/>
                </a:solidFill>
              </a:rPr>
              <a:t>, </a:t>
            </a:r>
            <a:r>
              <a:rPr b="1" i="0" lang="en-GB" sz="1100" u="none" cap="none" strike="noStrike">
                <a:solidFill>
                  <a:srgbClr val="151A21"/>
                </a:solidFill>
              </a:rPr>
              <a:t> test a better hour encoding.</a:t>
            </a:r>
            <a:endParaRPr b="1" i="0" sz="1100" u="none" cap="none" strike="noStrike">
              <a:solidFill>
                <a:srgbClr val="000000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100"/>
              <a:buChar char="●"/>
            </a:pPr>
            <a:r>
              <a:rPr b="1" i="0" lang="en-GB" sz="1100" u="none" cap="none" strike="noStrike">
                <a:solidFill>
                  <a:srgbClr val="151A21"/>
                </a:solidFill>
              </a:rPr>
              <a:t>Real traffic lives in the hour: a midday km costs ~35% more than at dawn.</a:t>
            </a:r>
            <a:endParaRPr b="1" i="0" sz="11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0" y="59100"/>
            <a:ext cx="90438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3034"/>
              <a:buFont typeface="Arial"/>
              <a:buNone/>
            </a:pPr>
            <a:r>
              <a:rPr b="1" i="0" lang="en-GB" sz="2434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Does traffic change the fare</a:t>
            </a:r>
            <a:r>
              <a:rPr b="1" lang="en-GB" sz="2434">
                <a:solidFill>
                  <a:srgbClr val="151A21"/>
                </a:solidFill>
              </a:rPr>
              <a:t>?</a:t>
            </a:r>
            <a:endParaRPr b="0" i="0" sz="2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0" y="557787"/>
            <a:ext cx="9043800" cy="5142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28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50" lIns="92450" spcFirstLastPara="1" rIns="92450" wrap="square" tIns="9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86349" y="624106"/>
            <a:ext cx="8671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517"/>
              <a:buFont typeface="Arial"/>
              <a:buNone/>
            </a:pPr>
            <a:r>
              <a:rPr b="1" i="0" lang="en-GB" sz="1517" u="none" cap="none" strike="noStrike">
                <a:solidFill>
                  <a:srgbClr val="073763"/>
                </a:solidFill>
              </a:rPr>
              <a:t>Result:</a:t>
            </a:r>
            <a:r>
              <a:rPr b="1" i="0" lang="en-GB" sz="1517" u="none" cap="none" strike="noStrike">
                <a:solidFill>
                  <a:srgbClr val="1E6E55"/>
                </a:solidFill>
              </a:rPr>
              <a:t> </a:t>
            </a:r>
            <a:r>
              <a:rPr i="0" lang="en-GB" sz="1517" u="none" cap="none" strike="noStrike">
                <a:solidFill>
                  <a:srgbClr val="151A21"/>
                </a:solidFill>
              </a:rPr>
              <a:t>no, and that is suspicious. Real traffic should make a trip more expensive.</a:t>
            </a:r>
            <a:endParaRPr i="0" sz="1517" u="none" cap="none" strike="noStrike">
              <a:solidFill>
                <a:srgbClr val="000000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-325" y="1189351"/>
            <a:ext cx="4621800" cy="2901300"/>
          </a:xfrm>
          <a:prstGeom prst="rect">
            <a:avLst/>
          </a:prstGeom>
          <a:solidFill>
            <a:srgbClr val="FFFFFF"/>
          </a:solidFill>
          <a:ln cap="flat" cmpd="sng" w="9625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50" lIns="92450" spcFirstLastPara="1" rIns="92450" wrap="square" tIns="9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xplots of fare by traffic condition: three identical boxes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603" y="1255594"/>
            <a:ext cx="3707944" cy="276881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-325" y="4141774"/>
            <a:ext cx="4621800" cy="5970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2850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50" lIns="92450" spcFirstLastPara="1" rIns="92450" wrap="square" tIns="9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49079" y="4208013"/>
            <a:ext cx="4323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12"/>
              <a:buFont typeface="Arial"/>
              <a:buNone/>
            </a:pPr>
            <a:r>
              <a:rPr b="1" i="0" lang="en-GB" sz="1212" u="none" cap="none" strike="noStrike">
                <a:solidFill>
                  <a:srgbClr val="073763"/>
                </a:solidFill>
              </a:rPr>
              <a:t>Why a boxplot? </a:t>
            </a:r>
            <a:r>
              <a:rPr i="0" lang="en-GB" sz="1212" u="none" cap="none" strike="noStrike">
                <a:solidFill>
                  <a:srgbClr val="151A21"/>
                </a:solidFill>
              </a:rPr>
              <a:t>Traffic is a group and fare is a number, so we compare one box per group. All three boxes match the whole dataset: $6, $8.50, $12.50.</a:t>
            </a:r>
            <a:endParaRPr i="0" sz="1212" u="none" cap="none" strike="noStrike">
              <a:solidFill>
                <a:srgbClr val="000000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919611" y="1189351"/>
            <a:ext cx="41244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12"/>
              <a:buFont typeface="Courier New"/>
              <a:buNone/>
            </a:pPr>
            <a:r>
              <a:rPr b="1" i="0" lang="en-GB" sz="1112" u="none" cap="none" strike="noStrike">
                <a:solidFill>
                  <a:srgbClr val="073763"/>
                </a:solidFill>
              </a:rPr>
              <a:t>HOW WE CONFIRMED IT</a:t>
            </a:r>
            <a:endParaRPr b="1" i="0" sz="1112" u="none" cap="none" strike="noStrike">
              <a:solidFill>
                <a:srgbClr val="073763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919611" y="1527126"/>
            <a:ext cx="4124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b="1" i="0" lang="en-GB" sz="1214" u="none" cap="none" strike="noStrike">
                <a:solidFill>
                  <a:schemeClr val="dk1"/>
                </a:solidFill>
              </a:rPr>
              <a:t>The plot: </a:t>
            </a:r>
            <a:r>
              <a:rPr i="0" lang="en-GB" sz="1214" u="none" cap="none" strike="noStrike">
                <a:solidFill>
                  <a:schemeClr val="dk1"/>
                </a:solidFill>
              </a:rPr>
              <a:t>the three boxes look the same.</a:t>
            </a:r>
            <a:endParaRPr i="0" sz="1214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5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b="1" i="0" lang="en-GB" sz="1214" u="none" cap="none" strike="noStrike">
                <a:solidFill>
                  <a:schemeClr val="dk1"/>
                </a:solidFill>
              </a:rPr>
              <a:t>Typical fare: </a:t>
            </a:r>
            <a:r>
              <a:rPr i="0" lang="en-GB" sz="1214" u="none" cap="none" strike="noStrike">
                <a:solidFill>
                  <a:schemeClr val="dk1"/>
                </a:solidFill>
              </a:rPr>
              <a:t>exactly $8.50 at every traffic level.</a:t>
            </a:r>
            <a:endParaRPr i="0" sz="1214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5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b="1" i="0" lang="en-GB" sz="1214" u="none" cap="none" strike="noStrike">
                <a:solidFill>
                  <a:schemeClr val="dk1"/>
                </a:solidFill>
              </a:rPr>
              <a:t>Fare per km: </a:t>
            </a:r>
            <a:r>
              <a:rPr i="0" lang="en-GB" sz="1214" u="none" cap="none" strike="noStrike">
                <a:solidFill>
                  <a:schemeClr val="dk1"/>
                </a:solidFill>
              </a:rPr>
              <a:t>$3.820 to $3.824, less than half a cent apart.</a:t>
            </a:r>
            <a:endParaRPr i="0" sz="1214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5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b="1" i="0" lang="en-GB" sz="1214" u="none" cap="none" strike="noStrike">
                <a:solidFill>
                  <a:schemeClr val="dk1"/>
                </a:solidFill>
              </a:rPr>
              <a:t>Trips: </a:t>
            </a:r>
            <a:r>
              <a:rPr i="0" lang="en-GB" sz="1214" u="none" cap="none" strike="noStrike">
                <a:solidFill>
                  <a:schemeClr val="dk1"/>
                </a:solidFill>
              </a:rPr>
              <a:t>about 160,000 per level, a third each.</a:t>
            </a:r>
            <a:endParaRPr i="0" sz="1214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5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b="1" i="0" lang="en-GB" sz="1214" u="none" cap="none" strike="noStrike">
                <a:solidFill>
                  <a:schemeClr val="dk1"/>
                </a:solidFill>
              </a:rPr>
              <a:t>Explains: </a:t>
            </a:r>
            <a:r>
              <a:rPr i="0" lang="en-GB" sz="1214" u="none" cap="none" strike="noStrike">
                <a:solidFill>
                  <a:schemeClr val="dk1"/>
                </a:solidFill>
              </a:rPr>
              <a:t>0.0% of fare differences (distance: 79.5%).</a:t>
            </a:r>
            <a:endParaRPr i="0" sz="1214" u="none" cap="none" strike="noStrike">
              <a:solidFill>
                <a:schemeClr val="dk1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4919611" y="2793100"/>
            <a:ext cx="41244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112"/>
              <a:buFont typeface="Courier New"/>
              <a:buNone/>
            </a:pPr>
            <a:r>
              <a:rPr b="1" i="0" lang="en-GB" sz="1112" u="none" cap="none" strike="noStrike">
                <a:solidFill>
                  <a:srgbClr val="073763"/>
                </a:solidFill>
              </a:rPr>
              <a:t>THE CONTRADICTION</a:t>
            </a:r>
            <a:endParaRPr b="1" i="0" sz="1112" u="none" cap="none" strike="noStrike">
              <a:solidFill>
                <a:srgbClr val="073763"/>
              </a:solidFill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4919611" y="3018745"/>
            <a:ext cx="41244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214"/>
              <a:buFont typeface="Arial"/>
              <a:buNone/>
            </a:pPr>
            <a:r>
              <a:rPr i="0" lang="en-GB" sz="1214" u="none" cap="none" strike="noStrike">
                <a:solidFill>
                  <a:schemeClr val="dk1"/>
                </a:solidFill>
              </a:rPr>
              <a:t>Real traffic does show up in the data: fare per km is about $3.10 early morning and $4.20 at midday (~35% more). This column shows almost 0%.</a:t>
            </a:r>
            <a:endParaRPr i="0" sz="1214" u="none" cap="none" strike="noStrike">
              <a:solidFill>
                <a:schemeClr val="dk1"/>
              </a:solidFill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919611" y="3682534"/>
            <a:ext cx="4124400" cy="1218600"/>
          </a:xfrm>
          <a:prstGeom prst="roundRect">
            <a:avLst>
              <a:gd fmla="val 5442" name="adj"/>
            </a:avLst>
          </a:prstGeom>
          <a:solidFill>
            <a:srgbClr val="E8F3EE"/>
          </a:solidFill>
          <a:ln cap="flat" cmpd="sng" w="128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450" lIns="92450" spcFirstLastPara="1" rIns="92450" wrap="square" tIns="9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969885" y="3773088"/>
            <a:ext cx="37518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12"/>
              <a:buFont typeface="Courier New"/>
              <a:buNone/>
            </a:pPr>
            <a:r>
              <a:rPr b="1" i="0" lang="en-GB" sz="1112" u="none" cap="none" strike="noStrike">
                <a:solidFill>
                  <a:srgbClr val="073763"/>
                </a:solidFill>
              </a:rPr>
              <a:t>WHAT </a:t>
            </a:r>
            <a:r>
              <a:rPr b="1" lang="en-GB" sz="1112">
                <a:solidFill>
                  <a:srgbClr val="073763"/>
                </a:solidFill>
              </a:rPr>
              <a:t>I </a:t>
            </a:r>
            <a:r>
              <a:rPr b="1" i="0" lang="en-GB" sz="1112" u="none" cap="none" strike="noStrike">
                <a:solidFill>
                  <a:srgbClr val="073763"/>
                </a:solidFill>
              </a:rPr>
              <a:t>GAIN</a:t>
            </a:r>
            <a:endParaRPr b="1" i="0" sz="1112" u="none" cap="none" strike="noStrike">
              <a:solidFill>
                <a:srgbClr val="073763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969885" y="3930483"/>
            <a:ext cx="37518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9314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114"/>
              <a:buChar char="●"/>
            </a:pPr>
            <a:r>
              <a:rPr i="0" lang="en-GB" sz="1114" u="none" cap="none" strike="noStrike">
                <a:solidFill>
                  <a:srgbClr val="151A21"/>
                </a:solidFill>
              </a:rPr>
              <a:t>The real traffic effect is captured by the hour, not this column.</a:t>
            </a:r>
            <a:endParaRPr i="0" sz="1114" u="none" cap="none" strike="noStrike">
              <a:solidFill>
                <a:srgbClr val="000000"/>
              </a:solidFill>
            </a:endParaRPr>
          </a:p>
          <a:p>
            <a:pPr indent="-299314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114"/>
              <a:buChar char="●"/>
            </a:pPr>
            <a:r>
              <a:rPr i="0" lang="en-GB" sz="1114" u="none" cap="none" strike="noStrike">
                <a:solidFill>
                  <a:srgbClr val="151A21"/>
                </a:solidFill>
              </a:rPr>
              <a:t>The column is likely random, so the model can drop it (to be tested).</a:t>
            </a:r>
            <a:endParaRPr i="0" sz="1114" u="none" cap="none" strike="noStrike">
              <a:solidFill>
                <a:srgbClr val="000000"/>
              </a:solidFill>
            </a:endParaRPr>
          </a:p>
          <a:p>
            <a:pPr indent="-305664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214"/>
              <a:buChar char="●"/>
            </a:pPr>
            <a:r>
              <a:rPr i="0" lang="en-GB" sz="1114" u="none" cap="none" strike="noStrike">
                <a:solidFill>
                  <a:srgbClr val="151A21"/>
                </a:solidFill>
              </a:rPr>
              <a:t>Never trust a column because of its name: test it</a:t>
            </a:r>
            <a:r>
              <a:rPr i="0" lang="en-GB" sz="1214" u="none" cap="none" strike="noStrike">
                <a:solidFill>
                  <a:srgbClr val="151A21"/>
                </a:solidFill>
              </a:rPr>
              <a:t>.</a:t>
            </a:r>
            <a:endParaRPr i="0" sz="1214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0" y="63525"/>
            <a:ext cx="9144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3000"/>
              <a:buFont typeface="Arial"/>
              <a:buNone/>
            </a:pPr>
            <a:r>
              <a:rPr b="1" i="0" lang="en-GB" sz="2400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When do people ride the most?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-42752" y="749325"/>
            <a:ext cx="9000900" cy="5670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270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85848" y="822525"/>
            <a:ext cx="9000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b="1" i="0" lang="en-GB" sz="1500" u="none" cap="none" strike="noStrike">
                <a:solidFill>
                  <a:srgbClr val="1E6E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500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demand peaks at 6–8 p.m. and is lowest at 4–5 a.m., about 6× fewer rides.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-43750" y="1423638"/>
            <a:ext cx="4479300" cy="231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ar chart of rides per hour, lowest at 5 a.m. and highest at 7 p.m.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76" y="1601963"/>
            <a:ext cx="4277845" cy="23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0" y="4203975"/>
            <a:ext cx="4689600" cy="8088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3225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25" lIns="95225" spcFirstLastPara="1" rIns="95225" wrap="square" tIns="9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8"/>
          </a:p>
        </p:txBody>
      </p:sp>
      <p:sp>
        <p:nvSpPr>
          <p:cNvPr id="182" name="Google Shape;182;p19"/>
          <p:cNvSpPr txBox="1"/>
          <p:nvPr/>
        </p:nvSpPr>
        <p:spPr>
          <a:xfrm>
            <a:off x="110299" y="4139950"/>
            <a:ext cx="41712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46"/>
              <a:buFont typeface="Arial"/>
              <a:buNone/>
            </a:pPr>
            <a:r>
              <a:rPr b="1" i="0" lang="en-GB" sz="1146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a count plot? </a:t>
            </a:r>
            <a:r>
              <a:rPr b="0" i="0" lang="en-GB" sz="1146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We count trips per hour instead of averaging a value. Each of the 24 hours gets its own bar, so peaks are easy to spot.</a:t>
            </a:r>
            <a:endParaRPr b="0" i="0" sz="11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919051" y="1439200"/>
            <a:ext cx="417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Courier New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</a:rPr>
              <a:t>WHAT THE CHART SHOWS</a:t>
            </a:r>
            <a:endParaRPr i="0" sz="1200" u="none" cap="none" strike="noStrike">
              <a:solidFill>
                <a:srgbClr val="073763"/>
              </a:solidFill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919050" y="1709000"/>
            <a:ext cx="4171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Peak: 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p.m. (30,120 rides).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Lowest: 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a.m. (4,686 rides).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Daytime: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rises 7–9 a.m., then steady at ~22,000–24,000.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526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Dip at 4 p.m.: 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19,679 rides, likely the driver shift change.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4919060" y="2672073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100"/>
              <a:buFont typeface="Courier New"/>
              <a:buNone/>
            </a:pPr>
            <a:r>
              <a:rPr b="1" i="0" lang="en-GB" sz="1200" u="none" cap="none" strike="noStrike">
                <a:solidFill>
                  <a:srgbClr val="073763"/>
                </a:solidFill>
              </a:rPr>
              <a:t>LINK WITH Q3: DEMAND VS PRICE</a:t>
            </a:r>
            <a:endParaRPr i="0" sz="1200" u="none" cap="none" strike="noStrike">
              <a:solidFill>
                <a:srgbClr val="073763"/>
              </a:solidFill>
            </a:endParaRPr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4919060" y="3002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{4F2DBF26-8D31-4875-AB5F-5A379796C634}</a:tableStyleId>
              </a:tblPr>
              <a:tblGrid>
                <a:gridCol w="754100"/>
                <a:gridCol w="1633750"/>
                <a:gridCol w="1633750"/>
              </a:tblGrid>
              <a:tr h="19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Rides (Q6)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fare (Q3)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D"/>
                    </a:solidFill>
                  </a:tcPr>
                </a:tc>
              </a:tr>
              <a:tr h="19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a.m.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Fewest (4,686)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Highest ($14.55)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p.m.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 (30,120)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A2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151A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Lowest ($10.48)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D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19"/>
          <p:cNvSpPr/>
          <p:nvPr/>
        </p:nvSpPr>
        <p:spPr>
          <a:xfrm>
            <a:off x="4919052" y="4139948"/>
            <a:ext cx="3842400" cy="879000"/>
          </a:xfrm>
          <a:prstGeom prst="roundRect">
            <a:avLst>
              <a:gd fmla="val 6557" name="adj"/>
            </a:avLst>
          </a:prstGeom>
          <a:solidFill>
            <a:srgbClr val="E8F3EE"/>
          </a:solidFill>
          <a:ln cap="flat" cmpd="sng" w="1000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50" lIns="72050" spcFirstLastPara="1" rIns="72050" wrap="square" tIns="7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099176" y="4211999"/>
            <a:ext cx="34821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867"/>
              <a:buFont typeface="Courier New"/>
              <a:buNone/>
            </a:pPr>
            <a:r>
              <a:rPr b="1" i="0" lang="en-GB" sz="1067" u="none" cap="none" strike="noStrike">
                <a:solidFill>
                  <a:srgbClr val="073763"/>
                </a:solidFill>
              </a:rPr>
              <a:t>WHAT </a:t>
            </a:r>
            <a:r>
              <a:rPr b="1" lang="en-GB" sz="1067">
                <a:solidFill>
                  <a:srgbClr val="073763"/>
                </a:solidFill>
              </a:rPr>
              <a:t>I </a:t>
            </a:r>
            <a:r>
              <a:rPr b="1" i="0" lang="en-GB" sz="1067" u="none" cap="none" strike="noStrike">
                <a:solidFill>
                  <a:srgbClr val="073763"/>
                </a:solidFill>
              </a:rPr>
              <a:t>GAIN</a:t>
            </a:r>
            <a:endParaRPr i="0" sz="1067" u="none" cap="none" strike="noStrike">
              <a:solidFill>
                <a:srgbClr val="073763"/>
              </a:solidFill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5099176" y="4413741"/>
            <a:ext cx="3482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2887" lvl="0" marL="270187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1067"/>
              <a:buChar char="•"/>
            </a:pPr>
            <a:r>
              <a:rPr i="0" lang="en-GB" sz="1067" u="none" cap="none" strike="noStrike">
                <a:solidFill>
                  <a:srgbClr val="151A21"/>
                </a:solidFill>
              </a:rPr>
              <a:t>Fewer rides ≠ cheaper: dawn trips are rare but long.</a:t>
            </a:r>
            <a:endParaRPr i="0" sz="1067" u="none" cap="none" strike="noStrike">
              <a:solidFill>
                <a:srgbClr val="000000"/>
              </a:solidFill>
            </a:endParaRPr>
          </a:p>
          <a:p>
            <a:pPr indent="-282887" lvl="0" marL="270187" marR="0" rtl="0" algn="l">
              <a:spcBef>
                <a:spcPts val="158"/>
              </a:spcBef>
              <a:spcAft>
                <a:spcPts val="0"/>
              </a:spcAft>
              <a:buClr>
                <a:srgbClr val="151A21"/>
              </a:buClr>
              <a:buSzPts val="1067"/>
              <a:buChar char="•"/>
            </a:pPr>
            <a:r>
              <a:rPr i="0" lang="en-GB" sz="1067" u="none" cap="none" strike="noStrike">
                <a:solidFill>
                  <a:srgbClr val="151A21"/>
                </a:solidFill>
              </a:rPr>
              <a:t>Few trips at dawn make those averages less certain; evening needs the most drivers.</a:t>
            </a:r>
            <a:endParaRPr i="0" sz="1067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/>
        </p:nvSpPr>
        <p:spPr>
          <a:xfrm>
            <a:off x="53850" y="132845"/>
            <a:ext cx="9208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A21"/>
              </a:buClr>
              <a:buSzPts val="2490"/>
              <a:buFont typeface="Arial"/>
              <a:buNone/>
            </a:pPr>
            <a:r>
              <a:rPr b="1" i="0" lang="en-GB" sz="2490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Are airport rides more expensive?</a:t>
            </a:r>
            <a:endParaRPr b="0" i="0" sz="249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-32250" y="701959"/>
            <a:ext cx="9208500" cy="470700"/>
          </a:xfrm>
          <a:prstGeom prst="roundRect">
            <a:avLst>
              <a:gd fmla="val 12903" name="adj"/>
            </a:avLst>
          </a:prstGeom>
          <a:solidFill>
            <a:srgbClr val="E8F3EE"/>
          </a:solidFill>
          <a:ln cap="flat" cmpd="sng" w="105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243596" y="762703"/>
            <a:ext cx="88290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1245"/>
              <a:buFont typeface="Arial"/>
              <a:buNone/>
            </a:pPr>
            <a:r>
              <a:rPr b="1" i="0" lang="en-GB" sz="1245" u="none" cap="none" strike="noStrike">
                <a:solidFill>
                  <a:srgbClr val="073763"/>
                </a:solidFill>
              </a:rPr>
              <a:t>Result: </a:t>
            </a:r>
            <a:r>
              <a:rPr i="0" lang="en-GB" sz="1245" u="none" cap="none" strike="noStrike">
                <a:solidFill>
                  <a:srgbClr val="151A21"/>
                </a:solidFill>
              </a:rPr>
              <a:t>JFK trips form their own group at $45–57, versus about $5–15 for normal city trips.</a:t>
            </a:r>
            <a:endParaRPr i="0" sz="1245" u="none" cap="none" strike="noStrike">
              <a:solidFill>
                <a:srgbClr val="000000"/>
              </a:solidFill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3850" y="1243648"/>
            <a:ext cx="4705800" cy="2656200"/>
          </a:xfrm>
          <a:prstGeom prst="rect">
            <a:avLst/>
          </a:prstGeom>
          <a:solidFill>
            <a:srgbClr val="FFFFFF"/>
          </a:solidFill>
          <a:ln cap="flat" cmpd="sng" w="7900">
            <a:solidFill>
              <a:srgbClr val="DA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atter of fare vs jfk_dist: a large cloud near 40 with low fares and a separate group near 21 at 45 to 57 dollars" id="198" name="Google Shape;198;p20"/>
          <p:cNvPicPr preferRelativeResize="0"/>
          <p:nvPr/>
        </p:nvPicPr>
        <p:blipFill rotWithShape="1">
          <a:blip r:embed="rId3">
            <a:alphaModFix/>
          </a:blip>
          <a:srcRect b="-1884" l="-1488" r="-1850" t="-4556"/>
          <a:stretch/>
        </p:blipFill>
        <p:spPr>
          <a:xfrm>
            <a:off x="137800" y="1397100"/>
            <a:ext cx="4705801" cy="28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53850" y="4353401"/>
            <a:ext cx="4705800" cy="546600"/>
          </a:xfrm>
          <a:prstGeom prst="roundRect">
            <a:avLst>
              <a:gd fmla="val 11111" name="adj"/>
            </a:avLst>
          </a:prstGeom>
          <a:solidFill>
            <a:srgbClr val="F1F2F4"/>
          </a:solidFill>
          <a:ln cap="flat" cmpd="sng" w="10550">
            <a:solidFill>
              <a:srgbClr val="F1F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05647" y="4398940"/>
            <a:ext cx="44019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13"/>
              <a:buFont typeface="Arial"/>
              <a:buNone/>
            </a:pPr>
            <a:r>
              <a:rPr b="1" i="0" lang="en-GB" sz="11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Why a scatter plot?</a:t>
            </a:r>
            <a:r>
              <a:rPr b="1" i="0" lang="en-GB" sz="1100" u="none" cap="none" strike="noStrike">
                <a:solidFill>
                  <a:srgbClr val="1E6E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100" u="none" cap="none" strike="noStrike">
                <a:solidFill>
                  <a:srgbClr val="151A21"/>
                </a:solidFill>
                <a:latin typeface="Arial"/>
                <a:ea typeface="Arial"/>
                <a:cs typeface="Arial"/>
                <a:sym typeface="Arial"/>
              </a:rPr>
              <a:t>jfk_dist and fare are both numbers; each dot is one trip, so separate groups become visible.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063146" y="1621048"/>
            <a:ext cx="41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13"/>
              <a:buFont typeface="Courier New"/>
              <a:buNone/>
            </a:pPr>
            <a:r>
              <a:rPr b="1" i="0" lang="en-GB" sz="1013" u="none" cap="none" strike="noStrike">
                <a:solidFill>
                  <a:srgbClr val="073763"/>
                </a:solidFill>
              </a:rPr>
              <a:t>HOW TO READ jfk_dist</a:t>
            </a:r>
            <a:endParaRPr b="1" i="0" sz="1013" u="none" cap="none" strike="noStrike">
              <a:solidFill>
                <a:srgbClr val="073763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063146" y="1863924"/>
            <a:ext cx="41997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096" u="none" cap="none" strike="noStrike">
                <a:solidFill>
                  <a:schemeClr val="dk1"/>
                </a:solidFill>
              </a:rPr>
              <a:t>It</a:t>
            </a:r>
            <a:r>
              <a:rPr b="1" i="0" lang="en-GB" sz="1196" u="none" cap="none" strike="noStrike">
                <a:solidFill>
                  <a:schemeClr val="dk1"/>
                </a:solidFill>
              </a:rPr>
              <a:t> adds two distances:</a:t>
            </a:r>
            <a:r>
              <a:rPr i="0" lang="en-GB" sz="1196" u="none" cap="none" strike="noStrike">
                <a:solidFill>
                  <a:schemeClr val="dk1"/>
                </a:solidFill>
              </a:rPr>
              <a:t> pickup → JFK + dropoff → JFK.</a:t>
            </a:r>
            <a:endParaRPr i="0" sz="1196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66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196" u="none" cap="none" strike="noStrike">
                <a:solidFill>
                  <a:schemeClr val="dk1"/>
                </a:solidFill>
              </a:rPr>
              <a:t>Airport → downtown: </a:t>
            </a:r>
            <a:r>
              <a:rPr i="0" lang="en-GB" sz="1196" u="none" cap="none" strike="noStrike">
                <a:solidFill>
                  <a:schemeClr val="dk1"/>
                </a:solidFill>
              </a:rPr>
              <a:t>0 + 21 = 21 km (same as the trip).</a:t>
            </a:r>
            <a:endParaRPr i="0" sz="1196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66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196" u="none" cap="none" strike="noStrike">
                <a:solidFill>
                  <a:schemeClr val="dk1"/>
                </a:solidFill>
              </a:rPr>
              <a:t>City trip: </a:t>
            </a:r>
            <a:r>
              <a:rPr i="0" lang="en-GB" sz="1196" u="none" cap="none" strike="noStrike">
                <a:solidFill>
                  <a:schemeClr val="dk1"/>
                </a:solidFill>
              </a:rPr>
              <a:t>20 + 20 = 40 km (far from the airport).</a:t>
            </a:r>
            <a:endParaRPr i="0" sz="1196" u="none" cap="none" strike="noStrike">
              <a:solidFill>
                <a:schemeClr val="dk1"/>
              </a:solidFill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063146" y="2683630"/>
            <a:ext cx="41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13"/>
              <a:buFont typeface="Courier New"/>
              <a:buNone/>
            </a:pPr>
            <a:r>
              <a:rPr b="1" i="0" lang="en-GB" sz="1013" u="none" cap="none" strike="noStrike">
                <a:solidFill>
                  <a:srgbClr val="073763"/>
                </a:solidFill>
              </a:rPr>
              <a:t>WHAT THE FIGURE SHOWS</a:t>
            </a:r>
            <a:endParaRPr b="1" i="0" sz="1013" u="none" cap="none" strike="noStrike">
              <a:solidFill>
                <a:srgbClr val="073763"/>
              </a:solidFill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063150" y="2926500"/>
            <a:ext cx="40809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cloud near 40: 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city trips, mostly $5–15.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6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 group near 21: 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JFK trips, in flat rows at about $45, $50, $52 and $57.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6"/>
              </a:spcBef>
              <a:spcAft>
                <a:spcPts val="0"/>
              </a:spcAft>
              <a:buClr>
                <a:srgbClr val="4A5260"/>
              </a:buClr>
              <a:buSzPts val="996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Flat rows = a fixed price: 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20 km and a 24 km airport trip cost the same.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843600" y="3920875"/>
            <a:ext cx="3894300" cy="963900"/>
          </a:xfrm>
          <a:prstGeom prst="roundRect">
            <a:avLst>
              <a:gd fmla="val 6299" name="adj"/>
            </a:avLst>
          </a:prstGeom>
          <a:solidFill>
            <a:srgbClr val="E8F3EE"/>
          </a:solidFill>
          <a:ln cap="flat" cmpd="sng" w="10550">
            <a:solidFill>
              <a:srgbClr val="E8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976542" y="3890407"/>
            <a:ext cx="38202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5"/>
              </a:buClr>
              <a:buSzPts val="913"/>
              <a:buFont typeface="Courier New"/>
              <a:buNone/>
            </a:pPr>
            <a:r>
              <a:rPr b="1" i="0" lang="en-GB" sz="1013" u="none" cap="none" strike="noStrike">
                <a:solidFill>
                  <a:srgbClr val="073763"/>
                </a:solidFill>
              </a:rPr>
              <a:t>WHAT </a:t>
            </a:r>
            <a:r>
              <a:rPr b="1" lang="en-GB" sz="1013">
                <a:solidFill>
                  <a:srgbClr val="073763"/>
                </a:solidFill>
              </a:rPr>
              <a:t>I </a:t>
            </a:r>
            <a:r>
              <a:rPr b="1" i="0" lang="en-GB" sz="1013" u="none" cap="none" strike="noStrike">
                <a:solidFill>
                  <a:srgbClr val="073763"/>
                </a:solidFill>
              </a:rPr>
              <a:t>GAIN</a:t>
            </a:r>
            <a:endParaRPr b="1" i="0" sz="1013" u="none" cap="none" strike="noStrike">
              <a:solidFill>
                <a:srgbClr val="073763"/>
              </a:solidFill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843600" y="4087001"/>
            <a:ext cx="3820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5628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Char char="●"/>
            </a:pPr>
            <a:r>
              <a:rPr i="0" lang="en-GB" sz="1213" u="none" cap="none" strike="noStrike">
                <a:solidFill>
                  <a:schemeClr val="dk1"/>
                </a:solidFill>
              </a:rPr>
              <a:t>Airport trips are a separate group, not a gradual “closer = pricier” trend.</a:t>
            </a:r>
            <a:endParaRPr i="0" sz="1213" u="none" cap="none" strike="noStrike">
              <a:solidFill>
                <a:schemeClr val="dk1"/>
              </a:solidFill>
            </a:endParaRPr>
          </a:p>
          <a:p>
            <a:pPr indent="-305628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3"/>
              <a:buChar char="●"/>
            </a:pPr>
            <a:r>
              <a:rPr i="0" lang="en-GB" sz="1213" u="none" cap="none" strike="noStrike">
                <a:solidFill>
                  <a:schemeClr val="dk1"/>
                </a:solidFill>
              </a:rPr>
              <a:t>A fixed price breaks the model’s “$2.29 per km” rule</a:t>
            </a:r>
            <a:r>
              <a:rPr lang="en-GB" sz="1213">
                <a:solidFill>
                  <a:schemeClr val="dk1"/>
                </a:solidFill>
              </a:rPr>
              <a:t>, a</a:t>
            </a:r>
            <a:r>
              <a:rPr i="0" lang="en-GB" sz="1213" u="none" cap="none" strike="noStrike">
                <a:solidFill>
                  <a:schemeClr val="dk1"/>
                </a:solidFill>
              </a:rPr>
              <a:t>dd an is_jfk feature and test it.</a:t>
            </a:r>
            <a:endParaRPr i="0" sz="1213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Turning Insights into Action: 3 Priorities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>
            <p:ph idx="1" type="body"/>
          </p:nvPr>
        </p:nvSpPr>
        <p:spPr>
          <a:xfrm>
            <a:off x="311700" y="1225225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GB" sz="5004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1. Launch upfront price estimates</a:t>
            </a:r>
            <a:br>
              <a:rPr b="1" lang="en-GB" sz="5004">
                <a:latin typeface="Arial"/>
                <a:ea typeface="Arial"/>
                <a:cs typeface="Arial"/>
                <a:sym typeface="Arial"/>
              </a:rPr>
            </a:br>
            <a:r>
              <a:rPr lang="en-GB" sz="5004">
                <a:latin typeface="Arial"/>
                <a:ea typeface="Arial"/>
                <a:cs typeface="Arial"/>
                <a:sym typeface="Arial"/>
              </a:rPr>
              <a:t> Distance explains ~80% of the fare, and the model is off by only about $2 on average. Showing riders a price range before they book builds trust and uses what the model already does well.</a:t>
            </a:r>
            <a:endParaRPr sz="500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GB" sz="5004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2. Make airport rides a separate product with a fixed price</a:t>
            </a:r>
            <a:br>
              <a:rPr b="1" lang="en-GB" sz="5004">
                <a:latin typeface="Arial"/>
                <a:ea typeface="Arial"/>
                <a:cs typeface="Arial"/>
                <a:sym typeface="Arial"/>
              </a:rPr>
            </a:br>
            <a:r>
              <a:rPr lang="en-GB" sz="5004">
                <a:latin typeface="Arial"/>
                <a:ea typeface="Arial"/>
                <a:cs typeface="Arial"/>
                <a:sym typeface="Arial"/>
              </a:rPr>
              <a:t> JFK trips are a flat $45–57 fare that distance can't explain, and they are the model's biggest error. A fixed airport price, dedicated pickup zones and pre-booking make these rides easier to sell and plan, and remove the largest source of wrong estimates.</a:t>
            </a:r>
            <a:endParaRPr sz="500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GB" sz="5004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3. Match drivers to demand</a:t>
            </a:r>
            <a:br>
              <a:rPr b="1" lang="en-GB" sz="5004">
                <a:latin typeface="Arial"/>
                <a:ea typeface="Arial"/>
                <a:cs typeface="Arial"/>
                <a:sym typeface="Arial"/>
              </a:rPr>
            </a:br>
            <a:r>
              <a:rPr lang="en-GB" sz="5004">
                <a:latin typeface="Arial"/>
                <a:ea typeface="Arial"/>
                <a:cs typeface="Arial"/>
                <a:sym typeface="Arial"/>
              </a:rPr>
              <a:t> Demand peaks at 7 p.m. (30,120 rides) and dips at 4 p.m. during the shift change. More drivers in the evening and staggered shift changes mean fewer riders waiting or leaving the app at the busiest times.</a:t>
            </a:r>
            <a:endParaRPr sz="500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