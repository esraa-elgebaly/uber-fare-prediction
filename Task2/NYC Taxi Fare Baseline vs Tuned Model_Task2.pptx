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The talk compares five models with three cost functions (MAE, RMSE, R squared) on the same Pipeline and folds, then shows why Gradient Boosting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values: 5 broken rows, dropped. Impossible values (coordinates outside New York, 0 passengers, fares of 0 or less) were removed before the split. The fare-error rule removed 213 more rows from the training set only, so the test set stays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the median fare per km by month. In 2012 the line jumps in September and joins the 2013 level, so the price changed at one moment. Right chart: JFK to Manhattan trips pay a few fixed fares, which a straight line on distance cannot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Five-fold cross-validation of Linear Regression on the training data. The error is almost identical on every fold, except fold 4 where the RMSE is higher. Ridge was tuned over six alpha values from 0.001 to 100 and the RMSE barely moved ($4.7730 to $4.7754), so the limit is the model family, not regularization.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counts every dollar of error the same. RMSE squares the error, so a $10 miss counts 100 against 1 for a $1 miss. R squared is the share of the fare variation the model explains. All the models in this notebook are trained to minimize squared error on the log of the fare, which is why RMSE is the metric we choose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of the benchmark: every candidate runs through the same Pipeline and the same five folds on a 100,000-row sample. Gradient Boosting has the lowest MAE, the lowest RMSE and the highest R squared. Extra Trees and Ridge were screened out; Linear Regression stays as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of the benchmark: the best two models plus the linear baseline, cross-validated on all the training data. Gradient Boosting has the lowest RMSE and trains in 7 seconds per fold against 71 for Random Forest. The fit time is for the whole Pipeline. Each card also says when that model is the best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five folds validate both models, so the comparison is paired. Gradient Boosting wins on all five, with a gain between 0.07 and 0.08 R squared. Skipping the SelectKBest feature selector helped it: RMSE 3.97 without it against 4.05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winner is tuned, with a random search of 10 out of 108 combinations on the same folds. Changing from the linear baseline to Gradient Boosting cut the test RMSE by 18.1 percent. Tuning added another 0.9 percent, from 3.8997 to 3.8650.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short results table the task asks for, shown as bars: baseline (Linear Regression) against the final tuned Gradient Boosting, scored once on the held-out test set of 97,443 trips. MAE 2.1537 to 1.5390, RMSE 4.7608 to 3.8650, R squared 0.7521 to 0.8366.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falls by 28.5 percent but RMSE only by 18.8 percent. RMSE divided by MAE rises from 2.21 to 2.51, so the remaining error is dominated by a few large misses. The figure shows the error histograms of the baseline, Ridge and Gradient Boosting, and the MAE by trip length: the long trips are where the largest errors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average error by trip length on the test set, linear baseline against Gradient Boosting before tuning. On trips over 10 km the error falls from 6.33 to 3.95 dollars. Right: the share of test trips predicted within 2, 3 and 5 dollars of the real fare, baseline against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bootstrap resamples the test trips 300 times. The intervals of the baseline and the final model do not overlap. The saved Pipeline is one file of 1.4 megabytes and predicts 10,000 trips in about a tenth of a second. Permutation importance shows that distance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first improvement is to move the encoding into the Pipeline so the saved file accepts a raw row. The others are a smarter search, an explanation of the remaining errors, and a time-based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1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801"/>
            <a:ext cx="10566400" cy="4216399"/>
          </a:xfrm>
          <a:prstGeom prst="rect">
            <a:avLst/>
          </a:prstGeom>
          <a:noFill/>
          <a:ln/>
        </p:spPr>
        <p:txBody>
          <a:bodyPr wrap="square" lIns="0" tIns="0" rIns="0" bIns="0" rtlCol="0" anchor="t"/>
          <a:lstStyle>
            <a:lvl1pPr algn="l" indent="0" marL="0">
              <a:lnSpc>
                <a:spcPct val="140000"/>
              </a:lnSpc>
              <a:buNone/>
              <a:defRPr lang="en-US" sz="1600" dirty="0">
                <a:solidFill>
                  <a:srgbClr val="1621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1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801"/>
            <a:ext cx="10566400" cy="4216399"/>
          </a:xfrm>
          <a:prstGeom prst="rect">
            <a:avLst/>
          </a:prstGeom>
          <a:noFill/>
          <a:ln/>
        </p:spPr>
        <p:txBody>
          <a:bodyPr wrap="square" lIns="0" tIns="0" rIns="0" bIns="0" rtlCol="0" anchor="t"/>
          <a:lstStyle>
            <a:lvl1pPr algn="l" indent="0" marL="0">
              <a:lnSpc>
                <a:spcPct val="140000"/>
              </a:lnSpc>
              <a:buNone/>
              <a:defRPr lang="en-US" sz="1600" dirty="0">
                <a:solidFill>
                  <a:srgbClr val="1621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laude.ai/artifact/WkAVcSnRbiKQGGJoKXJBTV"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812800" y="225552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MACHINE LEARNING INTERNSHIP · TASK 2</a:t>
            </a:r>
            <a:endParaRPr lang="en-US" sz="1200" dirty="0"/>
          </a:p>
        </p:txBody>
      </p:sp>
      <p:sp>
        <p:nvSpPr>
          <p:cNvPr id="3" name="Text 1"/>
          <p:cNvSpPr/>
          <p:nvPr>
            <p:ph type="title"/>
          </p:nvPr>
        </p:nvSpPr>
        <p:spPr>
          <a:xfrm>
            <a:off x="812800" y="2722880"/>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7F6F2"/>
                </a:solidFill>
                <a:latin typeface="Source Serif 4" pitchFamily="18" charset="0"/>
                <a:ea typeface="Source Serif 4" pitchFamily="18" charset="-122"/>
                <a:cs typeface="Source Serif 4" pitchFamily="18" charset="-120"/>
              </a:rPr>
              <a:t>Which model predicts a taxi fare best?</a:t>
            </a:r>
            <a:endParaRPr lang="en-US" sz="4800" dirty="0"/>
          </a:p>
        </p:txBody>
      </p:sp>
      <p:sp>
        <p:nvSpPr>
          <p:cNvPr id="4" name="Text 2"/>
          <p:cNvSpPr/>
          <p:nvPr/>
        </p:nvSpPr>
        <p:spPr>
          <a:xfrm>
            <a:off x="812800" y="43180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0"/>
                </a:solidFill>
                <a:latin typeface="IBM Plex Sans" pitchFamily="34" charset="0"/>
                <a:ea typeface="IBM Plex Sans" pitchFamily="34" charset="-122"/>
                <a:cs typeface="IBM Plex Sans" pitchFamily="34" charset="-120"/>
              </a:rPr>
              <a:t>500,000 NYC trips, five models, three cost functions, one saved Pipeline.</a:t>
            </a:r>
            <a:endParaRPr lang="en-US" sz="1600" dirty="0"/>
          </a:p>
        </p:txBody>
      </p:sp>
      <p:sp>
        <p:nvSpPr>
          <p:cNvPr id="5" name="Text 3"/>
          <p:cNvSpPr/>
          <p:nvPr/>
        </p:nvSpPr>
        <p:spPr>
          <a:xfrm>
            <a:off x="812800" y="5999480"/>
            <a:ext cx="3924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E0"/>
                </a:solidFill>
                <a:latin typeface="IBM Plex Sans" pitchFamily="34" charset="0"/>
                <a:ea typeface="IBM Plex Sans" pitchFamily="34" charset="-122"/>
                <a:cs typeface="IBM Plex Sans" pitchFamily="34" charset="-120"/>
              </a:rPr>
              <a:t>Esraa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CLEANING AND SPLIT</a:t>
            </a:r>
            <a:endParaRPr lang="en-US" sz="1200" dirty="0"/>
          </a:p>
        </p:txBody>
      </p:sp>
      <p:sp>
        <p:nvSpPr>
          <p:cNvPr id="3" name="Text 1"/>
          <p:cNvSpPr/>
          <p:nvPr>
            <p:ph type="title"/>
          </p:nvPr>
        </p:nvSpPr>
        <p:spPr>
          <a:xfrm>
            <a:off x="812800" y="10769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From 500,000 raw trips to the test set</a:t>
            </a:r>
            <a:endParaRPr lang="en-US" sz="3200" dirty="0"/>
          </a:p>
        </p:txBody>
      </p:sp>
      <p:sp>
        <p:nvSpPr>
          <p:cNvPr id="4" name="Text 2"/>
          <p:cNvSpPr/>
          <p:nvPr/>
        </p:nvSpPr>
        <p:spPr>
          <a:xfrm>
            <a:off x="812800" y="1727200"/>
            <a:ext cx="8961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Raw trips</a:t>
            </a:r>
            <a:endParaRPr lang="en-US" sz="1400" dirty="0"/>
          </a:p>
        </p:txBody>
      </p:sp>
      <p:sp>
        <p:nvSpPr>
          <p:cNvPr id="5" name="Text 3"/>
          <p:cNvSpPr/>
          <p:nvPr/>
        </p:nvSpPr>
        <p:spPr>
          <a:xfrm>
            <a:off x="6328505" y="1727200"/>
            <a:ext cx="834295"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500,000</a:t>
            </a:r>
            <a:endParaRPr lang="en-US" sz="1400" dirty="0"/>
          </a:p>
        </p:txBody>
      </p:sp>
      <p:sp>
        <p:nvSpPr>
          <p:cNvPr id="6" name="Shape 4"/>
          <p:cNvSpPr/>
          <p:nvPr/>
        </p:nvSpPr>
        <p:spPr>
          <a:xfrm>
            <a:off x="812800" y="2026920"/>
            <a:ext cx="6096000" cy="127000"/>
          </a:xfrm>
          <a:prstGeom prst="roundRect">
            <a:avLst>
              <a:gd name="adj" fmla="val 50000"/>
            </a:avLst>
          </a:prstGeom>
          <a:solidFill>
            <a:srgbClr val="2B5C8A"/>
          </a:solidFill>
          <a:ln/>
        </p:spPr>
      </p:sp>
      <p:sp>
        <p:nvSpPr>
          <p:cNvPr id="7" name="Text 5"/>
          <p:cNvSpPr/>
          <p:nvPr/>
        </p:nvSpPr>
        <p:spPr>
          <a:xfrm>
            <a:off x="812800" y="2306320"/>
            <a:ext cx="26468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Dropped 5 incomplete rows</a:t>
            </a:r>
            <a:endParaRPr lang="en-US" sz="1400" dirty="0"/>
          </a:p>
        </p:txBody>
      </p:sp>
      <p:sp>
        <p:nvSpPr>
          <p:cNvPr id="8" name="Text 6"/>
          <p:cNvSpPr/>
          <p:nvPr/>
        </p:nvSpPr>
        <p:spPr>
          <a:xfrm>
            <a:off x="6328505" y="2306320"/>
            <a:ext cx="834295"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499,995</a:t>
            </a:r>
            <a:endParaRPr lang="en-US" sz="1400" dirty="0"/>
          </a:p>
        </p:txBody>
      </p:sp>
      <p:sp>
        <p:nvSpPr>
          <p:cNvPr id="9" name="Shape 7"/>
          <p:cNvSpPr/>
          <p:nvPr/>
        </p:nvSpPr>
        <p:spPr>
          <a:xfrm>
            <a:off x="812800" y="2606040"/>
            <a:ext cx="6096000" cy="127000"/>
          </a:xfrm>
          <a:prstGeom prst="roundRect">
            <a:avLst>
              <a:gd name="adj" fmla="val 50000"/>
            </a:avLst>
          </a:prstGeom>
          <a:solidFill>
            <a:srgbClr val="2B5C8A"/>
          </a:solidFill>
          <a:ln/>
        </p:spPr>
      </p:sp>
      <p:sp>
        <p:nvSpPr>
          <p:cNvPr id="10" name="Text 8"/>
          <p:cNvSpPr/>
          <p:nvPr/>
        </p:nvSpPr>
        <p:spPr>
          <a:xfrm>
            <a:off x="812800" y="2885440"/>
            <a:ext cx="26583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Removed impossible values</a:t>
            </a:r>
            <a:endParaRPr lang="en-US" sz="1400" dirty="0"/>
          </a:p>
        </p:txBody>
      </p:sp>
      <p:sp>
        <p:nvSpPr>
          <p:cNvPr id="11" name="Text 9"/>
          <p:cNvSpPr/>
          <p:nvPr/>
        </p:nvSpPr>
        <p:spPr>
          <a:xfrm>
            <a:off x="6328505" y="2885440"/>
            <a:ext cx="834295"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487,212</a:t>
            </a:r>
            <a:endParaRPr lang="en-US" sz="1400" dirty="0"/>
          </a:p>
        </p:txBody>
      </p:sp>
      <p:sp>
        <p:nvSpPr>
          <p:cNvPr id="12" name="Shape 10"/>
          <p:cNvSpPr/>
          <p:nvPr/>
        </p:nvSpPr>
        <p:spPr>
          <a:xfrm>
            <a:off x="812800" y="3185160"/>
            <a:ext cx="5937250" cy="127000"/>
          </a:xfrm>
          <a:prstGeom prst="roundRect">
            <a:avLst>
              <a:gd name="adj" fmla="val 50000"/>
            </a:avLst>
          </a:prstGeom>
          <a:solidFill>
            <a:srgbClr val="2B5C8A"/>
          </a:solidFill>
          <a:ln/>
        </p:spPr>
      </p:sp>
      <p:sp>
        <p:nvSpPr>
          <p:cNvPr id="13" name="Text 11"/>
          <p:cNvSpPr/>
          <p:nvPr/>
        </p:nvSpPr>
        <p:spPr>
          <a:xfrm>
            <a:off x="812800" y="3464560"/>
            <a:ext cx="175898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Training set (80%)</a:t>
            </a:r>
            <a:endParaRPr lang="en-US" sz="1400" dirty="0"/>
          </a:p>
        </p:txBody>
      </p:sp>
      <p:sp>
        <p:nvSpPr>
          <p:cNvPr id="14" name="Text 12"/>
          <p:cNvSpPr/>
          <p:nvPr/>
        </p:nvSpPr>
        <p:spPr>
          <a:xfrm>
            <a:off x="6328505" y="3464560"/>
            <a:ext cx="834295"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389,769</a:t>
            </a:r>
            <a:endParaRPr lang="en-US" sz="1400" dirty="0"/>
          </a:p>
        </p:txBody>
      </p:sp>
      <p:sp>
        <p:nvSpPr>
          <p:cNvPr id="15" name="Shape 13"/>
          <p:cNvSpPr/>
          <p:nvPr/>
        </p:nvSpPr>
        <p:spPr>
          <a:xfrm>
            <a:off x="812800" y="3764280"/>
            <a:ext cx="4749800" cy="127000"/>
          </a:xfrm>
          <a:prstGeom prst="roundRect">
            <a:avLst>
              <a:gd name="adj" fmla="val 50000"/>
            </a:avLst>
          </a:prstGeom>
          <a:solidFill>
            <a:srgbClr val="2B5C8A"/>
          </a:solidFill>
          <a:ln/>
        </p:spPr>
      </p:sp>
      <p:sp>
        <p:nvSpPr>
          <p:cNvPr id="16" name="Text 14"/>
          <p:cNvSpPr/>
          <p:nvPr/>
        </p:nvSpPr>
        <p:spPr>
          <a:xfrm>
            <a:off x="812800" y="4043680"/>
            <a:ext cx="139607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Test set (20%)</a:t>
            </a:r>
            <a:endParaRPr lang="en-US" sz="1400" dirty="0"/>
          </a:p>
        </p:txBody>
      </p:sp>
      <p:sp>
        <p:nvSpPr>
          <p:cNvPr id="17" name="Text 15"/>
          <p:cNvSpPr/>
          <p:nvPr/>
        </p:nvSpPr>
        <p:spPr>
          <a:xfrm>
            <a:off x="6456521" y="4043680"/>
            <a:ext cx="706279"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97,443</a:t>
            </a:r>
            <a:endParaRPr lang="en-US" sz="1400" dirty="0"/>
          </a:p>
        </p:txBody>
      </p:sp>
      <p:sp>
        <p:nvSpPr>
          <p:cNvPr id="18" name="Shape 16"/>
          <p:cNvSpPr/>
          <p:nvPr/>
        </p:nvSpPr>
        <p:spPr>
          <a:xfrm>
            <a:off x="812800" y="4343400"/>
            <a:ext cx="1187450" cy="127000"/>
          </a:xfrm>
          <a:prstGeom prst="roundRect">
            <a:avLst>
              <a:gd name="adj" fmla="val 50000"/>
            </a:avLst>
          </a:prstGeom>
          <a:solidFill>
            <a:srgbClr val="B8561A"/>
          </a:solidFill>
          <a:ln/>
        </p:spPr>
      </p:sp>
      <p:sp>
        <p:nvSpPr>
          <p:cNvPr id="19" name="Shape 17"/>
          <p:cNvSpPr/>
          <p:nvPr/>
        </p:nvSpPr>
        <p:spPr>
          <a:xfrm>
            <a:off x="7470775" y="1730375"/>
            <a:ext cx="3905250" cy="1182370"/>
          </a:xfrm>
          <a:prstGeom prst="roundRect">
            <a:avLst>
              <a:gd name="adj" fmla="val 8324"/>
            </a:avLst>
          </a:prstGeom>
          <a:solidFill>
            <a:srgbClr val="FDFCF9"/>
          </a:solidFill>
          <a:ln w="6350">
            <a:solidFill>
              <a:srgbClr val="E2E0D8"/>
            </a:solidFill>
            <a:prstDash val="solid"/>
          </a:ln>
        </p:spPr>
      </p:sp>
      <p:sp>
        <p:nvSpPr>
          <p:cNvPr id="20" name="Text 18"/>
          <p:cNvSpPr/>
          <p:nvPr/>
        </p:nvSpPr>
        <p:spPr>
          <a:xfrm>
            <a:off x="7675880" y="1935480"/>
            <a:ext cx="3599891"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8561A"/>
                </a:solidFill>
                <a:latin typeface="Source Serif 4" pitchFamily="18" charset="0"/>
                <a:ea typeface="Source Serif 4" pitchFamily="18" charset="-122"/>
                <a:cs typeface="Source Serif 4" pitchFamily="18" charset="-120"/>
              </a:rPr>
              <a:t>5</a:t>
            </a:r>
            <a:endParaRPr lang="en-US" sz="3200" dirty="0"/>
          </a:p>
        </p:txBody>
      </p:sp>
      <p:sp>
        <p:nvSpPr>
          <p:cNvPr id="21" name="Text 19"/>
          <p:cNvSpPr/>
          <p:nvPr/>
        </p:nvSpPr>
        <p:spPr>
          <a:xfrm>
            <a:off x="7675880" y="2458720"/>
            <a:ext cx="35998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868"/>
                </a:solidFill>
                <a:latin typeface="IBM Plex Sans" pitchFamily="34" charset="0"/>
                <a:ea typeface="IBM Plex Sans" pitchFamily="34" charset="-122"/>
                <a:cs typeface="IBM Plex Sans" pitchFamily="34" charset="-120"/>
              </a:rPr>
              <a:t>incomplete rows dropped</a:t>
            </a:r>
            <a:endParaRPr lang="en-US" sz="1400" dirty="0"/>
          </a:p>
        </p:txBody>
      </p:sp>
      <p:sp>
        <p:nvSpPr>
          <p:cNvPr id="22" name="Shape 20"/>
          <p:cNvSpPr/>
          <p:nvPr/>
        </p:nvSpPr>
        <p:spPr>
          <a:xfrm>
            <a:off x="7470775" y="3071495"/>
            <a:ext cx="3905250" cy="1182370"/>
          </a:xfrm>
          <a:prstGeom prst="roundRect">
            <a:avLst>
              <a:gd name="adj" fmla="val 8324"/>
            </a:avLst>
          </a:prstGeom>
          <a:solidFill>
            <a:srgbClr val="FDFCF9"/>
          </a:solidFill>
          <a:ln w="6350">
            <a:solidFill>
              <a:srgbClr val="E2E0D8"/>
            </a:solidFill>
            <a:prstDash val="solid"/>
          </a:ln>
        </p:spPr>
      </p:sp>
      <p:sp>
        <p:nvSpPr>
          <p:cNvPr id="23" name="Text 21"/>
          <p:cNvSpPr/>
          <p:nvPr/>
        </p:nvSpPr>
        <p:spPr>
          <a:xfrm>
            <a:off x="7675880" y="3276600"/>
            <a:ext cx="3599891"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8561A"/>
                </a:solidFill>
                <a:latin typeface="Source Serif 4" pitchFamily="18" charset="0"/>
                <a:ea typeface="Source Serif 4" pitchFamily="18" charset="-122"/>
                <a:cs typeface="Source Serif 4" pitchFamily="18" charset="-120"/>
              </a:rPr>
              <a:t>12,783</a:t>
            </a:r>
            <a:endParaRPr lang="en-US" sz="3200" dirty="0"/>
          </a:p>
        </p:txBody>
      </p:sp>
      <p:sp>
        <p:nvSpPr>
          <p:cNvPr id="24" name="Text 22"/>
          <p:cNvSpPr/>
          <p:nvPr/>
        </p:nvSpPr>
        <p:spPr>
          <a:xfrm>
            <a:off x="7675880" y="3799840"/>
            <a:ext cx="35998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868"/>
                </a:solidFill>
                <a:latin typeface="IBM Plex Sans" pitchFamily="34" charset="0"/>
                <a:ea typeface="IBM Plex Sans" pitchFamily="34" charset="-122"/>
                <a:cs typeface="IBM Plex Sans" pitchFamily="34" charset="-120"/>
              </a:rPr>
              <a:t>impossible rows removed</a:t>
            </a:r>
            <a:endParaRPr lang="en-US" sz="1400" dirty="0"/>
          </a:p>
        </p:txBody>
      </p:sp>
      <p:sp>
        <p:nvSpPr>
          <p:cNvPr id="25" name="Shape 23"/>
          <p:cNvSpPr/>
          <p:nvPr/>
        </p:nvSpPr>
        <p:spPr>
          <a:xfrm>
            <a:off x="7470775" y="4412615"/>
            <a:ext cx="3905250" cy="1182370"/>
          </a:xfrm>
          <a:prstGeom prst="roundRect">
            <a:avLst>
              <a:gd name="adj" fmla="val 8324"/>
            </a:avLst>
          </a:prstGeom>
          <a:solidFill>
            <a:srgbClr val="FDFCF9"/>
          </a:solidFill>
          <a:ln w="6350">
            <a:solidFill>
              <a:srgbClr val="E2E0D8"/>
            </a:solidFill>
            <a:prstDash val="solid"/>
          </a:ln>
        </p:spPr>
      </p:sp>
      <p:sp>
        <p:nvSpPr>
          <p:cNvPr id="26" name="Text 24"/>
          <p:cNvSpPr/>
          <p:nvPr/>
        </p:nvSpPr>
        <p:spPr>
          <a:xfrm>
            <a:off x="7675880" y="4617720"/>
            <a:ext cx="3599891"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8561A"/>
                </a:solidFill>
                <a:latin typeface="Source Serif 4" pitchFamily="18" charset="0"/>
                <a:ea typeface="Source Serif 4" pitchFamily="18" charset="-122"/>
                <a:cs typeface="Source Serif 4" pitchFamily="18" charset="-120"/>
              </a:rPr>
              <a:t>213</a:t>
            </a:r>
            <a:endParaRPr lang="en-US" sz="3200" dirty="0"/>
          </a:p>
        </p:txBody>
      </p:sp>
      <p:sp>
        <p:nvSpPr>
          <p:cNvPr id="27" name="Text 25"/>
          <p:cNvSpPr/>
          <p:nvPr/>
        </p:nvSpPr>
        <p:spPr>
          <a:xfrm>
            <a:off x="7675880" y="5140960"/>
            <a:ext cx="35998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868"/>
                </a:solidFill>
                <a:latin typeface="IBM Plex Sans" pitchFamily="34" charset="0"/>
                <a:ea typeface="IBM Plex Sans" pitchFamily="34" charset="-122"/>
                <a:cs typeface="IBM Plex Sans" pitchFamily="34" charset="-120"/>
              </a:rPr>
              <a:t>odd fares removed (train only)</a:t>
            </a:r>
            <a:endParaRPr lang="en-US" sz="1400" dirty="0"/>
          </a:p>
        </p:txBody>
      </p:sp>
      <p:sp>
        <p:nvSpPr>
          <p:cNvPr id="28" name="Text 26"/>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Next: the patterns that became features</a:t>
            </a:r>
            <a:endParaRPr lang="en-US" sz="1200" dirty="0"/>
          </a:p>
        </p:txBody>
      </p:sp>
      <p:sp>
        <p:nvSpPr>
          <p:cNvPr id="29" name="Text 27"/>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FEATURES</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Three patterns in the EDA became features</a:t>
            </a:r>
            <a:endParaRPr lang="en-US" sz="3200" dirty="0"/>
          </a:p>
        </p:txBody>
      </p:sp>
      <p:sp>
        <p:nvSpPr>
          <p:cNvPr id="4" name="Shape 2"/>
          <p:cNvSpPr/>
          <p:nvPr/>
        </p:nvSpPr>
        <p:spPr>
          <a:xfrm>
            <a:off x="815975" y="1730375"/>
            <a:ext cx="10560050" cy="2448560"/>
          </a:xfrm>
          <a:prstGeom prst="roundRect">
            <a:avLst>
              <a:gd name="adj" fmla="val 4020"/>
            </a:avLst>
          </a:prstGeom>
          <a:solidFill>
            <a:srgbClr val="FDFCF9"/>
          </a:solidFill>
          <a:ln w="6350">
            <a:solidFill>
              <a:srgbClr val="E2E0D8"/>
            </a:solidFill>
            <a:prstDash val="solid"/>
          </a:ln>
        </p:spPr>
      </p:sp>
      <p:pic>
        <p:nvPicPr>
          <p:cNvPr id="5" name="Image 0" descr="Median fare per km by month in 2011 to 2013 with the September 2012 jump, and the fare distribution of JFK to Manhattan trips">    </p:cNvPr>
          <p:cNvPicPr>
            <a:picLocks noChangeAspect="1"/>
          </p:cNvPicPr>
          <p:nvPr/>
        </p:nvPicPr>
        <p:blipFill>
          <a:blip r:embed="rId1"/>
          <a:srcRect l="-24" r="-24" t="0" b="0"/>
          <a:stretch/>
        </p:blipFill>
        <p:spPr>
          <a:xfrm>
            <a:off x="2349500" y="1833880"/>
            <a:ext cx="7493000" cy="2241550"/>
          </a:xfrm>
          <a:prstGeom prst="rect">
            <a:avLst/>
          </a:prstGeom>
        </p:spPr>
      </p:pic>
      <p:sp>
        <p:nvSpPr>
          <p:cNvPr id="6" name="Shape 3"/>
          <p:cNvSpPr/>
          <p:nvPr/>
        </p:nvSpPr>
        <p:spPr>
          <a:xfrm>
            <a:off x="815975" y="4388486"/>
            <a:ext cx="3414157" cy="1192530"/>
          </a:xfrm>
          <a:prstGeom prst="roundRect">
            <a:avLst>
              <a:gd name="adj" fmla="val 8253"/>
            </a:avLst>
          </a:prstGeom>
          <a:solidFill>
            <a:srgbClr val="FDFCF9"/>
          </a:solidFill>
          <a:ln w="6350">
            <a:solidFill>
              <a:srgbClr val="E2E0D8"/>
            </a:solidFill>
            <a:prstDash val="solid"/>
          </a:ln>
        </p:spPr>
      </p:sp>
      <p:sp>
        <p:nvSpPr>
          <p:cNvPr id="7" name="Text 4"/>
          <p:cNvSpPr/>
          <p:nvPr/>
        </p:nvSpPr>
        <p:spPr>
          <a:xfrm>
            <a:off x="1021080" y="459359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September 2012</a:t>
            </a:r>
            <a:endParaRPr lang="en-US" sz="1600" dirty="0"/>
          </a:p>
        </p:txBody>
      </p:sp>
      <p:sp>
        <p:nvSpPr>
          <p:cNvPr id="8" name="Text 5"/>
          <p:cNvSpPr/>
          <p:nvPr/>
        </p:nvSpPr>
        <p:spPr>
          <a:xfrm>
            <a:off x="1021080" y="4913630"/>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868"/>
                </a:solidFill>
                <a:latin typeface="IBM Plex Sans" pitchFamily="34" charset="0"/>
                <a:ea typeface="IBM Plex Sans" pitchFamily="34" charset="-122"/>
                <a:cs typeface="IBM Plex Sans" pitchFamily="34" charset="-120"/>
              </a:rPr>
              <a:t>Price per km jumps from about $3.6 to $4.2.</a:t>
            </a:r>
            <a:endParaRPr lang="en-US" sz="1300" dirty="0"/>
          </a:p>
        </p:txBody>
      </p:sp>
      <p:sp>
        <p:nvSpPr>
          <p:cNvPr id="9" name="Shape 6"/>
          <p:cNvSpPr/>
          <p:nvPr/>
        </p:nvSpPr>
        <p:spPr>
          <a:xfrm>
            <a:off x="4388882" y="4388486"/>
            <a:ext cx="3414236" cy="1192530"/>
          </a:xfrm>
          <a:prstGeom prst="roundRect">
            <a:avLst>
              <a:gd name="adj" fmla="val 8253"/>
            </a:avLst>
          </a:prstGeom>
          <a:solidFill>
            <a:srgbClr val="FDFCF9"/>
          </a:solidFill>
          <a:ln w="6350">
            <a:solidFill>
              <a:srgbClr val="E2E0D8"/>
            </a:solidFill>
            <a:prstDash val="solid"/>
          </a:ln>
        </p:spPr>
      </p:sp>
      <p:sp>
        <p:nvSpPr>
          <p:cNvPr id="10" name="Text 7"/>
          <p:cNvSpPr/>
          <p:nvPr/>
        </p:nvSpPr>
        <p:spPr>
          <a:xfrm>
            <a:off x="4593987" y="4593591"/>
            <a:ext cx="30941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Hour as a circle</a:t>
            </a:r>
            <a:endParaRPr lang="en-US" sz="1600" dirty="0"/>
          </a:p>
        </p:txBody>
      </p:sp>
      <p:sp>
        <p:nvSpPr>
          <p:cNvPr id="11" name="Text 8"/>
          <p:cNvSpPr/>
          <p:nvPr/>
        </p:nvSpPr>
        <p:spPr>
          <a:xfrm>
            <a:off x="4593987" y="4913630"/>
            <a:ext cx="309414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868"/>
                </a:solidFill>
                <a:latin typeface="IBM Plex Sans" pitchFamily="34" charset="0"/>
                <a:ea typeface="IBM Plex Sans" pitchFamily="34" charset="-122"/>
                <a:cs typeface="IBM Plex Sans" pitchFamily="34" charset="-120"/>
              </a:rPr>
              <a:t>Sine and cosine of the hour.</a:t>
            </a:r>
            <a:endParaRPr lang="en-US" sz="1300" dirty="0"/>
          </a:p>
        </p:txBody>
      </p:sp>
      <p:sp>
        <p:nvSpPr>
          <p:cNvPr id="12" name="Shape 9"/>
          <p:cNvSpPr/>
          <p:nvPr/>
        </p:nvSpPr>
        <p:spPr>
          <a:xfrm>
            <a:off x="7961868" y="4388486"/>
            <a:ext cx="3414157" cy="1192530"/>
          </a:xfrm>
          <a:prstGeom prst="roundRect">
            <a:avLst>
              <a:gd name="adj" fmla="val 8253"/>
            </a:avLst>
          </a:prstGeom>
          <a:solidFill>
            <a:srgbClr val="FDFCF9"/>
          </a:solidFill>
          <a:ln w="6350">
            <a:solidFill>
              <a:srgbClr val="E2E0D8"/>
            </a:solidFill>
            <a:prstDash val="solid"/>
          </a:ln>
        </p:spPr>
      </p:sp>
      <p:sp>
        <p:nvSpPr>
          <p:cNvPr id="13" name="Text 10"/>
          <p:cNvSpPr/>
          <p:nvPr/>
        </p:nvSpPr>
        <p:spPr>
          <a:xfrm>
            <a:off x="8166974" y="459359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JFK to Manhattan</a:t>
            </a:r>
            <a:endParaRPr lang="en-US" sz="1600" dirty="0"/>
          </a:p>
        </p:txBody>
      </p:sp>
      <p:sp>
        <p:nvSpPr>
          <p:cNvPr id="14" name="Text 11"/>
          <p:cNvSpPr/>
          <p:nvPr/>
        </p:nvSpPr>
        <p:spPr>
          <a:xfrm>
            <a:off x="8166974" y="4913630"/>
            <a:ext cx="309406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868"/>
                </a:solidFill>
                <a:latin typeface="IBM Plex Sans" pitchFamily="34" charset="0"/>
                <a:ea typeface="IBM Plex Sans" pitchFamily="34" charset="-122"/>
                <a:cs typeface="IBM Plex Sans" pitchFamily="34" charset="-120"/>
              </a:rPr>
              <a:t>Fixed fares of about $45-57.</a:t>
            </a:r>
            <a:endParaRPr lang="en-US" sz="1300" dirty="0"/>
          </a:p>
        </p:txBody>
      </p:sp>
      <p:sp>
        <p:nvSpPr>
          <p:cNvPr id="15" name="Text 12"/>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Next: how far does a straight line go?</a:t>
            </a:r>
            <a:endParaRPr lang="en-US" sz="1200" dirty="0"/>
          </a:p>
        </p:txBody>
      </p:sp>
      <p:sp>
        <p:nvSpPr>
          <p:cNvPr id="16" name="Text 13"/>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29394"/>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2B5C8A"/>
                </a:solidFill>
                <a:latin typeface="IBM Plex Sans" pitchFamily="34" charset="0"/>
                <a:ea typeface="IBM Plex Sans" pitchFamily="34" charset="-122"/>
                <a:cs typeface="IBM Plex Sans" pitchFamily="34" charset="-120"/>
              </a:rPr>
              <a:t>BASELINE</a:t>
            </a:r>
            <a:endParaRPr lang="en-US" sz="1159" dirty="0"/>
          </a:p>
        </p:txBody>
      </p:sp>
      <p:sp>
        <p:nvSpPr>
          <p:cNvPr id="3" name="Text 1"/>
          <p:cNvSpPr/>
          <p:nvPr>
            <p:ph type="title"/>
          </p:nvPr>
        </p:nvSpPr>
        <p:spPr>
          <a:xfrm>
            <a:off x="812800" y="1067594"/>
            <a:ext cx="10883392" cy="880348"/>
          </a:xfrm>
          <a:prstGeom prst="rect">
            <a:avLst/>
          </a:prstGeom>
          <a:noFill/>
          <a:ln/>
        </p:spPr>
        <p:txBody>
          <a:bodyPr wrap="square" lIns="0" tIns="0" rIns="0" bIns="0" rtlCol="0" anchor="t">
            <a:normAutofit/>
          </a:bodyPr>
          <a:lstStyle/>
          <a:p>
            <a:pPr algn="l" indent="0" marL="0">
              <a:lnSpc>
                <a:spcPts val="3377"/>
              </a:lnSpc>
              <a:buNone/>
            </a:pPr>
            <a:r>
              <a:rPr lang="en-US" sz="3070" b="1" i="0" dirty="0">
                <a:solidFill>
                  <a:srgbClr val="16213A"/>
                </a:solidFill>
                <a:latin typeface="IBM Plex Sans" pitchFamily="34" charset="0"/>
                <a:ea typeface="IBM Plex Sans" pitchFamily="34" charset="-122"/>
                <a:cs typeface="IBM Plex Sans" pitchFamily="34" charset="-120"/>
              </a:rPr>
              <a:t>A straight line reaches R² 0.75, and Ridge changes nothing</a:t>
            </a:r>
            <a:endParaRPr lang="en-US" sz="3070" dirty="0"/>
          </a:p>
        </p:txBody>
      </p:sp>
      <p:sp>
        <p:nvSpPr>
          <p:cNvPr id="4" name="Shape 2"/>
          <p:cNvSpPr/>
          <p:nvPr/>
        </p:nvSpPr>
        <p:spPr>
          <a:xfrm>
            <a:off x="815975" y="2128917"/>
            <a:ext cx="6128226" cy="2367756"/>
          </a:xfrm>
          <a:prstGeom prst="roundRect">
            <a:avLst>
              <a:gd name="adj" fmla="val 4157"/>
            </a:avLst>
          </a:prstGeom>
          <a:solidFill>
            <a:srgbClr val="FDFCF9"/>
          </a:solidFill>
          <a:ln w="6350">
            <a:solidFill>
              <a:srgbClr val="E2E0D8"/>
            </a:solidFill>
            <a:prstDash val="solid"/>
          </a:ln>
        </p:spPr>
      </p:sp>
      <p:sp>
        <p:nvSpPr>
          <p:cNvPr id="5" name="Text 3"/>
          <p:cNvSpPr/>
          <p:nvPr/>
        </p:nvSpPr>
        <p:spPr>
          <a:xfrm>
            <a:off x="1021080" y="2334022"/>
            <a:ext cx="58895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Baseline cost per fold</a:t>
            </a:r>
            <a:endParaRPr lang="en-US" sz="1600" dirty="0"/>
          </a:p>
        </p:txBody>
      </p:sp>
      <p:pic>
        <p:nvPicPr>
          <p:cNvPr id="6" name="Image 0" descr="Baseline MAE, RMSE and R squared on each of the five cross-validation folds">    </p:cNvPr>
          <p:cNvPicPr>
            <a:picLocks noChangeAspect="1"/>
          </p:cNvPicPr>
          <p:nvPr/>
        </p:nvPicPr>
        <p:blipFill>
          <a:blip r:embed="rId1"/>
          <a:srcRect l="-118" r="-118" t="0" b="0"/>
          <a:stretch/>
        </p:blipFill>
        <p:spPr>
          <a:xfrm>
            <a:off x="1021080" y="2679463"/>
            <a:ext cx="5943600" cy="1530350"/>
          </a:xfrm>
          <a:prstGeom prst="rect">
            <a:avLst/>
          </a:prstGeom>
        </p:spPr>
      </p:pic>
      <p:sp>
        <p:nvSpPr>
          <p:cNvPr id="7" name="Shape 4"/>
          <p:cNvSpPr/>
          <p:nvPr/>
        </p:nvSpPr>
        <p:spPr>
          <a:xfrm>
            <a:off x="7153752" y="2128917"/>
            <a:ext cx="4222274" cy="2367756"/>
          </a:xfrm>
          <a:prstGeom prst="roundRect">
            <a:avLst>
              <a:gd name="adj" fmla="val 4157"/>
            </a:avLst>
          </a:prstGeom>
          <a:solidFill>
            <a:srgbClr val="FDFCF9"/>
          </a:solidFill>
          <a:ln w="6350">
            <a:solidFill>
              <a:srgbClr val="E2E0D8"/>
            </a:solidFill>
            <a:prstDash val="solid"/>
          </a:ln>
        </p:spPr>
      </p:sp>
      <p:sp>
        <p:nvSpPr>
          <p:cNvPr id="8" name="Text 5"/>
          <p:cNvSpPr/>
          <p:nvPr/>
        </p:nvSpPr>
        <p:spPr>
          <a:xfrm>
            <a:off x="7358856" y="2334022"/>
            <a:ext cx="3926426" cy="256302"/>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16213A"/>
                </a:solidFill>
                <a:latin typeface="IBM Plex Sans" pitchFamily="34" charset="0"/>
                <a:ea typeface="IBM Plex Sans" pitchFamily="34" charset="-122"/>
                <a:cs typeface="IBM Plex Sans" pitchFamily="34" charset="-120"/>
              </a:rPr>
              <a:t>Ridge: RMSE for each alpha</a:t>
            </a:r>
            <a:endParaRPr lang="en-US" sz="1520" dirty="0"/>
          </a:p>
        </p:txBody>
      </p:sp>
      <p:sp>
        <p:nvSpPr>
          <p:cNvPr id="9" name="Text 6"/>
          <p:cNvSpPr/>
          <p:nvPr/>
        </p:nvSpPr>
        <p:spPr>
          <a:xfrm>
            <a:off x="8025289" y="2575798"/>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4.77</a:t>
            </a:r>
            <a:endParaRPr lang="en-US" sz="1200" dirty="0"/>
          </a:p>
        </p:txBody>
      </p:sp>
      <p:sp>
        <p:nvSpPr>
          <p:cNvPr id="10" name="Shape 7"/>
          <p:cNvSpPr/>
          <p:nvPr/>
        </p:nvSpPr>
        <p:spPr>
          <a:xfrm>
            <a:off x="8007509" y="2827258"/>
            <a:ext cx="355600" cy="1212850"/>
          </a:xfrm>
          <a:prstGeom prst="roundRect">
            <a:avLst>
              <a:gd name="adj" fmla="val 10714"/>
            </a:avLst>
          </a:prstGeom>
          <a:solidFill>
            <a:srgbClr val="2B5C8A"/>
          </a:solidFill>
          <a:ln/>
        </p:spPr>
      </p:sp>
      <p:sp>
        <p:nvSpPr>
          <p:cNvPr id="11" name="Text 8"/>
          <p:cNvSpPr/>
          <p:nvPr/>
        </p:nvSpPr>
        <p:spPr>
          <a:xfrm>
            <a:off x="7981712" y="4078208"/>
            <a:ext cx="4580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0.001</a:t>
            </a:r>
            <a:endParaRPr lang="en-US" sz="1200" dirty="0"/>
          </a:p>
        </p:txBody>
      </p:sp>
      <p:sp>
        <p:nvSpPr>
          <p:cNvPr id="12" name="Text 9"/>
          <p:cNvSpPr/>
          <p:nvPr/>
        </p:nvSpPr>
        <p:spPr>
          <a:xfrm>
            <a:off x="8482965" y="2575798"/>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4.77</a:t>
            </a:r>
            <a:endParaRPr lang="en-US" sz="1200" dirty="0"/>
          </a:p>
        </p:txBody>
      </p:sp>
      <p:sp>
        <p:nvSpPr>
          <p:cNvPr id="13" name="Shape 10"/>
          <p:cNvSpPr/>
          <p:nvPr/>
        </p:nvSpPr>
        <p:spPr>
          <a:xfrm>
            <a:off x="8465185" y="2827258"/>
            <a:ext cx="355600" cy="1212850"/>
          </a:xfrm>
          <a:prstGeom prst="roundRect">
            <a:avLst>
              <a:gd name="adj" fmla="val 10714"/>
            </a:avLst>
          </a:prstGeom>
          <a:solidFill>
            <a:srgbClr val="2B5C8A"/>
          </a:solidFill>
          <a:ln/>
        </p:spPr>
      </p:sp>
      <p:sp>
        <p:nvSpPr>
          <p:cNvPr id="14" name="Text 11"/>
          <p:cNvSpPr/>
          <p:nvPr/>
        </p:nvSpPr>
        <p:spPr>
          <a:xfrm>
            <a:off x="8453445" y="4078208"/>
            <a:ext cx="379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0.01</a:t>
            </a:r>
            <a:endParaRPr lang="en-US" sz="1200" dirty="0"/>
          </a:p>
        </p:txBody>
      </p:sp>
      <p:sp>
        <p:nvSpPr>
          <p:cNvPr id="15" name="Text 12"/>
          <p:cNvSpPr/>
          <p:nvPr/>
        </p:nvSpPr>
        <p:spPr>
          <a:xfrm>
            <a:off x="8914765" y="2575798"/>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4.77</a:t>
            </a:r>
            <a:endParaRPr lang="en-US" sz="1200" dirty="0"/>
          </a:p>
        </p:txBody>
      </p:sp>
      <p:sp>
        <p:nvSpPr>
          <p:cNvPr id="16" name="Shape 13"/>
          <p:cNvSpPr/>
          <p:nvPr/>
        </p:nvSpPr>
        <p:spPr>
          <a:xfrm>
            <a:off x="8896985" y="2827258"/>
            <a:ext cx="355600" cy="1212850"/>
          </a:xfrm>
          <a:prstGeom prst="roundRect">
            <a:avLst>
              <a:gd name="adj" fmla="val 10714"/>
            </a:avLst>
          </a:prstGeom>
          <a:solidFill>
            <a:srgbClr val="2B5C8A"/>
          </a:solidFill>
          <a:ln/>
        </p:spPr>
      </p:sp>
      <p:sp>
        <p:nvSpPr>
          <p:cNvPr id="17" name="Text 14"/>
          <p:cNvSpPr/>
          <p:nvPr/>
        </p:nvSpPr>
        <p:spPr>
          <a:xfrm>
            <a:off x="8937149" y="4078208"/>
            <a:ext cx="27519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0.1</a:t>
            </a:r>
            <a:endParaRPr lang="en-US" sz="1200" dirty="0"/>
          </a:p>
        </p:txBody>
      </p:sp>
      <p:sp>
        <p:nvSpPr>
          <p:cNvPr id="18" name="Text 15"/>
          <p:cNvSpPr/>
          <p:nvPr/>
        </p:nvSpPr>
        <p:spPr>
          <a:xfrm>
            <a:off x="9346565" y="2575798"/>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4.77</a:t>
            </a:r>
            <a:endParaRPr lang="en-US" sz="1200" dirty="0"/>
          </a:p>
        </p:txBody>
      </p:sp>
      <p:sp>
        <p:nvSpPr>
          <p:cNvPr id="19" name="Shape 16"/>
          <p:cNvSpPr/>
          <p:nvPr/>
        </p:nvSpPr>
        <p:spPr>
          <a:xfrm>
            <a:off x="9328785" y="2827258"/>
            <a:ext cx="355600" cy="1212850"/>
          </a:xfrm>
          <a:prstGeom prst="roundRect">
            <a:avLst>
              <a:gd name="adj" fmla="val 10714"/>
            </a:avLst>
          </a:prstGeom>
          <a:solidFill>
            <a:srgbClr val="2B5C8A"/>
          </a:solidFill>
          <a:ln/>
        </p:spPr>
      </p:sp>
      <p:sp>
        <p:nvSpPr>
          <p:cNvPr id="20" name="Text 17"/>
          <p:cNvSpPr/>
          <p:nvPr/>
        </p:nvSpPr>
        <p:spPr>
          <a:xfrm>
            <a:off x="9435465" y="4078208"/>
            <a:ext cx="14224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a:t>
            </a:r>
            <a:endParaRPr lang="en-US" sz="1200" dirty="0"/>
          </a:p>
        </p:txBody>
      </p:sp>
      <p:sp>
        <p:nvSpPr>
          <p:cNvPr id="21" name="Text 18"/>
          <p:cNvSpPr/>
          <p:nvPr/>
        </p:nvSpPr>
        <p:spPr>
          <a:xfrm>
            <a:off x="9778365" y="2575798"/>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4.77</a:t>
            </a:r>
            <a:endParaRPr lang="en-US" sz="1200" dirty="0"/>
          </a:p>
        </p:txBody>
      </p:sp>
      <p:sp>
        <p:nvSpPr>
          <p:cNvPr id="22" name="Shape 19"/>
          <p:cNvSpPr/>
          <p:nvPr/>
        </p:nvSpPr>
        <p:spPr>
          <a:xfrm>
            <a:off x="9760585" y="2827258"/>
            <a:ext cx="355600" cy="1212850"/>
          </a:xfrm>
          <a:prstGeom prst="roundRect">
            <a:avLst>
              <a:gd name="adj" fmla="val 10714"/>
            </a:avLst>
          </a:prstGeom>
          <a:solidFill>
            <a:srgbClr val="2B5C8A"/>
          </a:solidFill>
          <a:ln/>
        </p:spPr>
      </p:sp>
      <p:sp>
        <p:nvSpPr>
          <p:cNvPr id="23" name="Text 20"/>
          <p:cNvSpPr/>
          <p:nvPr/>
        </p:nvSpPr>
        <p:spPr>
          <a:xfrm>
            <a:off x="9821545" y="4078208"/>
            <a:ext cx="2336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10</a:t>
            </a:r>
            <a:endParaRPr lang="en-US" sz="1200" dirty="0"/>
          </a:p>
        </p:txBody>
      </p:sp>
      <p:sp>
        <p:nvSpPr>
          <p:cNvPr id="24" name="Text 21"/>
          <p:cNvSpPr/>
          <p:nvPr/>
        </p:nvSpPr>
        <p:spPr>
          <a:xfrm>
            <a:off x="10210165" y="2575798"/>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4.77</a:t>
            </a:r>
            <a:endParaRPr lang="en-US" sz="1200" dirty="0"/>
          </a:p>
        </p:txBody>
      </p:sp>
      <p:sp>
        <p:nvSpPr>
          <p:cNvPr id="25" name="Shape 22"/>
          <p:cNvSpPr/>
          <p:nvPr/>
        </p:nvSpPr>
        <p:spPr>
          <a:xfrm>
            <a:off x="10192385" y="2827258"/>
            <a:ext cx="355600" cy="1212850"/>
          </a:xfrm>
          <a:prstGeom prst="roundRect">
            <a:avLst>
              <a:gd name="adj" fmla="val 10714"/>
            </a:avLst>
          </a:prstGeom>
          <a:solidFill>
            <a:srgbClr val="2B5C8A"/>
          </a:solidFill>
          <a:ln/>
        </p:spPr>
      </p:sp>
      <p:sp>
        <p:nvSpPr>
          <p:cNvPr id="26" name="Text 23"/>
          <p:cNvSpPr/>
          <p:nvPr/>
        </p:nvSpPr>
        <p:spPr>
          <a:xfrm>
            <a:off x="10205593" y="4078208"/>
            <a:ext cx="32918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100</a:t>
            </a:r>
            <a:endParaRPr lang="en-US" sz="1200" dirty="0"/>
          </a:p>
        </p:txBody>
      </p:sp>
      <p:sp>
        <p:nvSpPr>
          <p:cNvPr id="27" name="Shape 24"/>
          <p:cNvSpPr/>
          <p:nvPr/>
        </p:nvSpPr>
        <p:spPr>
          <a:xfrm>
            <a:off x="815975" y="4706223"/>
            <a:ext cx="3380264" cy="1132602"/>
          </a:xfrm>
          <a:prstGeom prst="roundRect">
            <a:avLst>
              <a:gd name="adj" fmla="val 8690"/>
            </a:avLst>
          </a:prstGeom>
          <a:solidFill>
            <a:srgbClr val="FDFCF9"/>
          </a:solidFill>
          <a:ln w="6350">
            <a:solidFill>
              <a:srgbClr val="E2E0D8"/>
            </a:solidFill>
            <a:prstDash val="solid"/>
          </a:ln>
        </p:spPr>
      </p:sp>
      <p:sp>
        <p:nvSpPr>
          <p:cNvPr id="28" name="Text 25"/>
          <p:cNvSpPr/>
          <p:nvPr/>
        </p:nvSpPr>
        <p:spPr>
          <a:xfrm>
            <a:off x="1021080" y="4911328"/>
            <a:ext cx="3059155" cy="440452"/>
          </a:xfrm>
          <a:prstGeom prst="rect">
            <a:avLst/>
          </a:prstGeom>
          <a:noFill/>
          <a:ln/>
        </p:spPr>
        <p:txBody>
          <a:bodyPr wrap="square" lIns="0" tIns="0" rIns="0" bIns="0" rtlCol="0" anchor="t">
            <a:normAutofit/>
          </a:bodyPr>
          <a:lstStyle/>
          <a:p>
            <a:pPr algn="l" indent="0" marL="0">
              <a:lnSpc>
                <a:spcPts val="3267"/>
              </a:lnSpc>
              <a:buNone/>
            </a:pPr>
            <a:r>
              <a:rPr lang="en-US" sz="2970" b="1" dirty="0">
                <a:solidFill>
                  <a:srgbClr val="B8561A"/>
                </a:solidFill>
                <a:latin typeface="Source Serif 4" pitchFamily="18" charset="0"/>
                <a:ea typeface="Source Serif 4" pitchFamily="18" charset="-122"/>
                <a:cs typeface="Source Serif 4" pitchFamily="18" charset="-120"/>
              </a:rPr>
              <a:t>0.753</a:t>
            </a:r>
            <a:endParaRPr lang="en-US" sz="2970" dirty="0"/>
          </a:p>
        </p:txBody>
      </p:sp>
      <p:sp>
        <p:nvSpPr>
          <p:cNvPr id="29" name="Text 26"/>
          <p:cNvSpPr/>
          <p:nvPr/>
        </p:nvSpPr>
        <p:spPr>
          <a:xfrm>
            <a:off x="1021080" y="5402580"/>
            <a:ext cx="3059155" cy="25654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F5868"/>
                </a:solidFill>
                <a:latin typeface="IBM Plex Sans" pitchFamily="34" charset="0"/>
                <a:ea typeface="IBM Plex Sans" pitchFamily="34" charset="-122"/>
                <a:cs typeface="IBM Plex Sans" pitchFamily="34" charset="-120"/>
              </a:rPr>
              <a:t>R², cross-validated</a:t>
            </a:r>
            <a:endParaRPr lang="en-US" sz="1299" dirty="0"/>
          </a:p>
        </p:txBody>
      </p:sp>
      <p:sp>
        <p:nvSpPr>
          <p:cNvPr id="30" name="Shape 27"/>
          <p:cNvSpPr/>
          <p:nvPr/>
        </p:nvSpPr>
        <p:spPr>
          <a:xfrm>
            <a:off x="4405789" y="4706223"/>
            <a:ext cx="3380343" cy="1132602"/>
          </a:xfrm>
          <a:prstGeom prst="roundRect">
            <a:avLst>
              <a:gd name="adj" fmla="val 8690"/>
            </a:avLst>
          </a:prstGeom>
          <a:solidFill>
            <a:srgbClr val="FDFCF9"/>
          </a:solidFill>
          <a:ln w="6350">
            <a:solidFill>
              <a:srgbClr val="E2E0D8"/>
            </a:solidFill>
            <a:prstDash val="solid"/>
          </a:ln>
        </p:spPr>
      </p:sp>
      <p:sp>
        <p:nvSpPr>
          <p:cNvPr id="31" name="Text 28"/>
          <p:cNvSpPr/>
          <p:nvPr/>
        </p:nvSpPr>
        <p:spPr>
          <a:xfrm>
            <a:off x="4610894" y="4911328"/>
            <a:ext cx="3059237" cy="440452"/>
          </a:xfrm>
          <a:prstGeom prst="rect">
            <a:avLst/>
          </a:prstGeom>
          <a:noFill/>
          <a:ln/>
        </p:spPr>
        <p:txBody>
          <a:bodyPr wrap="square" lIns="0" tIns="0" rIns="0" bIns="0" rtlCol="0" anchor="t">
            <a:normAutofit/>
          </a:bodyPr>
          <a:lstStyle/>
          <a:p>
            <a:pPr algn="l" indent="0" marL="0">
              <a:lnSpc>
                <a:spcPts val="3267"/>
              </a:lnSpc>
              <a:buNone/>
            </a:pPr>
            <a:r>
              <a:rPr lang="en-US" sz="2970" b="1" dirty="0">
                <a:solidFill>
                  <a:srgbClr val="B8561A"/>
                </a:solidFill>
                <a:latin typeface="Source Serif 4" pitchFamily="18" charset="0"/>
                <a:ea typeface="Source Serif 4" pitchFamily="18" charset="-122"/>
                <a:cs typeface="Source Serif 4" pitchFamily="18" charset="-120"/>
              </a:rPr>
              <a:t>$2.15</a:t>
            </a:r>
            <a:endParaRPr lang="en-US" sz="2970" dirty="0"/>
          </a:p>
        </p:txBody>
      </p:sp>
      <p:sp>
        <p:nvSpPr>
          <p:cNvPr id="32" name="Text 29"/>
          <p:cNvSpPr/>
          <p:nvPr/>
        </p:nvSpPr>
        <p:spPr>
          <a:xfrm>
            <a:off x="4610894" y="5402580"/>
            <a:ext cx="3059237" cy="25654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F5868"/>
                </a:solidFill>
                <a:latin typeface="IBM Plex Sans" pitchFamily="34" charset="0"/>
                <a:ea typeface="IBM Plex Sans" pitchFamily="34" charset="-122"/>
                <a:cs typeface="IBM Plex Sans" pitchFamily="34" charset="-120"/>
              </a:rPr>
              <a:t>MAE, the typical miss</a:t>
            </a:r>
            <a:endParaRPr lang="en-US" sz="1299" dirty="0"/>
          </a:p>
        </p:txBody>
      </p:sp>
      <p:sp>
        <p:nvSpPr>
          <p:cNvPr id="33" name="Shape 30"/>
          <p:cNvSpPr/>
          <p:nvPr/>
        </p:nvSpPr>
        <p:spPr>
          <a:xfrm>
            <a:off x="7995682" y="4706223"/>
            <a:ext cx="3380343" cy="1132602"/>
          </a:xfrm>
          <a:prstGeom prst="roundRect">
            <a:avLst>
              <a:gd name="adj" fmla="val 8690"/>
            </a:avLst>
          </a:prstGeom>
          <a:solidFill>
            <a:srgbClr val="FDFCF9"/>
          </a:solidFill>
          <a:ln w="6350">
            <a:solidFill>
              <a:srgbClr val="E2E0D8"/>
            </a:solidFill>
            <a:prstDash val="solid"/>
          </a:ln>
        </p:spPr>
      </p:sp>
      <p:sp>
        <p:nvSpPr>
          <p:cNvPr id="34" name="Text 31"/>
          <p:cNvSpPr/>
          <p:nvPr/>
        </p:nvSpPr>
        <p:spPr>
          <a:xfrm>
            <a:off x="8200787" y="4911328"/>
            <a:ext cx="3059237" cy="440452"/>
          </a:xfrm>
          <a:prstGeom prst="rect">
            <a:avLst/>
          </a:prstGeom>
          <a:noFill/>
          <a:ln/>
        </p:spPr>
        <p:txBody>
          <a:bodyPr wrap="square" lIns="0" tIns="0" rIns="0" bIns="0" rtlCol="0" anchor="t">
            <a:normAutofit/>
          </a:bodyPr>
          <a:lstStyle/>
          <a:p>
            <a:pPr algn="l" indent="0" marL="0">
              <a:lnSpc>
                <a:spcPts val="3267"/>
              </a:lnSpc>
              <a:buNone/>
            </a:pPr>
            <a:r>
              <a:rPr lang="en-US" sz="2970" b="1" dirty="0">
                <a:solidFill>
                  <a:srgbClr val="B8561A"/>
                </a:solidFill>
                <a:latin typeface="Source Serif 4" pitchFamily="18" charset="0"/>
                <a:ea typeface="Source Serif 4" pitchFamily="18" charset="-122"/>
                <a:cs typeface="Source Serif 4" pitchFamily="18" charset="-120"/>
              </a:rPr>
              <a:t>$4.77</a:t>
            </a:r>
            <a:endParaRPr lang="en-US" sz="2970" dirty="0"/>
          </a:p>
        </p:txBody>
      </p:sp>
      <p:sp>
        <p:nvSpPr>
          <p:cNvPr id="35" name="Text 32"/>
          <p:cNvSpPr/>
          <p:nvPr/>
        </p:nvSpPr>
        <p:spPr>
          <a:xfrm>
            <a:off x="8200787" y="5402580"/>
            <a:ext cx="3059237" cy="256540"/>
          </a:xfrm>
          <a:prstGeom prst="rect">
            <a:avLst/>
          </a:prstGeom>
          <a:noFill/>
          <a:ln/>
        </p:spPr>
        <p:txBody>
          <a:bodyPr wrap="square" lIns="0" tIns="0" rIns="0" bIns="0" rtlCol="0" anchor="t">
            <a:normAutofit/>
          </a:bodyPr>
          <a:lstStyle/>
          <a:p>
            <a:pPr algn="l" indent="0" marL="0">
              <a:lnSpc>
                <a:spcPts val="1819"/>
              </a:lnSpc>
              <a:buNone/>
            </a:pPr>
            <a:r>
              <a:rPr lang="en-US" sz="1299" dirty="0">
                <a:solidFill>
                  <a:srgbClr val="4F5868"/>
                </a:solidFill>
                <a:latin typeface="IBM Plex Sans" pitchFamily="34" charset="0"/>
                <a:ea typeface="IBM Plex Sans" pitchFamily="34" charset="-122"/>
                <a:cs typeface="IBM Plex Sans" pitchFamily="34" charset="-120"/>
              </a:rPr>
              <a:t>RMSE, big misses count more</a:t>
            </a:r>
            <a:endParaRPr lang="en-US" sz="1299" dirty="0"/>
          </a:p>
        </p:txBody>
      </p:sp>
      <p:sp>
        <p:nvSpPr>
          <p:cNvPr id="36" name="Text 33"/>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Before comparing models: what do the cost functions measure?</a:t>
            </a:r>
            <a:endParaRPr lang="en-US" sz="1200" dirty="0"/>
          </a:p>
        </p:txBody>
      </p:sp>
      <p:sp>
        <p:nvSpPr>
          <p:cNvPr id="37" name="Text 3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2979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2B5C8A"/>
                </a:solidFill>
                <a:latin typeface="IBM Plex Sans" pitchFamily="34" charset="0"/>
                <a:ea typeface="IBM Plex Sans" pitchFamily="34" charset="-122"/>
                <a:cs typeface="IBM Plex Sans" pitchFamily="34" charset="-120"/>
              </a:rPr>
              <a:t>COST FUNCTIONS</a:t>
            </a:r>
            <a:endParaRPr lang="en-US" sz="1159" dirty="0"/>
          </a:p>
        </p:txBody>
      </p:sp>
      <p:sp>
        <p:nvSpPr>
          <p:cNvPr id="3" name="Text 1"/>
          <p:cNvSpPr/>
          <p:nvPr>
            <p:ph type="title"/>
          </p:nvPr>
        </p:nvSpPr>
        <p:spPr>
          <a:xfrm>
            <a:off x="812800" y="1067991"/>
            <a:ext cx="10883392" cy="453628"/>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6213A"/>
                </a:solidFill>
                <a:latin typeface="IBM Plex Sans" pitchFamily="34" charset="0"/>
                <a:ea typeface="IBM Plex Sans" pitchFamily="34" charset="-122"/>
                <a:cs typeface="IBM Plex Sans" pitchFamily="34" charset="-120"/>
              </a:rPr>
              <a:t>How each cost function counts a mistake</a:t>
            </a:r>
            <a:endParaRPr lang="en-US" sz="3060" dirty="0"/>
          </a:p>
        </p:txBody>
      </p:sp>
      <p:sp>
        <p:nvSpPr>
          <p:cNvPr id="4" name="Shape 2"/>
          <p:cNvSpPr/>
          <p:nvPr/>
        </p:nvSpPr>
        <p:spPr>
          <a:xfrm>
            <a:off x="815975" y="1702594"/>
            <a:ext cx="5704681" cy="3003074"/>
          </a:xfrm>
          <a:prstGeom prst="roundRect">
            <a:avLst>
              <a:gd name="adj" fmla="val 3277"/>
            </a:avLst>
          </a:prstGeom>
          <a:solidFill>
            <a:srgbClr val="FDFCF9"/>
          </a:solidFill>
          <a:ln w="6350">
            <a:solidFill>
              <a:srgbClr val="E2E0D8"/>
            </a:solidFill>
            <a:prstDash val="solid"/>
          </a:ln>
        </p:spPr>
      </p:sp>
      <p:sp>
        <p:nvSpPr>
          <p:cNvPr id="5" name="Text 3"/>
          <p:cNvSpPr/>
          <p:nvPr/>
        </p:nvSpPr>
        <p:spPr>
          <a:xfrm>
            <a:off x="1021080" y="1907701"/>
            <a:ext cx="5453306" cy="257334"/>
          </a:xfrm>
          <a:prstGeom prst="rect">
            <a:avLst/>
          </a:prstGeom>
          <a:noFill/>
          <a:ln/>
        </p:spPr>
        <p:txBody>
          <a:bodyPr wrap="square" lIns="0" tIns="0" rIns="0" bIns="0" rtlCol="0" anchor="t">
            <a:normAutofit/>
          </a:bodyPr>
          <a:lstStyle/>
          <a:p>
            <a:pPr algn="l" indent="0" marL="0">
              <a:lnSpc>
                <a:spcPts val="1872"/>
              </a:lnSpc>
              <a:buNone/>
            </a:pPr>
            <a:r>
              <a:rPr lang="en-US" sz="1560" b="1" dirty="0">
                <a:solidFill>
                  <a:srgbClr val="16213A"/>
                </a:solidFill>
                <a:latin typeface="IBM Plex Sans" pitchFamily="34" charset="0"/>
                <a:ea typeface="IBM Plex Sans" pitchFamily="34" charset="-122"/>
                <a:cs typeface="IBM Plex Sans" pitchFamily="34" charset="-120"/>
              </a:rPr>
              <a:t>A $1, $2, $5 and $10 miss counts as...</a:t>
            </a:r>
            <a:endParaRPr lang="en-US" sz="1560" dirty="0"/>
          </a:p>
        </p:txBody>
      </p:sp>
      <p:sp>
        <p:nvSpPr>
          <p:cNvPr id="6" name="Shape 4"/>
          <p:cNvSpPr/>
          <p:nvPr/>
        </p:nvSpPr>
        <p:spPr>
          <a:xfrm>
            <a:off x="1021080" y="2266476"/>
            <a:ext cx="152400" cy="152400"/>
          </a:xfrm>
          <a:prstGeom prst="roundRect">
            <a:avLst>
              <a:gd name="adj" fmla="val 16667"/>
            </a:avLst>
          </a:prstGeom>
          <a:solidFill>
            <a:srgbClr val="8C97AB"/>
          </a:solidFill>
          <a:ln/>
        </p:spPr>
      </p:sp>
      <p:sp>
        <p:nvSpPr>
          <p:cNvPr id="7" name="Text 5"/>
          <p:cNvSpPr/>
          <p:nvPr/>
        </p:nvSpPr>
        <p:spPr>
          <a:xfrm>
            <a:off x="1236980" y="2236074"/>
            <a:ext cx="15486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MAE: the miss itself</a:t>
            </a:r>
            <a:endParaRPr lang="en-US" sz="1200" dirty="0"/>
          </a:p>
        </p:txBody>
      </p:sp>
      <p:sp>
        <p:nvSpPr>
          <p:cNvPr id="8" name="Shape 6"/>
          <p:cNvSpPr/>
          <p:nvPr/>
        </p:nvSpPr>
        <p:spPr>
          <a:xfrm>
            <a:off x="2785586" y="2266476"/>
            <a:ext cx="152400" cy="152400"/>
          </a:xfrm>
          <a:prstGeom prst="roundRect">
            <a:avLst>
              <a:gd name="adj" fmla="val 16667"/>
            </a:avLst>
          </a:prstGeom>
          <a:solidFill>
            <a:srgbClr val="B8561A"/>
          </a:solidFill>
          <a:ln/>
        </p:spPr>
      </p:sp>
      <p:sp>
        <p:nvSpPr>
          <p:cNvPr id="9" name="Text 7"/>
          <p:cNvSpPr/>
          <p:nvPr/>
        </p:nvSpPr>
        <p:spPr>
          <a:xfrm>
            <a:off x="3001486" y="2236074"/>
            <a:ext cx="19815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RMSE: the miss squared</a:t>
            </a:r>
            <a:endParaRPr lang="en-US" sz="1200" dirty="0"/>
          </a:p>
        </p:txBody>
      </p:sp>
      <p:sp>
        <p:nvSpPr>
          <p:cNvPr id="10" name="Text 8"/>
          <p:cNvSpPr/>
          <p:nvPr/>
        </p:nvSpPr>
        <p:spPr>
          <a:xfrm>
            <a:off x="1402159" y="4053284"/>
            <a:ext cx="14224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a:t>
            </a:r>
            <a:endParaRPr lang="en-US" sz="1200" dirty="0"/>
          </a:p>
        </p:txBody>
      </p:sp>
      <p:sp>
        <p:nvSpPr>
          <p:cNvPr id="11" name="Shape 9"/>
          <p:cNvSpPr/>
          <p:nvPr/>
        </p:nvSpPr>
        <p:spPr>
          <a:xfrm>
            <a:off x="1276429" y="4304745"/>
            <a:ext cx="342900" cy="19050"/>
          </a:xfrm>
          <a:prstGeom prst="roundRect">
            <a:avLst>
              <a:gd name="adj" fmla="val 50000"/>
            </a:avLst>
          </a:prstGeom>
          <a:solidFill>
            <a:srgbClr val="8C97AB"/>
          </a:solidFill>
          <a:ln/>
        </p:spPr>
      </p:sp>
      <p:sp>
        <p:nvSpPr>
          <p:cNvPr id="12" name="Text 10"/>
          <p:cNvSpPr/>
          <p:nvPr/>
        </p:nvSpPr>
        <p:spPr>
          <a:xfrm>
            <a:off x="1795859" y="4053284"/>
            <a:ext cx="14224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a:t>
            </a:r>
            <a:endParaRPr lang="en-US" sz="1200" dirty="0"/>
          </a:p>
        </p:txBody>
      </p:sp>
      <p:sp>
        <p:nvSpPr>
          <p:cNvPr id="13" name="Shape 11"/>
          <p:cNvSpPr/>
          <p:nvPr/>
        </p:nvSpPr>
        <p:spPr>
          <a:xfrm>
            <a:off x="1670129" y="4304745"/>
            <a:ext cx="342900" cy="19050"/>
          </a:xfrm>
          <a:prstGeom prst="roundRect">
            <a:avLst>
              <a:gd name="adj" fmla="val 50000"/>
            </a:avLst>
          </a:prstGeom>
          <a:solidFill>
            <a:srgbClr val="B8561A"/>
          </a:solidFill>
          <a:ln/>
        </p:spPr>
      </p:sp>
      <p:sp>
        <p:nvSpPr>
          <p:cNvPr id="14" name="Text 12"/>
          <p:cNvSpPr/>
          <p:nvPr/>
        </p:nvSpPr>
        <p:spPr>
          <a:xfrm>
            <a:off x="1451364" y="4387295"/>
            <a:ext cx="386810" cy="138668"/>
          </a:xfrm>
          <a:prstGeom prst="rect">
            <a:avLst/>
          </a:prstGeom>
          <a:noFill/>
          <a:ln/>
        </p:spPr>
        <p:txBody>
          <a:bodyPr wrap="square" lIns="0" tIns="0" rIns="0" bIns="0" rtlCol="0" anchor="t">
            <a:normAutofit/>
          </a:bodyPr>
          <a:lstStyle/>
          <a:p>
            <a:pPr algn="ctr" indent="0" marL="0">
              <a:lnSpc>
                <a:spcPts val="1008"/>
              </a:lnSpc>
              <a:buNone/>
            </a:pPr>
            <a:r>
              <a:rPr lang="en-US" sz="720" dirty="0">
                <a:solidFill>
                  <a:srgbClr val="4F5868"/>
                </a:solidFill>
                <a:latin typeface="IBM Plex Sans" pitchFamily="34" charset="0"/>
                <a:ea typeface="IBM Plex Sans" pitchFamily="34" charset="-122"/>
                <a:cs typeface="IBM Plex Sans" pitchFamily="34" charset="-120"/>
              </a:rPr>
              <a:t>$1 miss</a:t>
            </a:r>
            <a:endParaRPr lang="en-US" sz="720" dirty="0"/>
          </a:p>
        </p:txBody>
      </p:sp>
      <p:sp>
        <p:nvSpPr>
          <p:cNvPr id="15" name="Text 13"/>
          <p:cNvSpPr/>
          <p:nvPr/>
        </p:nvSpPr>
        <p:spPr>
          <a:xfrm>
            <a:off x="2751217" y="4040584"/>
            <a:ext cx="14224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2</a:t>
            </a:r>
            <a:endParaRPr lang="en-US" sz="1200" dirty="0"/>
          </a:p>
        </p:txBody>
      </p:sp>
      <p:sp>
        <p:nvSpPr>
          <p:cNvPr id="16" name="Shape 14"/>
          <p:cNvSpPr/>
          <p:nvPr/>
        </p:nvSpPr>
        <p:spPr>
          <a:xfrm>
            <a:off x="2625487" y="4292045"/>
            <a:ext cx="342900" cy="31750"/>
          </a:xfrm>
          <a:prstGeom prst="roundRect">
            <a:avLst>
              <a:gd name="adj" fmla="val 50000"/>
            </a:avLst>
          </a:prstGeom>
          <a:solidFill>
            <a:srgbClr val="8C97AB"/>
          </a:solidFill>
          <a:ln/>
        </p:spPr>
      </p:sp>
      <p:sp>
        <p:nvSpPr>
          <p:cNvPr id="17" name="Text 15"/>
          <p:cNvSpPr/>
          <p:nvPr/>
        </p:nvSpPr>
        <p:spPr>
          <a:xfrm>
            <a:off x="3144917" y="4008834"/>
            <a:ext cx="14224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4</a:t>
            </a:r>
            <a:endParaRPr lang="en-US" sz="1200" dirty="0"/>
          </a:p>
        </p:txBody>
      </p:sp>
      <p:sp>
        <p:nvSpPr>
          <p:cNvPr id="18" name="Shape 16"/>
          <p:cNvSpPr/>
          <p:nvPr/>
        </p:nvSpPr>
        <p:spPr>
          <a:xfrm>
            <a:off x="3019187" y="4260295"/>
            <a:ext cx="342900" cy="63500"/>
          </a:xfrm>
          <a:prstGeom prst="roundRect">
            <a:avLst>
              <a:gd name="adj" fmla="val 50000"/>
            </a:avLst>
          </a:prstGeom>
          <a:solidFill>
            <a:srgbClr val="B8561A"/>
          </a:solidFill>
          <a:ln/>
        </p:spPr>
      </p:sp>
      <p:sp>
        <p:nvSpPr>
          <p:cNvPr id="19" name="Text 17"/>
          <p:cNvSpPr/>
          <p:nvPr/>
        </p:nvSpPr>
        <p:spPr>
          <a:xfrm>
            <a:off x="2800342" y="4387295"/>
            <a:ext cx="386810" cy="138668"/>
          </a:xfrm>
          <a:prstGeom prst="rect">
            <a:avLst/>
          </a:prstGeom>
          <a:noFill/>
          <a:ln/>
        </p:spPr>
        <p:txBody>
          <a:bodyPr wrap="square" lIns="0" tIns="0" rIns="0" bIns="0" rtlCol="0" anchor="t">
            <a:normAutofit/>
          </a:bodyPr>
          <a:lstStyle/>
          <a:p>
            <a:pPr algn="ctr" indent="0" marL="0">
              <a:lnSpc>
                <a:spcPts val="1008"/>
              </a:lnSpc>
              <a:buNone/>
            </a:pPr>
            <a:r>
              <a:rPr lang="en-US" sz="720" dirty="0">
                <a:solidFill>
                  <a:srgbClr val="4F5868"/>
                </a:solidFill>
                <a:latin typeface="IBM Plex Sans" pitchFamily="34" charset="0"/>
                <a:ea typeface="IBM Plex Sans" pitchFamily="34" charset="-122"/>
                <a:cs typeface="IBM Plex Sans" pitchFamily="34" charset="-120"/>
              </a:rPr>
              <a:t>$2 miss</a:t>
            </a:r>
            <a:endParaRPr lang="en-US" sz="720" dirty="0"/>
          </a:p>
        </p:txBody>
      </p:sp>
      <p:sp>
        <p:nvSpPr>
          <p:cNvPr id="20" name="Text 18"/>
          <p:cNvSpPr/>
          <p:nvPr/>
        </p:nvSpPr>
        <p:spPr>
          <a:xfrm>
            <a:off x="4100195" y="3996134"/>
            <a:ext cx="14224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5</a:t>
            </a:r>
            <a:endParaRPr lang="en-US" sz="1200" dirty="0"/>
          </a:p>
        </p:txBody>
      </p:sp>
      <p:sp>
        <p:nvSpPr>
          <p:cNvPr id="21" name="Shape 19"/>
          <p:cNvSpPr/>
          <p:nvPr/>
        </p:nvSpPr>
        <p:spPr>
          <a:xfrm>
            <a:off x="3974465" y="4247595"/>
            <a:ext cx="342900" cy="76200"/>
          </a:xfrm>
          <a:prstGeom prst="roundRect">
            <a:avLst>
              <a:gd name="adj" fmla="val 50000"/>
            </a:avLst>
          </a:prstGeom>
          <a:solidFill>
            <a:srgbClr val="8C97AB"/>
          </a:solidFill>
          <a:ln/>
        </p:spPr>
      </p:sp>
      <p:sp>
        <p:nvSpPr>
          <p:cNvPr id="22" name="Text 20"/>
          <p:cNvSpPr/>
          <p:nvPr/>
        </p:nvSpPr>
        <p:spPr>
          <a:xfrm>
            <a:off x="4448175" y="3691334"/>
            <a:ext cx="23368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25</a:t>
            </a:r>
            <a:endParaRPr lang="en-US" sz="1200" dirty="0"/>
          </a:p>
        </p:txBody>
      </p:sp>
      <p:sp>
        <p:nvSpPr>
          <p:cNvPr id="23" name="Shape 21"/>
          <p:cNvSpPr/>
          <p:nvPr/>
        </p:nvSpPr>
        <p:spPr>
          <a:xfrm>
            <a:off x="4368165" y="3942795"/>
            <a:ext cx="342900" cy="381000"/>
          </a:xfrm>
          <a:prstGeom prst="roundRect">
            <a:avLst>
              <a:gd name="adj" fmla="val 11111"/>
            </a:avLst>
          </a:prstGeom>
          <a:solidFill>
            <a:srgbClr val="B8561A"/>
          </a:solidFill>
          <a:ln/>
        </p:spPr>
      </p:sp>
      <p:sp>
        <p:nvSpPr>
          <p:cNvPr id="24" name="Text 22"/>
          <p:cNvSpPr/>
          <p:nvPr/>
        </p:nvSpPr>
        <p:spPr>
          <a:xfrm>
            <a:off x="4149400" y="4387295"/>
            <a:ext cx="386810" cy="138668"/>
          </a:xfrm>
          <a:prstGeom prst="rect">
            <a:avLst/>
          </a:prstGeom>
          <a:noFill/>
          <a:ln/>
        </p:spPr>
        <p:txBody>
          <a:bodyPr wrap="square" lIns="0" tIns="0" rIns="0" bIns="0" rtlCol="0" anchor="t">
            <a:normAutofit/>
          </a:bodyPr>
          <a:lstStyle/>
          <a:p>
            <a:pPr algn="ctr" indent="0" marL="0">
              <a:lnSpc>
                <a:spcPts val="1008"/>
              </a:lnSpc>
              <a:buNone/>
            </a:pPr>
            <a:r>
              <a:rPr lang="en-US" sz="720" dirty="0">
                <a:solidFill>
                  <a:srgbClr val="4F5868"/>
                </a:solidFill>
                <a:latin typeface="IBM Plex Sans" pitchFamily="34" charset="0"/>
                <a:ea typeface="IBM Plex Sans" pitchFamily="34" charset="-122"/>
                <a:cs typeface="IBM Plex Sans" pitchFamily="34" charset="-120"/>
              </a:rPr>
              <a:t>$5 miss</a:t>
            </a:r>
            <a:endParaRPr lang="en-US" sz="720" dirty="0"/>
          </a:p>
        </p:txBody>
      </p:sp>
      <p:sp>
        <p:nvSpPr>
          <p:cNvPr id="25" name="Text 23"/>
          <p:cNvSpPr/>
          <p:nvPr/>
        </p:nvSpPr>
        <p:spPr>
          <a:xfrm>
            <a:off x="5403533" y="3919934"/>
            <a:ext cx="23368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10</a:t>
            </a:r>
            <a:endParaRPr lang="en-US" sz="1200" dirty="0"/>
          </a:p>
        </p:txBody>
      </p:sp>
      <p:sp>
        <p:nvSpPr>
          <p:cNvPr id="26" name="Shape 24"/>
          <p:cNvSpPr/>
          <p:nvPr/>
        </p:nvSpPr>
        <p:spPr>
          <a:xfrm>
            <a:off x="5323523" y="4171395"/>
            <a:ext cx="342900" cy="152400"/>
          </a:xfrm>
          <a:prstGeom prst="roundRect">
            <a:avLst>
              <a:gd name="adj" fmla="val 25000"/>
            </a:avLst>
          </a:prstGeom>
          <a:solidFill>
            <a:srgbClr val="8C97AB"/>
          </a:solidFill>
          <a:ln/>
        </p:spPr>
      </p:sp>
      <p:sp>
        <p:nvSpPr>
          <p:cNvPr id="27" name="Text 25"/>
          <p:cNvSpPr/>
          <p:nvPr/>
        </p:nvSpPr>
        <p:spPr>
          <a:xfrm>
            <a:off x="5751513" y="2548334"/>
            <a:ext cx="325120"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100</a:t>
            </a:r>
            <a:endParaRPr lang="en-US" sz="1200" dirty="0"/>
          </a:p>
        </p:txBody>
      </p:sp>
      <p:sp>
        <p:nvSpPr>
          <p:cNvPr id="28" name="Shape 26"/>
          <p:cNvSpPr/>
          <p:nvPr/>
        </p:nvSpPr>
        <p:spPr>
          <a:xfrm>
            <a:off x="5717223" y="2799795"/>
            <a:ext cx="342900" cy="1524000"/>
          </a:xfrm>
          <a:prstGeom prst="roundRect">
            <a:avLst>
              <a:gd name="adj" fmla="val 11111"/>
            </a:avLst>
          </a:prstGeom>
          <a:solidFill>
            <a:srgbClr val="B8561A"/>
          </a:solidFill>
          <a:ln/>
        </p:spPr>
      </p:sp>
      <p:sp>
        <p:nvSpPr>
          <p:cNvPr id="29" name="Text 27"/>
          <p:cNvSpPr/>
          <p:nvPr/>
        </p:nvSpPr>
        <p:spPr>
          <a:xfrm>
            <a:off x="5465509" y="4387295"/>
            <a:ext cx="452628" cy="138668"/>
          </a:xfrm>
          <a:prstGeom prst="rect">
            <a:avLst/>
          </a:prstGeom>
          <a:noFill/>
          <a:ln/>
        </p:spPr>
        <p:txBody>
          <a:bodyPr wrap="square" lIns="0" tIns="0" rIns="0" bIns="0" rtlCol="0" anchor="t">
            <a:normAutofit/>
          </a:bodyPr>
          <a:lstStyle/>
          <a:p>
            <a:pPr algn="ctr" indent="0" marL="0">
              <a:lnSpc>
                <a:spcPts val="1008"/>
              </a:lnSpc>
              <a:buNone/>
            </a:pPr>
            <a:r>
              <a:rPr lang="en-US" sz="720" dirty="0">
                <a:solidFill>
                  <a:srgbClr val="4F5868"/>
                </a:solidFill>
                <a:latin typeface="IBM Plex Sans" pitchFamily="34" charset="0"/>
                <a:ea typeface="IBM Plex Sans" pitchFamily="34" charset="-122"/>
                <a:cs typeface="IBM Plex Sans" pitchFamily="34" charset="-120"/>
              </a:rPr>
              <a:t>$10 miss</a:t>
            </a:r>
            <a:endParaRPr lang="en-US" sz="720" dirty="0"/>
          </a:p>
        </p:txBody>
      </p:sp>
      <p:sp>
        <p:nvSpPr>
          <p:cNvPr id="30" name="Shape 28"/>
          <p:cNvSpPr/>
          <p:nvPr/>
        </p:nvSpPr>
        <p:spPr>
          <a:xfrm>
            <a:off x="6730206" y="1702594"/>
            <a:ext cx="4645819" cy="3003074"/>
          </a:xfrm>
          <a:prstGeom prst="roundRect">
            <a:avLst>
              <a:gd name="adj" fmla="val 3277"/>
            </a:avLst>
          </a:prstGeom>
          <a:solidFill>
            <a:srgbClr val="FDFCF9"/>
          </a:solidFill>
          <a:ln w="6350">
            <a:solidFill>
              <a:srgbClr val="E2E0D8"/>
            </a:solidFill>
            <a:prstDash val="solid"/>
          </a:ln>
        </p:spPr>
      </p:sp>
      <p:sp>
        <p:nvSpPr>
          <p:cNvPr id="31" name="Text 29"/>
          <p:cNvSpPr/>
          <p:nvPr/>
        </p:nvSpPr>
        <p:spPr>
          <a:xfrm>
            <a:off x="6935312" y="1907701"/>
            <a:ext cx="43626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R²: share of the fare explained</a:t>
            </a:r>
            <a:endParaRPr lang="en-US" sz="1600" dirty="0"/>
          </a:p>
        </p:txBody>
      </p:sp>
      <p:sp>
        <p:nvSpPr>
          <p:cNvPr id="32" name="Text 30"/>
          <p:cNvSpPr/>
          <p:nvPr/>
        </p:nvSpPr>
        <p:spPr>
          <a:xfrm>
            <a:off x="6935312" y="2303940"/>
            <a:ext cx="43626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Linear baseline</a:t>
            </a:r>
            <a:endParaRPr lang="en-US" sz="1400" dirty="0"/>
          </a:p>
        </p:txBody>
      </p:sp>
      <p:sp>
        <p:nvSpPr>
          <p:cNvPr id="33" name="Shape 31"/>
          <p:cNvSpPr/>
          <p:nvPr/>
        </p:nvSpPr>
        <p:spPr>
          <a:xfrm>
            <a:off x="6935312" y="2603658"/>
            <a:ext cx="4064000" cy="355600"/>
          </a:xfrm>
          <a:prstGeom prst="roundRect">
            <a:avLst>
              <a:gd name="adj" fmla="val 17857"/>
            </a:avLst>
          </a:prstGeom>
          <a:solidFill>
            <a:srgbClr val="E2E0D8"/>
          </a:solidFill>
          <a:ln/>
        </p:spPr>
      </p:sp>
      <p:sp>
        <p:nvSpPr>
          <p:cNvPr id="34" name="Shape 32"/>
          <p:cNvSpPr/>
          <p:nvPr/>
        </p:nvSpPr>
        <p:spPr>
          <a:xfrm>
            <a:off x="6935312" y="2603658"/>
            <a:ext cx="3054350" cy="355600"/>
          </a:xfrm>
          <a:custGeom>
            <a:avLst/>
            <a:gdLst/>
            <a:ahLst/>
            <a:cxnLst/>
            <a:rect l="l" t="t" r="r" b="b"/>
            <a:pathLst>
              <a:path w="3054350" h="355600">
                <a:moveTo>
                  <a:pt x="0" y="63500"/>
                </a:moveTo>
                <a:arcTo hR="63500" wR="63500" stAng="10800000" swAng="5400000"/>
                <a:lnTo>
                  <a:pt x="3054350" y="0"/>
                </a:lnTo>
                <a:lnTo>
                  <a:pt x="3054350" y="355600"/>
                </a:lnTo>
                <a:lnTo>
                  <a:pt x="63500" y="355600"/>
                </a:lnTo>
                <a:arcTo hR="63500" wR="63500" stAng="5400000" swAng="5400000"/>
                <a:close/>
              </a:path>
            </a:pathLst>
          </a:custGeom>
          <a:solidFill>
            <a:srgbClr val="8C97AB"/>
          </a:solidFill>
          <a:ln/>
        </p:spPr>
      </p:sp>
      <p:sp>
        <p:nvSpPr>
          <p:cNvPr id="35" name="Text 33"/>
          <p:cNvSpPr/>
          <p:nvPr/>
        </p:nvSpPr>
        <p:spPr>
          <a:xfrm>
            <a:off x="6935312" y="3010058"/>
            <a:ext cx="43626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868"/>
                </a:solidFill>
                <a:latin typeface="IBM Plex Sans" pitchFamily="34" charset="0"/>
                <a:ea typeface="IBM Plex Sans" pitchFamily="34" charset="-122"/>
                <a:cs typeface="IBM Plex Sans" pitchFamily="34" charset="-120"/>
              </a:rPr>
              <a:t>75.2%</a:t>
            </a:r>
            <a:r>
              <a:rPr lang="en-US" sz="1200" dirty="0">
                <a:solidFill>
                  <a:srgbClr val="4F5868"/>
                </a:solidFill>
                <a:latin typeface="IBM Plex Sans" pitchFamily="34" charset="0"/>
                <a:ea typeface="IBM Plex Sans" pitchFamily="34" charset="-122"/>
                <a:cs typeface="IBM Plex Sans" pitchFamily="34" charset="-120"/>
              </a:rPr>
              <a:t> of the variation explained</a:t>
            </a:r>
            <a:endParaRPr lang="en-US" sz="1200" dirty="0"/>
          </a:p>
        </p:txBody>
      </p:sp>
      <p:sp>
        <p:nvSpPr>
          <p:cNvPr id="36" name="Text 34"/>
          <p:cNvSpPr/>
          <p:nvPr/>
        </p:nvSpPr>
        <p:spPr>
          <a:xfrm>
            <a:off x="6935312" y="3375819"/>
            <a:ext cx="43626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Tuned Gradient Boosting</a:t>
            </a:r>
            <a:endParaRPr lang="en-US" sz="1400" dirty="0"/>
          </a:p>
        </p:txBody>
      </p:sp>
      <p:sp>
        <p:nvSpPr>
          <p:cNvPr id="37" name="Shape 35"/>
          <p:cNvSpPr/>
          <p:nvPr/>
        </p:nvSpPr>
        <p:spPr>
          <a:xfrm>
            <a:off x="6935312" y="3675540"/>
            <a:ext cx="4064000" cy="355600"/>
          </a:xfrm>
          <a:prstGeom prst="roundRect">
            <a:avLst>
              <a:gd name="adj" fmla="val 17857"/>
            </a:avLst>
          </a:prstGeom>
          <a:solidFill>
            <a:srgbClr val="E2E0D8"/>
          </a:solidFill>
          <a:ln/>
        </p:spPr>
      </p:sp>
      <p:sp>
        <p:nvSpPr>
          <p:cNvPr id="38" name="Shape 36"/>
          <p:cNvSpPr/>
          <p:nvPr/>
        </p:nvSpPr>
        <p:spPr>
          <a:xfrm>
            <a:off x="6935312" y="3675540"/>
            <a:ext cx="3397250" cy="355600"/>
          </a:xfrm>
          <a:custGeom>
            <a:avLst/>
            <a:gdLst/>
            <a:ahLst/>
            <a:cxnLst/>
            <a:rect l="l" t="t" r="r" b="b"/>
            <a:pathLst>
              <a:path w="3397250" h="355600">
                <a:moveTo>
                  <a:pt x="0" y="63500"/>
                </a:moveTo>
                <a:arcTo hR="63500" wR="63500" stAng="10800000" swAng="5400000"/>
                <a:lnTo>
                  <a:pt x="3397250" y="0"/>
                </a:lnTo>
                <a:lnTo>
                  <a:pt x="3397250" y="355600"/>
                </a:lnTo>
                <a:lnTo>
                  <a:pt x="63500" y="355600"/>
                </a:lnTo>
                <a:arcTo hR="63500" wR="63500" stAng="5400000" swAng="5400000"/>
                <a:close/>
              </a:path>
            </a:pathLst>
          </a:custGeom>
          <a:solidFill>
            <a:srgbClr val="B8561A"/>
          </a:solidFill>
          <a:ln/>
        </p:spPr>
      </p:sp>
      <p:sp>
        <p:nvSpPr>
          <p:cNvPr id="39" name="Text 37"/>
          <p:cNvSpPr/>
          <p:nvPr/>
        </p:nvSpPr>
        <p:spPr>
          <a:xfrm>
            <a:off x="6935312" y="4081940"/>
            <a:ext cx="43626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5868"/>
                </a:solidFill>
                <a:latin typeface="IBM Plex Sans" pitchFamily="34" charset="0"/>
                <a:ea typeface="IBM Plex Sans" pitchFamily="34" charset="-122"/>
                <a:cs typeface="IBM Plex Sans" pitchFamily="34" charset="-120"/>
              </a:rPr>
              <a:t>83.7%</a:t>
            </a:r>
            <a:r>
              <a:rPr lang="en-US" sz="1200" dirty="0">
                <a:solidFill>
                  <a:srgbClr val="4F5868"/>
                </a:solidFill>
                <a:latin typeface="IBM Plex Sans" pitchFamily="34" charset="0"/>
                <a:ea typeface="IBM Plex Sans" pitchFamily="34" charset="-122"/>
                <a:cs typeface="IBM Plex Sans" pitchFamily="34" charset="-120"/>
              </a:rPr>
              <a:t> of the variation explained</a:t>
            </a:r>
            <a:endParaRPr lang="en-US" sz="1200" dirty="0"/>
          </a:p>
        </p:txBody>
      </p:sp>
      <p:sp>
        <p:nvSpPr>
          <p:cNvPr id="40" name="Shape 38"/>
          <p:cNvSpPr/>
          <p:nvPr/>
        </p:nvSpPr>
        <p:spPr>
          <a:xfrm>
            <a:off x="815975" y="4915219"/>
            <a:ext cx="3414157" cy="923607"/>
          </a:xfrm>
          <a:prstGeom prst="roundRect">
            <a:avLst>
              <a:gd name="adj" fmla="val 10657"/>
            </a:avLst>
          </a:prstGeom>
          <a:solidFill>
            <a:srgbClr val="FDFCF9"/>
          </a:solidFill>
          <a:ln w="6350">
            <a:solidFill>
              <a:srgbClr val="E2E0D8"/>
            </a:solidFill>
            <a:prstDash val="solid"/>
          </a:ln>
        </p:spPr>
      </p:sp>
      <p:sp>
        <p:nvSpPr>
          <p:cNvPr id="41" name="Text 39"/>
          <p:cNvSpPr/>
          <p:nvPr/>
        </p:nvSpPr>
        <p:spPr>
          <a:xfrm>
            <a:off x="1021080" y="5120323"/>
            <a:ext cx="3094065" cy="249873"/>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6213A"/>
                </a:solidFill>
                <a:latin typeface="IBM Plex Sans" pitchFamily="34" charset="0"/>
                <a:ea typeface="IBM Plex Sans" pitchFamily="34" charset="-122"/>
                <a:cs typeface="IBM Plex Sans" pitchFamily="34" charset="-120"/>
              </a:rPr>
              <a:t>MAE</a:t>
            </a:r>
            <a:endParaRPr lang="en-US" sz="1475" dirty="0"/>
          </a:p>
        </p:txBody>
      </p:sp>
      <p:sp>
        <p:nvSpPr>
          <p:cNvPr id="42" name="Text 40"/>
          <p:cNvSpPr/>
          <p:nvPr/>
        </p:nvSpPr>
        <p:spPr>
          <a:xfrm>
            <a:off x="1021080" y="5420996"/>
            <a:ext cx="3094065" cy="238125"/>
          </a:xfrm>
          <a:prstGeom prst="rect">
            <a:avLst/>
          </a:prstGeom>
          <a:noFill/>
          <a:ln/>
        </p:spPr>
        <p:txBody>
          <a:bodyPr wrap="square" lIns="0" tIns="0" rIns="0" bIns="0" rtlCol="0" anchor="t">
            <a:normAutofit/>
          </a:bodyPr>
          <a:lstStyle/>
          <a:p>
            <a:pPr algn="l" indent="0" marL="0">
              <a:lnSpc>
                <a:spcPts val="1723"/>
              </a:lnSpc>
              <a:buNone/>
            </a:pPr>
            <a:r>
              <a:rPr lang="en-US" sz="1231" dirty="0">
                <a:solidFill>
                  <a:srgbClr val="4F5868"/>
                </a:solidFill>
                <a:latin typeface="IBM Plex Sans" pitchFamily="34" charset="0"/>
                <a:ea typeface="IBM Plex Sans" pitchFamily="34" charset="-122"/>
                <a:cs typeface="IBM Plex Sans" pitchFamily="34" charset="-120"/>
              </a:rPr>
              <a:t>Average miss in dollars.</a:t>
            </a:r>
            <a:endParaRPr lang="en-US" sz="1231" dirty="0"/>
          </a:p>
        </p:txBody>
      </p:sp>
      <p:sp>
        <p:nvSpPr>
          <p:cNvPr id="43" name="Shape 41"/>
          <p:cNvSpPr/>
          <p:nvPr/>
        </p:nvSpPr>
        <p:spPr>
          <a:xfrm>
            <a:off x="4388882" y="4915219"/>
            <a:ext cx="3414236" cy="923607"/>
          </a:xfrm>
          <a:prstGeom prst="roundRect">
            <a:avLst>
              <a:gd name="adj" fmla="val 10657"/>
            </a:avLst>
          </a:prstGeom>
          <a:solidFill>
            <a:srgbClr val="FDFCF9"/>
          </a:solidFill>
          <a:ln w="6350">
            <a:solidFill>
              <a:srgbClr val="E2E0D8"/>
            </a:solidFill>
            <a:prstDash val="solid"/>
          </a:ln>
        </p:spPr>
      </p:sp>
      <p:sp>
        <p:nvSpPr>
          <p:cNvPr id="44" name="Text 42"/>
          <p:cNvSpPr/>
          <p:nvPr/>
        </p:nvSpPr>
        <p:spPr>
          <a:xfrm>
            <a:off x="4593987" y="5120323"/>
            <a:ext cx="3094147" cy="249873"/>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6213A"/>
                </a:solidFill>
                <a:latin typeface="IBM Plex Sans" pitchFamily="34" charset="0"/>
                <a:ea typeface="IBM Plex Sans" pitchFamily="34" charset="-122"/>
                <a:cs typeface="IBM Plex Sans" pitchFamily="34" charset="-120"/>
              </a:rPr>
              <a:t>RMSE</a:t>
            </a:r>
            <a:endParaRPr lang="en-US" sz="1475" dirty="0"/>
          </a:p>
        </p:txBody>
      </p:sp>
      <p:sp>
        <p:nvSpPr>
          <p:cNvPr id="45" name="Text 43"/>
          <p:cNvSpPr/>
          <p:nvPr/>
        </p:nvSpPr>
        <p:spPr>
          <a:xfrm>
            <a:off x="4593987" y="5420996"/>
            <a:ext cx="3094147" cy="238125"/>
          </a:xfrm>
          <a:prstGeom prst="rect">
            <a:avLst/>
          </a:prstGeom>
          <a:noFill/>
          <a:ln/>
        </p:spPr>
        <p:txBody>
          <a:bodyPr wrap="square" lIns="0" tIns="0" rIns="0" bIns="0" rtlCol="0" anchor="t">
            <a:normAutofit/>
          </a:bodyPr>
          <a:lstStyle/>
          <a:p>
            <a:pPr algn="l" indent="0" marL="0">
              <a:lnSpc>
                <a:spcPts val="1723"/>
              </a:lnSpc>
              <a:buNone/>
            </a:pPr>
            <a:r>
              <a:rPr lang="en-US" sz="1231" dirty="0">
                <a:solidFill>
                  <a:srgbClr val="4F5868"/>
                </a:solidFill>
                <a:latin typeface="IBM Plex Sans" pitchFamily="34" charset="0"/>
                <a:ea typeface="IBM Plex Sans" pitchFamily="34" charset="-122"/>
                <a:cs typeface="IBM Plex Sans" pitchFamily="34" charset="-120"/>
              </a:rPr>
              <a:t>Big misses count more.</a:t>
            </a:r>
            <a:endParaRPr lang="en-US" sz="1231" dirty="0"/>
          </a:p>
        </p:txBody>
      </p:sp>
      <p:sp>
        <p:nvSpPr>
          <p:cNvPr id="46" name="Shape 44"/>
          <p:cNvSpPr/>
          <p:nvPr/>
        </p:nvSpPr>
        <p:spPr>
          <a:xfrm>
            <a:off x="7961868" y="4915219"/>
            <a:ext cx="3414157" cy="923607"/>
          </a:xfrm>
          <a:prstGeom prst="roundRect">
            <a:avLst>
              <a:gd name="adj" fmla="val 10657"/>
            </a:avLst>
          </a:prstGeom>
          <a:solidFill>
            <a:srgbClr val="FDFCF9"/>
          </a:solidFill>
          <a:ln w="6350">
            <a:solidFill>
              <a:srgbClr val="E2E0D8"/>
            </a:solidFill>
            <a:prstDash val="solid"/>
          </a:ln>
        </p:spPr>
      </p:sp>
      <p:sp>
        <p:nvSpPr>
          <p:cNvPr id="47" name="Text 45"/>
          <p:cNvSpPr/>
          <p:nvPr/>
        </p:nvSpPr>
        <p:spPr>
          <a:xfrm>
            <a:off x="8166974" y="5120323"/>
            <a:ext cx="3094065" cy="249873"/>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6213A"/>
                </a:solidFill>
                <a:latin typeface="IBM Plex Sans" pitchFamily="34" charset="0"/>
                <a:ea typeface="IBM Plex Sans" pitchFamily="34" charset="-122"/>
                <a:cs typeface="IBM Plex Sans" pitchFamily="34" charset="-120"/>
              </a:rPr>
              <a:t>R²</a:t>
            </a:r>
            <a:endParaRPr lang="en-US" sz="1475" dirty="0"/>
          </a:p>
        </p:txBody>
      </p:sp>
      <p:sp>
        <p:nvSpPr>
          <p:cNvPr id="48" name="Text 46"/>
          <p:cNvSpPr/>
          <p:nvPr/>
        </p:nvSpPr>
        <p:spPr>
          <a:xfrm>
            <a:off x="8166974" y="5420996"/>
            <a:ext cx="3094065" cy="238125"/>
          </a:xfrm>
          <a:prstGeom prst="rect">
            <a:avLst/>
          </a:prstGeom>
          <a:noFill/>
          <a:ln/>
        </p:spPr>
        <p:txBody>
          <a:bodyPr wrap="square" lIns="0" tIns="0" rIns="0" bIns="0" rtlCol="0" anchor="t">
            <a:normAutofit/>
          </a:bodyPr>
          <a:lstStyle/>
          <a:p>
            <a:pPr algn="l" indent="0" marL="0">
              <a:lnSpc>
                <a:spcPts val="1723"/>
              </a:lnSpc>
              <a:buNone/>
            </a:pPr>
            <a:r>
              <a:rPr lang="en-US" sz="1231" dirty="0">
                <a:solidFill>
                  <a:srgbClr val="4F5868"/>
                </a:solidFill>
                <a:latin typeface="IBM Plex Sans" pitchFamily="34" charset="0"/>
                <a:ea typeface="IBM Plex Sans" pitchFamily="34" charset="-122"/>
                <a:cs typeface="IBM Plex Sans" pitchFamily="34" charset="-120"/>
              </a:rPr>
              <a:t>Higher is better, 1 is perfect.</a:t>
            </a:r>
            <a:endParaRPr lang="en-US" sz="1231" dirty="0"/>
          </a:p>
        </p:txBody>
      </p:sp>
      <p:sp>
        <p:nvSpPr>
          <p:cNvPr id="49" name="Text 47"/>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Next: five models, three cost functions</a:t>
            </a:r>
            <a:endParaRPr lang="en-US" sz="1200" dirty="0"/>
          </a:p>
        </p:txBody>
      </p:sp>
      <p:sp>
        <p:nvSpPr>
          <p:cNvPr id="50" name="Text 4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MODEL COMPARISON</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Five models, three cost functions</a:t>
            </a:r>
            <a:endParaRPr lang="en-US" sz="3200" dirty="0"/>
          </a:p>
        </p:txBody>
      </p:sp>
      <p:sp>
        <p:nvSpPr>
          <p:cNvPr id="4" name="Shape 2"/>
          <p:cNvSpPr/>
          <p:nvPr/>
        </p:nvSpPr>
        <p:spPr>
          <a:xfrm>
            <a:off x="815975" y="1730375"/>
            <a:ext cx="10560050" cy="3656330"/>
          </a:xfrm>
          <a:prstGeom prst="roundRect">
            <a:avLst>
              <a:gd name="adj" fmla="val 2692"/>
            </a:avLst>
          </a:prstGeom>
          <a:solidFill>
            <a:srgbClr val="FDFCF9"/>
          </a:solidFill>
          <a:ln w="6350">
            <a:solidFill>
              <a:srgbClr val="E2E0D8"/>
            </a:solidFill>
            <a:prstDash val="solid"/>
          </a:ln>
        </p:spPr>
      </p:sp>
      <p:sp>
        <p:nvSpPr>
          <p:cNvPr id="5" name="Text 3"/>
          <p:cNvSpPr/>
          <p:nvPr/>
        </p:nvSpPr>
        <p:spPr>
          <a:xfrm>
            <a:off x="1021080" y="1935482"/>
            <a:ext cx="287782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MAE (LOWER IS BETTER)</a:t>
            </a:r>
            <a:endParaRPr lang="en-US" sz="1200" dirty="0"/>
          </a:p>
        </p:txBody>
      </p:sp>
      <p:sp>
        <p:nvSpPr>
          <p:cNvPr id="6" name="Text 4"/>
          <p:cNvSpPr/>
          <p:nvPr/>
        </p:nvSpPr>
        <p:spPr>
          <a:xfrm>
            <a:off x="3815080" y="1935482"/>
            <a:ext cx="287782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RMSE (LOWER IS BETTER)</a:t>
            </a:r>
            <a:endParaRPr lang="en-US" sz="1200" dirty="0"/>
          </a:p>
        </p:txBody>
      </p:sp>
      <p:sp>
        <p:nvSpPr>
          <p:cNvPr id="7" name="Text 5"/>
          <p:cNvSpPr/>
          <p:nvPr/>
        </p:nvSpPr>
        <p:spPr>
          <a:xfrm>
            <a:off x="6609080" y="1935482"/>
            <a:ext cx="287782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R² (HIGHER IS BETTER)</a:t>
            </a:r>
            <a:endParaRPr lang="en-US" sz="1200" dirty="0"/>
          </a:p>
        </p:txBody>
      </p:sp>
      <p:sp>
        <p:nvSpPr>
          <p:cNvPr id="8" name="Text 6"/>
          <p:cNvSpPr/>
          <p:nvPr/>
        </p:nvSpPr>
        <p:spPr>
          <a:xfrm>
            <a:off x="1021080" y="2291082"/>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Gradient Boosting</a:t>
            </a:r>
            <a:endParaRPr lang="en-US" sz="1400" dirty="0"/>
          </a:p>
        </p:txBody>
      </p:sp>
      <p:sp>
        <p:nvSpPr>
          <p:cNvPr id="9" name="Shape 7"/>
          <p:cNvSpPr/>
          <p:nvPr/>
        </p:nvSpPr>
        <p:spPr>
          <a:xfrm>
            <a:off x="2672080" y="2288539"/>
            <a:ext cx="1231900" cy="254000"/>
          </a:xfrm>
          <a:prstGeom prst="roundRect">
            <a:avLst>
              <a:gd name="adj" fmla="val 20000"/>
            </a:avLst>
          </a:prstGeom>
          <a:solidFill>
            <a:srgbClr val="B8561A"/>
          </a:solidFill>
          <a:ln/>
        </p:spPr>
      </p:sp>
      <p:sp>
        <p:nvSpPr>
          <p:cNvPr id="10" name="Text 8"/>
          <p:cNvSpPr/>
          <p:nvPr/>
        </p:nvSpPr>
        <p:spPr>
          <a:xfrm>
            <a:off x="3992880" y="22910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$1.62</a:t>
            </a:r>
            <a:endParaRPr lang="en-US" sz="1400" dirty="0"/>
          </a:p>
        </p:txBody>
      </p:sp>
      <p:sp>
        <p:nvSpPr>
          <p:cNvPr id="11" name="Shape 9"/>
          <p:cNvSpPr/>
          <p:nvPr/>
        </p:nvSpPr>
        <p:spPr>
          <a:xfrm>
            <a:off x="5466080" y="2288539"/>
            <a:ext cx="1492250" cy="254000"/>
          </a:xfrm>
          <a:prstGeom prst="roundRect">
            <a:avLst>
              <a:gd name="adj" fmla="val 20000"/>
            </a:avLst>
          </a:prstGeom>
          <a:solidFill>
            <a:srgbClr val="B8561A"/>
          </a:solidFill>
          <a:ln/>
        </p:spPr>
      </p:sp>
      <p:sp>
        <p:nvSpPr>
          <p:cNvPr id="12" name="Text 10"/>
          <p:cNvSpPr/>
          <p:nvPr/>
        </p:nvSpPr>
        <p:spPr>
          <a:xfrm>
            <a:off x="7047230" y="22910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$3.92</a:t>
            </a:r>
            <a:endParaRPr lang="en-US" sz="1400" dirty="0"/>
          </a:p>
        </p:txBody>
      </p:sp>
      <p:sp>
        <p:nvSpPr>
          <p:cNvPr id="13" name="Shape 11"/>
          <p:cNvSpPr/>
          <p:nvPr/>
        </p:nvSpPr>
        <p:spPr>
          <a:xfrm>
            <a:off x="8260080" y="2288539"/>
            <a:ext cx="1581150" cy="254000"/>
          </a:xfrm>
          <a:prstGeom prst="roundRect">
            <a:avLst>
              <a:gd name="adj" fmla="val 20000"/>
            </a:avLst>
          </a:prstGeom>
          <a:solidFill>
            <a:srgbClr val="B8561A"/>
          </a:solidFill>
          <a:ln/>
        </p:spPr>
      </p:sp>
      <p:sp>
        <p:nvSpPr>
          <p:cNvPr id="14" name="Text 12"/>
          <p:cNvSpPr/>
          <p:nvPr/>
        </p:nvSpPr>
        <p:spPr>
          <a:xfrm>
            <a:off x="9930130" y="2291082"/>
            <a:ext cx="532686"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0.830</a:t>
            </a:r>
            <a:endParaRPr lang="en-US" sz="1400" dirty="0"/>
          </a:p>
        </p:txBody>
      </p:sp>
      <p:sp>
        <p:nvSpPr>
          <p:cNvPr id="15" name="Text 13"/>
          <p:cNvSpPr/>
          <p:nvPr/>
        </p:nvSpPr>
        <p:spPr>
          <a:xfrm>
            <a:off x="1021080" y="2684782"/>
            <a:ext cx="1701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Random Forest</a:t>
            </a:r>
            <a:endParaRPr lang="en-US" sz="1400" dirty="0"/>
          </a:p>
        </p:txBody>
      </p:sp>
      <p:sp>
        <p:nvSpPr>
          <p:cNvPr id="16" name="Shape 14"/>
          <p:cNvSpPr/>
          <p:nvPr/>
        </p:nvSpPr>
        <p:spPr>
          <a:xfrm>
            <a:off x="2672080" y="2682239"/>
            <a:ext cx="1289050" cy="254000"/>
          </a:xfrm>
          <a:prstGeom prst="roundRect">
            <a:avLst>
              <a:gd name="adj" fmla="val 20000"/>
            </a:avLst>
          </a:prstGeom>
          <a:solidFill>
            <a:srgbClr val="8C97AB"/>
          </a:solidFill>
          <a:ln/>
        </p:spPr>
      </p:sp>
      <p:sp>
        <p:nvSpPr>
          <p:cNvPr id="17" name="Text 15"/>
          <p:cNvSpPr/>
          <p:nvPr/>
        </p:nvSpPr>
        <p:spPr>
          <a:xfrm>
            <a:off x="4050030" y="26847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$1.69</a:t>
            </a:r>
            <a:endParaRPr lang="en-US" sz="1400" dirty="0"/>
          </a:p>
        </p:txBody>
      </p:sp>
      <p:sp>
        <p:nvSpPr>
          <p:cNvPr id="18" name="Shape 16"/>
          <p:cNvSpPr/>
          <p:nvPr/>
        </p:nvSpPr>
        <p:spPr>
          <a:xfrm>
            <a:off x="5466080" y="2682239"/>
            <a:ext cx="1543050" cy="254000"/>
          </a:xfrm>
          <a:prstGeom prst="roundRect">
            <a:avLst>
              <a:gd name="adj" fmla="val 20000"/>
            </a:avLst>
          </a:prstGeom>
          <a:solidFill>
            <a:srgbClr val="8C97AB"/>
          </a:solidFill>
          <a:ln/>
        </p:spPr>
      </p:sp>
      <p:sp>
        <p:nvSpPr>
          <p:cNvPr id="19" name="Text 17"/>
          <p:cNvSpPr/>
          <p:nvPr/>
        </p:nvSpPr>
        <p:spPr>
          <a:xfrm>
            <a:off x="7098030" y="26847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$4.04</a:t>
            </a:r>
            <a:endParaRPr lang="en-US" sz="1400" dirty="0"/>
          </a:p>
        </p:txBody>
      </p:sp>
      <p:sp>
        <p:nvSpPr>
          <p:cNvPr id="20" name="Shape 18"/>
          <p:cNvSpPr/>
          <p:nvPr/>
        </p:nvSpPr>
        <p:spPr>
          <a:xfrm>
            <a:off x="8260080" y="2682239"/>
            <a:ext cx="1562100" cy="254000"/>
          </a:xfrm>
          <a:prstGeom prst="roundRect">
            <a:avLst>
              <a:gd name="adj" fmla="val 20000"/>
            </a:avLst>
          </a:prstGeom>
          <a:solidFill>
            <a:srgbClr val="8C97AB"/>
          </a:solidFill>
          <a:ln/>
        </p:spPr>
      </p:sp>
      <p:sp>
        <p:nvSpPr>
          <p:cNvPr id="21" name="Text 19"/>
          <p:cNvSpPr/>
          <p:nvPr/>
        </p:nvSpPr>
        <p:spPr>
          <a:xfrm>
            <a:off x="9911080" y="2684782"/>
            <a:ext cx="532686"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0.820</a:t>
            </a:r>
            <a:endParaRPr lang="en-US" sz="1400" dirty="0"/>
          </a:p>
        </p:txBody>
      </p:sp>
      <p:sp>
        <p:nvSpPr>
          <p:cNvPr id="22" name="Text 20"/>
          <p:cNvSpPr/>
          <p:nvPr/>
        </p:nvSpPr>
        <p:spPr>
          <a:xfrm>
            <a:off x="1021080" y="3078482"/>
            <a:ext cx="1701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Extra Trees</a:t>
            </a:r>
            <a:endParaRPr lang="en-US" sz="1400" dirty="0"/>
          </a:p>
        </p:txBody>
      </p:sp>
      <p:sp>
        <p:nvSpPr>
          <p:cNvPr id="23" name="Shape 21"/>
          <p:cNvSpPr/>
          <p:nvPr/>
        </p:nvSpPr>
        <p:spPr>
          <a:xfrm>
            <a:off x="2672080" y="3075939"/>
            <a:ext cx="1346200" cy="254000"/>
          </a:xfrm>
          <a:prstGeom prst="roundRect">
            <a:avLst>
              <a:gd name="adj" fmla="val 20000"/>
            </a:avLst>
          </a:prstGeom>
          <a:solidFill>
            <a:srgbClr val="8C97AB"/>
          </a:solidFill>
          <a:ln/>
        </p:spPr>
      </p:sp>
      <p:sp>
        <p:nvSpPr>
          <p:cNvPr id="24" name="Text 22"/>
          <p:cNvSpPr/>
          <p:nvPr/>
        </p:nvSpPr>
        <p:spPr>
          <a:xfrm>
            <a:off x="4107180" y="30784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$1.76</a:t>
            </a:r>
            <a:endParaRPr lang="en-US" sz="1400" dirty="0"/>
          </a:p>
        </p:txBody>
      </p:sp>
      <p:sp>
        <p:nvSpPr>
          <p:cNvPr id="25" name="Shape 23"/>
          <p:cNvSpPr/>
          <p:nvPr/>
        </p:nvSpPr>
        <p:spPr>
          <a:xfrm>
            <a:off x="5466080" y="3075939"/>
            <a:ext cx="1568450" cy="254000"/>
          </a:xfrm>
          <a:prstGeom prst="roundRect">
            <a:avLst>
              <a:gd name="adj" fmla="val 20000"/>
            </a:avLst>
          </a:prstGeom>
          <a:solidFill>
            <a:srgbClr val="8C97AB"/>
          </a:solidFill>
          <a:ln/>
        </p:spPr>
      </p:sp>
      <p:sp>
        <p:nvSpPr>
          <p:cNvPr id="26" name="Text 24"/>
          <p:cNvSpPr/>
          <p:nvPr/>
        </p:nvSpPr>
        <p:spPr>
          <a:xfrm>
            <a:off x="7123430" y="30784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$4.11</a:t>
            </a:r>
            <a:endParaRPr lang="en-US" sz="1400" dirty="0"/>
          </a:p>
        </p:txBody>
      </p:sp>
      <p:sp>
        <p:nvSpPr>
          <p:cNvPr id="27" name="Shape 25"/>
          <p:cNvSpPr/>
          <p:nvPr/>
        </p:nvSpPr>
        <p:spPr>
          <a:xfrm>
            <a:off x="8260080" y="3075939"/>
            <a:ext cx="1549400" cy="254000"/>
          </a:xfrm>
          <a:prstGeom prst="roundRect">
            <a:avLst>
              <a:gd name="adj" fmla="val 20000"/>
            </a:avLst>
          </a:prstGeom>
          <a:solidFill>
            <a:srgbClr val="8C97AB"/>
          </a:solidFill>
          <a:ln/>
        </p:spPr>
      </p:sp>
      <p:sp>
        <p:nvSpPr>
          <p:cNvPr id="28" name="Text 26"/>
          <p:cNvSpPr/>
          <p:nvPr/>
        </p:nvSpPr>
        <p:spPr>
          <a:xfrm>
            <a:off x="9898380" y="3078482"/>
            <a:ext cx="532686"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0.814</a:t>
            </a:r>
            <a:endParaRPr lang="en-US" sz="1400" dirty="0"/>
          </a:p>
        </p:txBody>
      </p:sp>
      <p:sp>
        <p:nvSpPr>
          <p:cNvPr id="29" name="Text 27"/>
          <p:cNvSpPr/>
          <p:nvPr/>
        </p:nvSpPr>
        <p:spPr>
          <a:xfrm>
            <a:off x="1021080" y="3472182"/>
            <a:ext cx="1701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Ridge</a:t>
            </a:r>
            <a:endParaRPr lang="en-US" sz="1400" dirty="0"/>
          </a:p>
        </p:txBody>
      </p:sp>
      <p:sp>
        <p:nvSpPr>
          <p:cNvPr id="30" name="Shape 28"/>
          <p:cNvSpPr/>
          <p:nvPr/>
        </p:nvSpPr>
        <p:spPr>
          <a:xfrm>
            <a:off x="2672080" y="3469639"/>
            <a:ext cx="1638300" cy="254000"/>
          </a:xfrm>
          <a:prstGeom prst="roundRect">
            <a:avLst>
              <a:gd name="adj" fmla="val 20000"/>
            </a:avLst>
          </a:prstGeom>
          <a:solidFill>
            <a:srgbClr val="8C97AB"/>
          </a:solidFill>
          <a:ln/>
        </p:spPr>
      </p:sp>
      <p:sp>
        <p:nvSpPr>
          <p:cNvPr id="31" name="Text 29"/>
          <p:cNvSpPr/>
          <p:nvPr/>
        </p:nvSpPr>
        <p:spPr>
          <a:xfrm>
            <a:off x="4399280" y="34721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$2.15</a:t>
            </a:r>
            <a:endParaRPr lang="en-US" sz="1400" dirty="0"/>
          </a:p>
        </p:txBody>
      </p:sp>
      <p:sp>
        <p:nvSpPr>
          <p:cNvPr id="32" name="Shape 30"/>
          <p:cNvSpPr/>
          <p:nvPr/>
        </p:nvSpPr>
        <p:spPr>
          <a:xfrm>
            <a:off x="5466080" y="3469639"/>
            <a:ext cx="1771650" cy="254000"/>
          </a:xfrm>
          <a:prstGeom prst="roundRect">
            <a:avLst>
              <a:gd name="adj" fmla="val 20000"/>
            </a:avLst>
          </a:prstGeom>
          <a:solidFill>
            <a:srgbClr val="8C97AB"/>
          </a:solidFill>
          <a:ln/>
        </p:spPr>
      </p:sp>
      <p:sp>
        <p:nvSpPr>
          <p:cNvPr id="33" name="Text 31"/>
          <p:cNvSpPr/>
          <p:nvPr/>
        </p:nvSpPr>
        <p:spPr>
          <a:xfrm>
            <a:off x="7326630" y="34721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$4.64</a:t>
            </a:r>
            <a:endParaRPr lang="en-US" sz="1400" dirty="0"/>
          </a:p>
        </p:txBody>
      </p:sp>
      <p:sp>
        <p:nvSpPr>
          <p:cNvPr id="34" name="Shape 32"/>
          <p:cNvSpPr/>
          <p:nvPr/>
        </p:nvSpPr>
        <p:spPr>
          <a:xfrm>
            <a:off x="8260080" y="3469639"/>
            <a:ext cx="1454150" cy="254000"/>
          </a:xfrm>
          <a:prstGeom prst="roundRect">
            <a:avLst>
              <a:gd name="adj" fmla="val 20000"/>
            </a:avLst>
          </a:prstGeom>
          <a:solidFill>
            <a:srgbClr val="8C97AB"/>
          </a:solidFill>
          <a:ln/>
        </p:spPr>
      </p:sp>
      <p:sp>
        <p:nvSpPr>
          <p:cNvPr id="35" name="Text 33"/>
          <p:cNvSpPr/>
          <p:nvPr/>
        </p:nvSpPr>
        <p:spPr>
          <a:xfrm>
            <a:off x="9803130" y="3472182"/>
            <a:ext cx="532686"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0.763</a:t>
            </a:r>
            <a:endParaRPr lang="en-US" sz="1400" dirty="0"/>
          </a:p>
        </p:txBody>
      </p:sp>
      <p:sp>
        <p:nvSpPr>
          <p:cNvPr id="36" name="Text 34"/>
          <p:cNvSpPr/>
          <p:nvPr/>
        </p:nvSpPr>
        <p:spPr>
          <a:xfrm>
            <a:off x="1021080" y="3865882"/>
            <a:ext cx="1701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Linear Regression</a:t>
            </a:r>
            <a:endParaRPr lang="en-US" sz="1400" dirty="0"/>
          </a:p>
        </p:txBody>
      </p:sp>
      <p:sp>
        <p:nvSpPr>
          <p:cNvPr id="37" name="Shape 35"/>
          <p:cNvSpPr/>
          <p:nvPr/>
        </p:nvSpPr>
        <p:spPr>
          <a:xfrm>
            <a:off x="2672080" y="3863339"/>
            <a:ext cx="1638300" cy="254000"/>
          </a:xfrm>
          <a:prstGeom prst="roundRect">
            <a:avLst>
              <a:gd name="adj" fmla="val 20000"/>
            </a:avLst>
          </a:prstGeom>
          <a:solidFill>
            <a:srgbClr val="8C97AB"/>
          </a:solidFill>
          <a:ln/>
        </p:spPr>
      </p:sp>
      <p:sp>
        <p:nvSpPr>
          <p:cNvPr id="38" name="Text 36"/>
          <p:cNvSpPr/>
          <p:nvPr/>
        </p:nvSpPr>
        <p:spPr>
          <a:xfrm>
            <a:off x="4399280" y="38658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$2.15</a:t>
            </a:r>
            <a:endParaRPr lang="en-US" sz="1400" dirty="0"/>
          </a:p>
        </p:txBody>
      </p:sp>
      <p:sp>
        <p:nvSpPr>
          <p:cNvPr id="39" name="Shape 37"/>
          <p:cNvSpPr/>
          <p:nvPr/>
        </p:nvSpPr>
        <p:spPr>
          <a:xfrm>
            <a:off x="5466080" y="3863339"/>
            <a:ext cx="1771650" cy="254000"/>
          </a:xfrm>
          <a:prstGeom prst="roundRect">
            <a:avLst>
              <a:gd name="adj" fmla="val 20000"/>
            </a:avLst>
          </a:prstGeom>
          <a:solidFill>
            <a:srgbClr val="8C97AB"/>
          </a:solidFill>
          <a:ln/>
        </p:spPr>
      </p:sp>
      <p:sp>
        <p:nvSpPr>
          <p:cNvPr id="40" name="Text 38"/>
          <p:cNvSpPr/>
          <p:nvPr/>
        </p:nvSpPr>
        <p:spPr>
          <a:xfrm>
            <a:off x="7326630" y="38658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$4.64</a:t>
            </a:r>
            <a:endParaRPr lang="en-US" sz="1400" dirty="0"/>
          </a:p>
        </p:txBody>
      </p:sp>
      <p:sp>
        <p:nvSpPr>
          <p:cNvPr id="41" name="Shape 39"/>
          <p:cNvSpPr/>
          <p:nvPr/>
        </p:nvSpPr>
        <p:spPr>
          <a:xfrm>
            <a:off x="8260080" y="3863339"/>
            <a:ext cx="1454150" cy="254000"/>
          </a:xfrm>
          <a:prstGeom prst="roundRect">
            <a:avLst>
              <a:gd name="adj" fmla="val 20000"/>
            </a:avLst>
          </a:prstGeom>
          <a:solidFill>
            <a:srgbClr val="8C97AB"/>
          </a:solidFill>
          <a:ln/>
        </p:spPr>
      </p:sp>
      <p:sp>
        <p:nvSpPr>
          <p:cNvPr id="42" name="Text 40"/>
          <p:cNvSpPr/>
          <p:nvPr/>
        </p:nvSpPr>
        <p:spPr>
          <a:xfrm>
            <a:off x="9803130" y="3865882"/>
            <a:ext cx="532686"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0.763</a:t>
            </a:r>
            <a:endParaRPr lang="en-US" sz="1400" dirty="0"/>
          </a:p>
        </p:txBody>
      </p:sp>
      <p:sp>
        <p:nvSpPr>
          <p:cNvPr id="43" name="Text 41"/>
          <p:cNvSpPr/>
          <p:nvPr/>
        </p:nvSpPr>
        <p:spPr>
          <a:xfrm>
            <a:off x="812800" y="55930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868"/>
                </a:solidFill>
                <a:latin typeface="IBM Plex Sans" pitchFamily="34" charset="0"/>
                <a:ea typeface="IBM Plex Sans" pitchFamily="34" charset="-122"/>
                <a:cs typeface="IBM Plex Sans" pitchFamily="34" charset="-120"/>
              </a:rPr>
              <a:t>Cross-validated on a 100,000-row sample, same Pipeline and same folds. Gradient Boosting is best on all three.</a:t>
            </a:r>
            <a:endParaRPr lang="en-US" sz="1400" dirty="0"/>
          </a:p>
        </p:txBody>
      </p:sp>
      <p:sp>
        <p:nvSpPr>
          <p:cNvPr id="44" name="Text 42"/>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Next: the three finalists on all the training data</a:t>
            </a:r>
            <a:endParaRPr lang="en-US" sz="1200" dirty="0"/>
          </a:p>
        </p:txBody>
      </p:sp>
      <p:sp>
        <p:nvSpPr>
          <p:cNvPr id="45" name="Text 4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MODEL COMPARISON</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The three finalists on all the training data</a:t>
            </a:r>
            <a:endParaRPr lang="en-US" sz="3200" dirty="0"/>
          </a:p>
        </p:txBody>
      </p:sp>
      <p:sp>
        <p:nvSpPr>
          <p:cNvPr id="4" name="Shape 2"/>
          <p:cNvSpPr/>
          <p:nvPr/>
        </p:nvSpPr>
        <p:spPr>
          <a:xfrm>
            <a:off x="815975" y="1730375"/>
            <a:ext cx="3380264" cy="2711450"/>
          </a:xfrm>
          <a:prstGeom prst="roundRect">
            <a:avLst>
              <a:gd name="adj" fmla="val 3630"/>
            </a:avLst>
          </a:prstGeom>
          <a:solidFill>
            <a:srgbClr val="FDFCF9"/>
          </a:solidFill>
          <a:ln w="6350">
            <a:solidFill>
              <a:srgbClr val="E2E0D8"/>
            </a:solidFill>
            <a:prstDash val="solid"/>
          </a:ln>
        </p:spPr>
      </p:sp>
      <p:sp>
        <p:nvSpPr>
          <p:cNvPr id="5" name="Text 3"/>
          <p:cNvSpPr/>
          <p:nvPr/>
        </p:nvSpPr>
        <p:spPr>
          <a:xfrm>
            <a:off x="1021080" y="1935482"/>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Linear Regression</a:t>
            </a:r>
            <a:endParaRPr lang="en-US" sz="1600" dirty="0"/>
          </a:p>
        </p:txBody>
      </p:sp>
      <p:sp>
        <p:nvSpPr>
          <p:cNvPr id="6" name="Text 4"/>
          <p:cNvSpPr/>
          <p:nvPr/>
        </p:nvSpPr>
        <p:spPr>
          <a:xfrm>
            <a:off x="1021080" y="2255521"/>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RMSE, FULL TRAINING DATA</a:t>
            </a:r>
            <a:endParaRPr lang="en-US" sz="1200" dirty="0"/>
          </a:p>
        </p:txBody>
      </p:sp>
      <p:sp>
        <p:nvSpPr>
          <p:cNvPr id="7" name="Shape 5"/>
          <p:cNvSpPr/>
          <p:nvPr/>
        </p:nvSpPr>
        <p:spPr>
          <a:xfrm>
            <a:off x="1122680" y="2555239"/>
            <a:ext cx="1816100" cy="228600"/>
          </a:xfrm>
          <a:prstGeom prst="roundRect">
            <a:avLst>
              <a:gd name="adj" fmla="val 22222"/>
            </a:avLst>
          </a:prstGeom>
          <a:solidFill>
            <a:srgbClr val="8C97AB"/>
          </a:solidFill>
          <a:ln/>
        </p:spPr>
      </p:sp>
      <p:sp>
        <p:nvSpPr>
          <p:cNvPr id="8" name="Text 6"/>
          <p:cNvSpPr/>
          <p:nvPr/>
        </p:nvSpPr>
        <p:spPr>
          <a:xfrm>
            <a:off x="3040380" y="25450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$4.77</a:t>
            </a:r>
            <a:endParaRPr lang="en-US" sz="1400" dirty="0"/>
          </a:p>
        </p:txBody>
      </p:sp>
      <p:sp>
        <p:nvSpPr>
          <p:cNvPr id="9" name="Text 7"/>
          <p:cNvSpPr/>
          <p:nvPr/>
        </p:nvSpPr>
        <p:spPr>
          <a:xfrm>
            <a:off x="1021080" y="2870200"/>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FIT TIME PER FOLD</a:t>
            </a:r>
            <a:endParaRPr lang="en-US" sz="1200" dirty="0"/>
          </a:p>
        </p:txBody>
      </p:sp>
      <p:sp>
        <p:nvSpPr>
          <p:cNvPr id="10" name="Shape 8"/>
          <p:cNvSpPr/>
          <p:nvPr/>
        </p:nvSpPr>
        <p:spPr>
          <a:xfrm>
            <a:off x="1122680" y="3169921"/>
            <a:ext cx="209550" cy="228600"/>
          </a:xfrm>
          <a:prstGeom prst="roundRect">
            <a:avLst>
              <a:gd name="adj" fmla="val 24242"/>
            </a:avLst>
          </a:prstGeom>
          <a:solidFill>
            <a:srgbClr val="8C97AB"/>
          </a:solidFill>
          <a:ln/>
        </p:spPr>
      </p:sp>
      <p:sp>
        <p:nvSpPr>
          <p:cNvPr id="11" name="Text 9"/>
          <p:cNvSpPr/>
          <p:nvPr/>
        </p:nvSpPr>
        <p:spPr>
          <a:xfrm>
            <a:off x="1433830" y="3159761"/>
            <a:ext cx="28908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9 s</a:t>
            </a:r>
            <a:endParaRPr lang="en-US" sz="1400" dirty="0"/>
          </a:p>
        </p:txBody>
      </p:sp>
      <p:sp>
        <p:nvSpPr>
          <p:cNvPr id="12" name="Text 10"/>
          <p:cNvSpPr/>
          <p:nvPr/>
        </p:nvSpPr>
        <p:spPr>
          <a:xfrm>
            <a:off x="1021080" y="3484882"/>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561A"/>
                </a:solidFill>
                <a:latin typeface="IBM Plex Sans" pitchFamily="34" charset="0"/>
                <a:ea typeface="IBM Plex Sans" pitchFamily="34" charset="-122"/>
                <a:cs typeface="IBM Plex Sans" pitchFamily="34" charset="-120"/>
              </a:rPr>
              <a:t>BEST WHEN</a:t>
            </a:r>
            <a:endParaRPr lang="en-US" sz="1200" dirty="0"/>
          </a:p>
        </p:txBody>
      </p:sp>
      <p:sp>
        <p:nvSpPr>
          <p:cNvPr id="13" name="Text 11"/>
          <p:cNvSpPr/>
          <p:nvPr/>
        </p:nvSpPr>
        <p:spPr>
          <a:xfrm>
            <a:off x="1021080" y="3774439"/>
            <a:ext cx="305915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868"/>
                </a:solidFill>
                <a:latin typeface="IBM Plex Sans" pitchFamily="34" charset="0"/>
                <a:ea typeface="IBM Plex Sans" pitchFamily="34" charset="-122"/>
                <a:cs typeface="IBM Plex Sans" pitchFamily="34" charset="-120"/>
              </a:rPr>
              <a:t>the relationship is a straight line and you must explain it.</a:t>
            </a:r>
            <a:endParaRPr lang="en-US" sz="1300" dirty="0"/>
          </a:p>
        </p:txBody>
      </p:sp>
      <p:sp>
        <p:nvSpPr>
          <p:cNvPr id="14" name="Shape 12"/>
          <p:cNvSpPr/>
          <p:nvPr/>
        </p:nvSpPr>
        <p:spPr>
          <a:xfrm>
            <a:off x="4405789" y="1730375"/>
            <a:ext cx="3380343" cy="2711450"/>
          </a:xfrm>
          <a:prstGeom prst="roundRect">
            <a:avLst>
              <a:gd name="adj" fmla="val 3630"/>
            </a:avLst>
          </a:prstGeom>
          <a:solidFill>
            <a:srgbClr val="FDFCF9"/>
          </a:solidFill>
          <a:ln w="6350">
            <a:solidFill>
              <a:srgbClr val="E2E0D8"/>
            </a:solidFill>
            <a:prstDash val="solid"/>
          </a:ln>
        </p:spPr>
      </p:sp>
      <p:sp>
        <p:nvSpPr>
          <p:cNvPr id="15" name="Text 13"/>
          <p:cNvSpPr/>
          <p:nvPr/>
        </p:nvSpPr>
        <p:spPr>
          <a:xfrm>
            <a:off x="4610894" y="1935482"/>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Random Forest</a:t>
            </a:r>
            <a:endParaRPr lang="en-US" sz="1600" dirty="0"/>
          </a:p>
        </p:txBody>
      </p:sp>
      <p:sp>
        <p:nvSpPr>
          <p:cNvPr id="16" name="Text 14"/>
          <p:cNvSpPr/>
          <p:nvPr/>
        </p:nvSpPr>
        <p:spPr>
          <a:xfrm>
            <a:off x="4610894" y="2255521"/>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RMSE, FULL TRAINING DATA</a:t>
            </a:r>
            <a:endParaRPr lang="en-US" sz="1200" dirty="0"/>
          </a:p>
        </p:txBody>
      </p:sp>
      <p:sp>
        <p:nvSpPr>
          <p:cNvPr id="17" name="Shape 15"/>
          <p:cNvSpPr/>
          <p:nvPr/>
        </p:nvSpPr>
        <p:spPr>
          <a:xfrm>
            <a:off x="4712494" y="2555239"/>
            <a:ext cx="1536700" cy="228600"/>
          </a:xfrm>
          <a:prstGeom prst="roundRect">
            <a:avLst>
              <a:gd name="adj" fmla="val 22222"/>
            </a:avLst>
          </a:prstGeom>
          <a:solidFill>
            <a:srgbClr val="8C97AB"/>
          </a:solidFill>
          <a:ln/>
        </p:spPr>
      </p:sp>
      <p:sp>
        <p:nvSpPr>
          <p:cNvPr id="18" name="Text 16"/>
          <p:cNvSpPr/>
          <p:nvPr/>
        </p:nvSpPr>
        <p:spPr>
          <a:xfrm>
            <a:off x="6350794" y="25450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$4.04</a:t>
            </a:r>
            <a:endParaRPr lang="en-US" sz="1400" dirty="0"/>
          </a:p>
        </p:txBody>
      </p:sp>
      <p:sp>
        <p:nvSpPr>
          <p:cNvPr id="19" name="Text 17"/>
          <p:cNvSpPr/>
          <p:nvPr/>
        </p:nvSpPr>
        <p:spPr>
          <a:xfrm>
            <a:off x="4610894" y="287020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FIT TIME PER FOLD</a:t>
            </a:r>
            <a:endParaRPr lang="en-US" sz="1200" dirty="0"/>
          </a:p>
        </p:txBody>
      </p:sp>
      <p:sp>
        <p:nvSpPr>
          <p:cNvPr id="20" name="Shape 18"/>
          <p:cNvSpPr/>
          <p:nvPr/>
        </p:nvSpPr>
        <p:spPr>
          <a:xfrm>
            <a:off x="4712494" y="3169921"/>
            <a:ext cx="1689100" cy="228600"/>
          </a:xfrm>
          <a:prstGeom prst="roundRect">
            <a:avLst>
              <a:gd name="adj" fmla="val 22222"/>
            </a:avLst>
          </a:prstGeom>
          <a:solidFill>
            <a:srgbClr val="8C97AB"/>
          </a:solidFill>
          <a:ln/>
        </p:spPr>
      </p:sp>
      <p:sp>
        <p:nvSpPr>
          <p:cNvPr id="21" name="Text 19"/>
          <p:cNvSpPr/>
          <p:nvPr/>
        </p:nvSpPr>
        <p:spPr>
          <a:xfrm>
            <a:off x="6503194" y="3159761"/>
            <a:ext cx="39576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71 s</a:t>
            </a:r>
            <a:endParaRPr lang="en-US" sz="1400" dirty="0"/>
          </a:p>
        </p:txBody>
      </p:sp>
      <p:sp>
        <p:nvSpPr>
          <p:cNvPr id="22" name="Text 20"/>
          <p:cNvSpPr/>
          <p:nvPr/>
        </p:nvSpPr>
        <p:spPr>
          <a:xfrm>
            <a:off x="4610894" y="3484882"/>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561A"/>
                </a:solidFill>
                <a:latin typeface="IBM Plex Sans" pitchFamily="34" charset="0"/>
                <a:ea typeface="IBM Plex Sans" pitchFamily="34" charset="-122"/>
                <a:cs typeface="IBM Plex Sans" pitchFamily="34" charset="-120"/>
              </a:rPr>
              <a:t>BEST WHEN</a:t>
            </a:r>
            <a:endParaRPr lang="en-US" sz="1200" dirty="0"/>
          </a:p>
        </p:txBody>
      </p:sp>
      <p:sp>
        <p:nvSpPr>
          <p:cNvPr id="23" name="Text 21"/>
          <p:cNvSpPr/>
          <p:nvPr/>
        </p:nvSpPr>
        <p:spPr>
          <a:xfrm>
            <a:off x="4610894" y="3774439"/>
            <a:ext cx="305923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868"/>
                </a:solidFill>
                <a:latin typeface="IBM Plex Sans" pitchFamily="34" charset="0"/>
                <a:ea typeface="IBM Plex Sans" pitchFamily="34" charset="-122"/>
                <a:cs typeface="IBM Plex Sans" pitchFamily="34" charset="-120"/>
              </a:rPr>
              <a:t>the data is non-linear and noisy and there is no time to tune.</a:t>
            </a:r>
            <a:endParaRPr lang="en-US" sz="1300" dirty="0"/>
          </a:p>
        </p:txBody>
      </p:sp>
      <p:sp>
        <p:nvSpPr>
          <p:cNvPr id="24" name="Shape 22"/>
          <p:cNvSpPr/>
          <p:nvPr/>
        </p:nvSpPr>
        <p:spPr>
          <a:xfrm>
            <a:off x="7995682" y="1730375"/>
            <a:ext cx="3380343" cy="2711450"/>
          </a:xfrm>
          <a:prstGeom prst="roundRect">
            <a:avLst>
              <a:gd name="adj" fmla="val 3630"/>
            </a:avLst>
          </a:prstGeom>
          <a:solidFill>
            <a:srgbClr val="FDFCF9"/>
          </a:solidFill>
          <a:ln w="6350">
            <a:solidFill>
              <a:srgbClr val="E2E0D8"/>
            </a:solidFill>
            <a:prstDash val="solid"/>
          </a:ln>
        </p:spPr>
      </p:sp>
      <p:sp>
        <p:nvSpPr>
          <p:cNvPr id="25" name="Text 23"/>
          <p:cNvSpPr/>
          <p:nvPr/>
        </p:nvSpPr>
        <p:spPr>
          <a:xfrm>
            <a:off x="8200787" y="1935482"/>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Gradient Boosting</a:t>
            </a:r>
            <a:endParaRPr lang="en-US" sz="1600" dirty="0"/>
          </a:p>
        </p:txBody>
      </p:sp>
      <p:sp>
        <p:nvSpPr>
          <p:cNvPr id="26" name="Text 24"/>
          <p:cNvSpPr/>
          <p:nvPr/>
        </p:nvSpPr>
        <p:spPr>
          <a:xfrm>
            <a:off x="8200787" y="2255521"/>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RMSE, FULL TRAINING DATA</a:t>
            </a:r>
            <a:endParaRPr lang="en-US" sz="1200" dirty="0"/>
          </a:p>
        </p:txBody>
      </p:sp>
      <p:sp>
        <p:nvSpPr>
          <p:cNvPr id="27" name="Shape 25"/>
          <p:cNvSpPr/>
          <p:nvPr/>
        </p:nvSpPr>
        <p:spPr>
          <a:xfrm>
            <a:off x="8302387" y="2555239"/>
            <a:ext cx="1511300" cy="228600"/>
          </a:xfrm>
          <a:prstGeom prst="roundRect">
            <a:avLst>
              <a:gd name="adj" fmla="val 22222"/>
            </a:avLst>
          </a:prstGeom>
          <a:solidFill>
            <a:srgbClr val="B8561A"/>
          </a:solidFill>
          <a:ln/>
        </p:spPr>
      </p:sp>
      <p:sp>
        <p:nvSpPr>
          <p:cNvPr id="28" name="Text 26"/>
          <p:cNvSpPr/>
          <p:nvPr/>
        </p:nvSpPr>
        <p:spPr>
          <a:xfrm>
            <a:off x="9915287" y="2545082"/>
            <a:ext cx="53284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$3.97</a:t>
            </a:r>
            <a:endParaRPr lang="en-US" sz="1400" dirty="0"/>
          </a:p>
        </p:txBody>
      </p:sp>
      <p:sp>
        <p:nvSpPr>
          <p:cNvPr id="29" name="Text 27"/>
          <p:cNvSpPr/>
          <p:nvPr/>
        </p:nvSpPr>
        <p:spPr>
          <a:xfrm>
            <a:off x="8200787" y="287020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FIT TIME PER FOLD</a:t>
            </a:r>
            <a:endParaRPr lang="en-US" sz="1200" dirty="0"/>
          </a:p>
        </p:txBody>
      </p:sp>
      <p:sp>
        <p:nvSpPr>
          <p:cNvPr id="30" name="Shape 28"/>
          <p:cNvSpPr/>
          <p:nvPr/>
        </p:nvSpPr>
        <p:spPr>
          <a:xfrm>
            <a:off x="8302387" y="3169921"/>
            <a:ext cx="177800" cy="228600"/>
          </a:xfrm>
          <a:prstGeom prst="roundRect">
            <a:avLst>
              <a:gd name="adj" fmla="val 28571"/>
            </a:avLst>
          </a:prstGeom>
          <a:solidFill>
            <a:srgbClr val="B8561A"/>
          </a:solidFill>
          <a:ln/>
        </p:spPr>
      </p:sp>
      <p:sp>
        <p:nvSpPr>
          <p:cNvPr id="31" name="Text 29"/>
          <p:cNvSpPr/>
          <p:nvPr/>
        </p:nvSpPr>
        <p:spPr>
          <a:xfrm>
            <a:off x="8581787" y="3159761"/>
            <a:ext cx="289084"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8 s</a:t>
            </a:r>
            <a:endParaRPr lang="en-US" sz="1400" dirty="0"/>
          </a:p>
        </p:txBody>
      </p:sp>
      <p:sp>
        <p:nvSpPr>
          <p:cNvPr id="32" name="Text 30"/>
          <p:cNvSpPr/>
          <p:nvPr/>
        </p:nvSpPr>
        <p:spPr>
          <a:xfrm>
            <a:off x="8200787" y="3484882"/>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561A"/>
                </a:solidFill>
                <a:latin typeface="IBM Plex Sans" pitchFamily="34" charset="0"/>
                <a:ea typeface="IBM Plex Sans" pitchFamily="34" charset="-122"/>
                <a:cs typeface="IBM Plex Sans" pitchFamily="34" charset="-120"/>
              </a:rPr>
              <a:t>BEST WHEN</a:t>
            </a:r>
            <a:endParaRPr lang="en-US" sz="1200" dirty="0"/>
          </a:p>
        </p:txBody>
      </p:sp>
      <p:sp>
        <p:nvSpPr>
          <p:cNvPr id="33" name="Text 31"/>
          <p:cNvSpPr/>
          <p:nvPr/>
        </p:nvSpPr>
        <p:spPr>
          <a:xfrm>
            <a:off x="8200787" y="3774439"/>
            <a:ext cx="305923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F5868"/>
                </a:solidFill>
                <a:latin typeface="IBM Plex Sans" pitchFamily="34" charset="0"/>
                <a:ea typeface="IBM Plex Sans" pitchFamily="34" charset="-122"/>
                <a:cs typeface="IBM Plex Sans" pitchFamily="34" charset="-120"/>
              </a:rPr>
              <a:t>the data is structured with interactions and fixed prices.</a:t>
            </a:r>
            <a:endParaRPr lang="en-US" sz="1300" dirty="0"/>
          </a:p>
        </p:txBody>
      </p:sp>
      <p:sp>
        <p:nvSpPr>
          <p:cNvPr id="34" name="Text 32"/>
          <p:cNvSpPr/>
          <p:nvPr/>
        </p:nvSpPr>
        <p:spPr>
          <a:xfrm>
            <a:off x="812800" y="46482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868"/>
                </a:solidFill>
                <a:latin typeface="IBM Plex Sans" pitchFamily="34" charset="0"/>
                <a:ea typeface="IBM Plex Sans" pitchFamily="34" charset="-122"/>
                <a:cs typeface="IBM Plex Sans" pitchFamily="34" charset="-120"/>
              </a:rPr>
              <a:t>Random Forest is only 1.7% behind, but takes about 10 times longer to train.</a:t>
            </a:r>
            <a:endParaRPr lang="en-US" sz="1400" dirty="0"/>
          </a:p>
        </p:txBody>
      </p:sp>
      <p:sp>
        <p:nvSpPr>
          <p:cNvPr id="35" name="Text 33"/>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Is the gain real? A fold-by-fold check</a:t>
            </a:r>
            <a:endParaRPr lang="en-US" sz="1200" dirty="0"/>
          </a:p>
        </p:txBody>
      </p:sp>
      <p:sp>
        <p:nvSpPr>
          <p:cNvPr id="36" name="Text 3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MODEL COMPARISON</a:t>
            </a:r>
            <a:endParaRPr lang="en-US" sz="1200" dirty="0"/>
          </a:p>
        </p:txBody>
      </p:sp>
      <p:sp>
        <p:nvSpPr>
          <p:cNvPr id="3" name="Text 1"/>
          <p:cNvSpPr/>
          <p:nvPr>
            <p:ph type="title"/>
          </p:nvPr>
        </p:nvSpPr>
        <p:spPr>
          <a:xfrm>
            <a:off x="812800" y="10769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Gradient Boosting wins on every fold</a:t>
            </a:r>
            <a:endParaRPr lang="en-US" sz="3200" dirty="0"/>
          </a:p>
        </p:txBody>
      </p:sp>
      <p:sp>
        <p:nvSpPr>
          <p:cNvPr id="4" name="Shape 2"/>
          <p:cNvSpPr/>
          <p:nvPr/>
        </p:nvSpPr>
        <p:spPr>
          <a:xfrm>
            <a:off x="815975" y="1730375"/>
            <a:ext cx="5967492" cy="3310890"/>
          </a:xfrm>
          <a:prstGeom prst="roundRect">
            <a:avLst>
              <a:gd name="adj" fmla="val 2973"/>
            </a:avLst>
          </a:prstGeom>
          <a:solidFill>
            <a:srgbClr val="FDFCF9"/>
          </a:solidFill>
          <a:ln w="6350">
            <a:solidFill>
              <a:srgbClr val="E2E0D8"/>
            </a:solidFill>
            <a:prstDash val="solid"/>
          </a:ln>
        </p:spPr>
      </p:sp>
      <p:pic>
        <p:nvPicPr>
          <p:cNvPr id="5" name="Image 0" descr="Cross-validation R squared for Ridge and Gradient Boosting on each of the five folds">    </p:cNvPr>
          <p:cNvPicPr>
            <a:picLocks noChangeAspect="1"/>
          </p:cNvPicPr>
          <p:nvPr/>
        </p:nvPicPr>
        <p:blipFill>
          <a:blip r:embed="rId1"/>
          <a:srcRect l="0" r="0" t="-15" b="-15"/>
          <a:stretch/>
        </p:blipFill>
        <p:spPr>
          <a:xfrm>
            <a:off x="1069181" y="1833882"/>
            <a:ext cx="5461000" cy="2990850"/>
          </a:xfrm>
          <a:prstGeom prst="rect">
            <a:avLst/>
          </a:prstGeom>
        </p:spPr>
      </p:pic>
      <p:sp>
        <p:nvSpPr>
          <p:cNvPr id="6" name="Shape 3"/>
          <p:cNvSpPr/>
          <p:nvPr/>
        </p:nvSpPr>
        <p:spPr>
          <a:xfrm>
            <a:off x="6993017" y="1730375"/>
            <a:ext cx="4383008" cy="3310890"/>
          </a:xfrm>
          <a:prstGeom prst="roundRect">
            <a:avLst>
              <a:gd name="adj" fmla="val 2973"/>
            </a:avLst>
          </a:prstGeom>
          <a:solidFill>
            <a:srgbClr val="FDFCF9"/>
          </a:solidFill>
          <a:ln w="6350">
            <a:solidFill>
              <a:srgbClr val="E2E0D8"/>
            </a:solidFill>
            <a:prstDash val="solid"/>
          </a:ln>
        </p:spPr>
      </p:sp>
      <p:sp>
        <p:nvSpPr>
          <p:cNvPr id="7" name="Text 4"/>
          <p:cNvSpPr/>
          <p:nvPr/>
        </p:nvSpPr>
        <p:spPr>
          <a:xfrm>
            <a:off x="7198122" y="1935482"/>
            <a:ext cx="409198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8561A"/>
                </a:solidFill>
                <a:latin typeface="Source Serif 4" pitchFamily="18" charset="0"/>
                <a:ea typeface="Source Serif 4" pitchFamily="18" charset="-122"/>
                <a:cs typeface="Source Serif 4" pitchFamily="18" charset="-120"/>
              </a:rPr>
              <a:t>5 of 5</a:t>
            </a:r>
            <a:endParaRPr lang="en-US" sz="3200" dirty="0"/>
          </a:p>
        </p:txBody>
      </p:sp>
      <p:sp>
        <p:nvSpPr>
          <p:cNvPr id="8" name="Text 5"/>
          <p:cNvSpPr/>
          <p:nvPr/>
        </p:nvSpPr>
        <p:spPr>
          <a:xfrm>
            <a:off x="7198122" y="2471421"/>
            <a:ext cx="409198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868"/>
                </a:solidFill>
                <a:latin typeface="IBM Plex Sans" pitchFamily="34" charset="0"/>
                <a:ea typeface="IBM Plex Sans" pitchFamily="34" charset="-122"/>
                <a:cs typeface="IBM Plex Sans" pitchFamily="34" charset="-120"/>
              </a:rPr>
              <a:t>folds won</a:t>
            </a:r>
            <a:endParaRPr lang="en-US" sz="1400" dirty="0"/>
          </a:p>
        </p:txBody>
      </p:sp>
      <p:sp>
        <p:nvSpPr>
          <p:cNvPr id="9" name="Text 6"/>
          <p:cNvSpPr/>
          <p:nvPr/>
        </p:nvSpPr>
        <p:spPr>
          <a:xfrm>
            <a:off x="7198122" y="2809239"/>
            <a:ext cx="409198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R² GAINED PER FOLD</a:t>
            </a:r>
            <a:endParaRPr lang="en-US" sz="1200" dirty="0"/>
          </a:p>
        </p:txBody>
      </p:sp>
      <p:sp>
        <p:nvSpPr>
          <p:cNvPr id="10" name="Text 7"/>
          <p:cNvSpPr/>
          <p:nvPr/>
        </p:nvSpPr>
        <p:spPr>
          <a:xfrm>
            <a:off x="7198122" y="3119121"/>
            <a:ext cx="876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213A"/>
                </a:solidFill>
                <a:latin typeface="IBM Plex Sans" pitchFamily="34" charset="0"/>
                <a:ea typeface="IBM Plex Sans" pitchFamily="34" charset="-122"/>
                <a:cs typeface="IBM Plex Sans" pitchFamily="34" charset="-120"/>
              </a:rPr>
              <a:t>Fold 1</a:t>
            </a:r>
            <a:endParaRPr lang="en-US" sz="1200" dirty="0"/>
          </a:p>
        </p:txBody>
      </p:sp>
      <p:sp>
        <p:nvSpPr>
          <p:cNvPr id="11" name="Shape 8"/>
          <p:cNvSpPr/>
          <p:nvPr/>
        </p:nvSpPr>
        <p:spPr>
          <a:xfrm>
            <a:off x="8125222" y="3129282"/>
            <a:ext cx="1536700" cy="177800"/>
          </a:xfrm>
          <a:prstGeom prst="roundRect">
            <a:avLst>
              <a:gd name="adj" fmla="val 28571"/>
            </a:avLst>
          </a:prstGeom>
          <a:solidFill>
            <a:srgbClr val="B8561A"/>
          </a:solidFill>
          <a:ln/>
        </p:spPr>
      </p:sp>
      <p:sp>
        <p:nvSpPr>
          <p:cNvPr id="12" name="Text 9"/>
          <p:cNvSpPr/>
          <p:nvPr/>
        </p:nvSpPr>
        <p:spPr>
          <a:xfrm>
            <a:off x="9763522" y="3111500"/>
            <a:ext cx="646747"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+0.0725</a:t>
            </a:r>
            <a:endParaRPr lang="en-US" sz="1200" dirty="0"/>
          </a:p>
        </p:txBody>
      </p:sp>
      <p:sp>
        <p:nvSpPr>
          <p:cNvPr id="13" name="Text 10"/>
          <p:cNvSpPr/>
          <p:nvPr/>
        </p:nvSpPr>
        <p:spPr>
          <a:xfrm>
            <a:off x="7198122" y="3421382"/>
            <a:ext cx="876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213A"/>
                </a:solidFill>
                <a:latin typeface="IBM Plex Sans" pitchFamily="34" charset="0"/>
                <a:ea typeface="IBM Plex Sans" pitchFamily="34" charset="-122"/>
                <a:cs typeface="IBM Plex Sans" pitchFamily="34" charset="-120"/>
              </a:rPr>
              <a:t>Fold 2</a:t>
            </a:r>
            <a:endParaRPr lang="en-US" sz="1200" dirty="0"/>
          </a:p>
        </p:txBody>
      </p:sp>
      <p:sp>
        <p:nvSpPr>
          <p:cNvPr id="14" name="Shape 11"/>
          <p:cNvSpPr/>
          <p:nvPr/>
        </p:nvSpPr>
        <p:spPr>
          <a:xfrm>
            <a:off x="8125222" y="3431539"/>
            <a:ext cx="1549400" cy="177800"/>
          </a:xfrm>
          <a:prstGeom prst="roundRect">
            <a:avLst>
              <a:gd name="adj" fmla="val 28571"/>
            </a:avLst>
          </a:prstGeom>
          <a:solidFill>
            <a:srgbClr val="B8561A"/>
          </a:solidFill>
          <a:ln/>
        </p:spPr>
      </p:sp>
      <p:sp>
        <p:nvSpPr>
          <p:cNvPr id="15" name="Text 12"/>
          <p:cNvSpPr/>
          <p:nvPr/>
        </p:nvSpPr>
        <p:spPr>
          <a:xfrm>
            <a:off x="9776222" y="3413761"/>
            <a:ext cx="646747"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+0.0733</a:t>
            </a:r>
            <a:endParaRPr lang="en-US" sz="1200" dirty="0"/>
          </a:p>
        </p:txBody>
      </p:sp>
      <p:sp>
        <p:nvSpPr>
          <p:cNvPr id="16" name="Text 13"/>
          <p:cNvSpPr/>
          <p:nvPr/>
        </p:nvSpPr>
        <p:spPr>
          <a:xfrm>
            <a:off x="7198122" y="3723639"/>
            <a:ext cx="876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213A"/>
                </a:solidFill>
                <a:latin typeface="IBM Plex Sans" pitchFamily="34" charset="0"/>
                <a:ea typeface="IBM Plex Sans" pitchFamily="34" charset="-122"/>
                <a:cs typeface="IBM Plex Sans" pitchFamily="34" charset="-120"/>
              </a:rPr>
              <a:t>Fold 3</a:t>
            </a:r>
            <a:endParaRPr lang="en-US" sz="1200" dirty="0"/>
          </a:p>
        </p:txBody>
      </p:sp>
      <p:sp>
        <p:nvSpPr>
          <p:cNvPr id="17" name="Shape 14"/>
          <p:cNvSpPr/>
          <p:nvPr/>
        </p:nvSpPr>
        <p:spPr>
          <a:xfrm>
            <a:off x="8125222" y="3733800"/>
            <a:ext cx="1555750" cy="177800"/>
          </a:xfrm>
          <a:prstGeom prst="roundRect">
            <a:avLst>
              <a:gd name="adj" fmla="val 28571"/>
            </a:avLst>
          </a:prstGeom>
          <a:solidFill>
            <a:srgbClr val="B8561A"/>
          </a:solidFill>
          <a:ln/>
        </p:spPr>
      </p:sp>
      <p:sp>
        <p:nvSpPr>
          <p:cNvPr id="18" name="Text 15"/>
          <p:cNvSpPr/>
          <p:nvPr/>
        </p:nvSpPr>
        <p:spPr>
          <a:xfrm>
            <a:off x="9782572" y="3716021"/>
            <a:ext cx="646747"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+0.0735</a:t>
            </a:r>
            <a:endParaRPr lang="en-US" sz="1200" dirty="0"/>
          </a:p>
        </p:txBody>
      </p:sp>
      <p:sp>
        <p:nvSpPr>
          <p:cNvPr id="19" name="Text 16"/>
          <p:cNvSpPr/>
          <p:nvPr/>
        </p:nvSpPr>
        <p:spPr>
          <a:xfrm>
            <a:off x="7198122" y="4025900"/>
            <a:ext cx="876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213A"/>
                </a:solidFill>
                <a:latin typeface="IBM Plex Sans" pitchFamily="34" charset="0"/>
                <a:ea typeface="IBM Plex Sans" pitchFamily="34" charset="-122"/>
                <a:cs typeface="IBM Plex Sans" pitchFamily="34" charset="-120"/>
              </a:rPr>
              <a:t>Fold 4</a:t>
            </a:r>
            <a:endParaRPr lang="en-US" sz="1200" dirty="0"/>
          </a:p>
        </p:txBody>
      </p:sp>
      <p:sp>
        <p:nvSpPr>
          <p:cNvPr id="20" name="Shape 17"/>
          <p:cNvSpPr/>
          <p:nvPr/>
        </p:nvSpPr>
        <p:spPr>
          <a:xfrm>
            <a:off x="8125222" y="4036064"/>
            <a:ext cx="1771650" cy="177800"/>
          </a:xfrm>
          <a:prstGeom prst="roundRect">
            <a:avLst>
              <a:gd name="adj" fmla="val 28571"/>
            </a:avLst>
          </a:prstGeom>
          <a:solidFill>
            <a:srgbClr val="B8561A"/>
          </a:solidFill>
          <a:ln/>
        </p:spPr>
      </p:sp>
      <p:sp>
        <p:nvSpPr>
          <p:cNvPr id="21" name="Text 18"/>
          <p:cNvSpPr/>
          <p:nvPr/>
        </p:nvSpPr>
        <p:spPr>
          <a:xfrm>
            <a:off x="9998472" y="4018279"/>
            <a:ext cx="646747"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+0.0838</a:t>
            </a:r>
            <a:endParaRPr lang="en-US" sz="1200" dirty="0"/>
          </a:p>
        </p:txBody>
      </p:sp>
      <p:sp>
        <p:nvSpPr>
          <p:cNvPr id="22" name="Text 19"/>
          <p:cNvSpPr/>
          <p:nvPr/>
        </p:nvSpPr>
        <p:spPr>
          <a:xfrm>
            <a:off x="7198122" y="4328164"/>
            <a:ext cx="8763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213A"/>
                </a:solidFill>
                <a:latin typeface="IBM Plex Sans" pitchFamily="34" charset="0"/>
                <a:ea typeface="IBM Plex Sans" pitchFamily="34" charset="-122"/>
                <a:cs typeface="IBM Plex Sans" pitchFamily="34" charset="-120"/>
              </a:rPr>
              <a:t>Fold 5</a:t>
            </a:r>
            <a:endParaRPr lang="en-US" sz="1200" dirty="0"/>
          </a:p>
        </p:txBody>
      </p:sp>
      <p:sp>
        <p:nvSpPr>
          <p:cNvPr id="23" name="Shape 20"/>
          <p:cNvSpPr/>
          <p:nvPr/>
        </p:nvSpPr>
        <p:spPr>
          <a:xfrm>
            <a:off x="8125222" y="4338321"/>
            <a:ext cx="1631950" cy="177800"/>
          </a:xfrm>
          <a:prstGeom prst="roundRect">
            <a:avLst>
              <a:gd name="adj" fmla="val 28571"/>
            </a:avLst>
          </a:prstGeom>
          <a:solidFill>
            <a:srgbClr val="B8561A"/>
          </a:solidFill>
          <a:ln/>
        </p:spPr>
      </p:sp>
      <p:sp>
        <p:nvSpPr>
          <p:cNvPr id="24" name="Text 21"/>
          <p:cNvSpPr/>
          <p:nvPr/>
        </p:nvSpPr>
        <p:spPr>
          <a:xfrm>
            <a:off x="9858772" y="4320542"/>
            <a:ext cx="646747"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+0.0772</a:t>
            </a:r>
            <a:endParaRPr lang="en-US" sz="1200" dirty="0"/>
          </a:p>
        </p:txBody>
      </p:sp>
      <p:sp>
        <p:nvSpPr>
          <p:cNvPr id="25" name="Text 22"/>
          <p:cNvSpPr/>
          <p:nvPr/>
        </p:nvSpPr>
        <p:spPr>
          <a:xfrm>
            <a:off x="7198122" y="4622800"/>
            <a:ext cx="41747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Paired t-test: t = 36.36 (only a hint, the folds share data).</a:t>
            </a:r>
            <a:endParaRPr lang="en-US" sz="1200" dirty="0"/>
          </a:p>
        </p:txBody>
      </p:sp>
      <p:sp>
        <p:nvSpPr>
          <p:cNvPr id="26" name="Text 2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Can tuning improve it?</a:t>
            </a:r>
            <a:endParaRPr lang="en-US" sz="1200" dirty="0"/>
          </a:p>
        </p:txBody>
      </p:sp>
      <p:sp>
        <p:nvSpPr>
          <p:cNvPr id="27" name="Text 2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TUNING</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Most of the gain came from the model, not the tuning</a:t>
            </a:r>
            <a:endParaRPr lang="en-US" sz="3200" dirty="0"/>
          </a:p>
        </p:txBody>
      </p:sp>
      <p:sp>
        <p:nvSpPr>
          <p:cNvPr id="4" name="Shape 2"/>
          <p:cNvSpPr/>
          <p:nvPr/>
        </p:nvSpPr>
        <p:spPr>
          <a:xfrm>
            <a:off x="815975" y="1730375"/>
            <a:ext cx="6274911" cy="3676650"/>
          </a:xfrm>
          <a:prstGeom prst="roundRect">
            <a:avLst>
              <a:gd name="adj" fmla="val 2677"/>
            </a:avLst>
          </a:prstGeom>
          <a:solidFill>
            <a:srgbClr val="FDFCF9"/>
          </a:solidFill>
          <a:ln w="6350">
            <a:solidFill>
              <a:srgbClr val="E2E0D8"/>
            </a:solidFill>
            <a:prstDash val="solid"/>
          </a:ln>
        </p:spPr>
      </p:sp>
      <p:sp>
        <p:nvSpPr>
          <p:cNvPr id="5" name="Text 3"/>
          <p:cNvSpPr/>
          <p:nvPr/>
        </p:nvSpPr>
        <p:spPr>
          <a:xfrm>
            <a:off x="1021080" y="1935479"/>
            <a:ext cx="604064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Test RMSE at each step</a:t>
            </a:r>
            <a:endParaRPr lang="en-US" sz="1600" dirty="0"/>
          </a:p>
        </p:txBody>
      </p:sp>
      <p:sp>
        <p:nvSpPr>
          <p:cNvPr id="6" name="Text 4"/>
          <p:cNvSpPr/>
          <p:nvPr/>
        </p:nvSpPr>
        <p:spPr>
          <a:xfrm>
            <a:off x="1658438" y="2580642"/>
            <a:ext cx="578453"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$4.76</a:t>
            </a:r>
            <a:endParaRPr lang="en-US" sz="1400" dirty="0"/>
          </a:p>
        </p:txBody>
      </p:sp>
      <p:sp>
        <p:nvSpPr>
          <p:cNvPr id="7" name="Shape 5"/>
          <p:cNvSpPr/>
          <p:nvPr/>
        </p:nvSpPr>
        <p:spPr>
          <a:xfrm>
            <a:off x="1344454" y="2880364"/>
            <a:ext cx="1206500" cy="2057400"/>
          </a:xfrm>
          <a:prstGeom prst="roundRect">
            <a:avLst>
              <a:gd name="adj" fmla="val 4211"/>
            </a:avLst>
          </a:prstGeom>
          <a:solidFill>
            <a:srgbClr val="8C97AB"/>
          </a:solidFill>
          <a:ln/>
        </p:spPr>
      </p:sp>
      <p:sp>
        <p:nvSpPr>
          <p:cNvPr id="8" name="Text 6"/>
          <p:cNvSpPr/>
          <p:nvPr/>
        </p:nvSpPr>
        <p:spPr>
          <a:xfrm>
            <a:off x="1326396" y="4988564"/>
            <a:ext cx="12425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Linear baseline</a:t>
            </a:r>
            <a:endParaRPr lang="en-US" sz="1200" dirty="0"/>
          </a:p>
        </p:txBody>
      </p:sp>
      <p:sp>
        <p:nvSpPr>
          <p:cNvPr id="9" name="Text 7"/>
          <p:cNvSpPr/>
          <p:nvPr/>
        </p:nvSpPr>
        <p:spPr>
          <a:xfrm>
            <a:off x="3581392" y="2655571"/>
            <a:ext cx="743998"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561A"/>
                </a:solidFill>
                <a:latin typeface="IBM Plex Sans" pitchFamily="34" charset="0"/>
                <a:ea typeface="IBM Plex Sans" pitchFamily="34" charset="-122"/>
                <a:cs typeface="IBM Plex Sans" pitchFamily="34" charset="-120"/>
              </a:rPr>
              <a:t>-18.1%</a:t>
            </a:r>
            <a:endParaRPr lang="en-US" sz="1400" dirty="0"/>
          </a:p>
        </p:txBody>
      </p:sp>
      <p:sp>
        <p:nvSpPr>
          <p:cNvPr id="10" name="Text 8"/>
          <p:cNvSpPr/>
          <p:nvPr/>
        </p:nvSpPr>
        <p:spPr>
          <a:xfrm>
            <a:off x="3664164" y="2955292"/>
            <a:ext cx="578453"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$3.90</a:t>
            </a:r>
            <a:endParaRPr lang="en-US" sz="1400" dirty="0"/>
          </a:p>
        </p:txBody>
      </p:sp>
      <p:sp>
        <p:nvSpPr>
          <p:cNvPr id="11" name="Shape 9"/>
          <p:cNvSpPr/>
          <p:nvPr/>
        </p:nvSpPr>
        <p:spPr>
          <a:xfrm>
            <a:off x="3350101" y="3255014"/>
            <a:ext cx="1206500" cy="1682750"/>
          </a:xfrm>
          <a:prstGeom prst="roundRect">
            <a:avLst>
              <a:gd name="adj" fmla="val 4211"/>
            </a:avLst>
          </a:prstGeom>
          <a:solidFill>
            <a:srgbClr val="2B5C8A"/>
          </a:solidFill>
          <a:ln/>
        </p:spPr>
      </p:sp>
      <p:sp>
        <p:nvSpPr>
          <p:cNvPr id="12" name="Text 10"/>
          <p:cNvSpPr/>
          <p:nvPr/>
        </p:nvSpPr>
        <p:spPr>
          <a:xfrm>
            <a:off x="3214878" y="4988564"/>
            <a:ext cx="147694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Gradient Boosting</a:t>
            </a:r>
            <a:endParaRPr lang="en-US" sz="1200" dirty="0"/>
          </a:p>
        </p:txBody>
      </p:sp>
      <p:sp>
        <p:nvSpPr>
          <p:cNvPr id="13" name="Text 11"/>
          <p:cNvSpPr/>
          <p:nvPr/>
        </p:nvSpPr>
        <p:spPr>
          <a:xfrm>
            <a:off x="5651127" y="2668271"/>
            <a:ext cx="615982"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561A"/>
                </a:solidFill>
                <a:latin typeface="IBM Plex Sans" pitchFamily="34" charset="0"/>
                <a:ea typeface="IBM Plex Sans" pitchFamily="34" charset="-122"/>
                <a:cs typeface="IBM Plex Sans" pitchFamily="34" charset="-120"/>
              </a:rPr>
              <a:t>-0.9%</a:t>
            </a:r>
            <a:endParaRPr lang="en-US" sz="1400" dirty="0"/>
          </a:p>
        </p:txBody>
      </p:sp>
      <p:sp>
        <p:nvSpPr>
          <p:cNvPr id="14" name="Text 12"/>
          <p:cNvSpPr/>
          <p:nvPr/>
        </p:nvSpPr>
        <p:spPr>
          <a:xfrm>
            <a:off x="5669891" y="2967992"/>
            <a:ext cx="578453"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$3.87</a:t>
            </a:r>
            <a:endParaRPr lang="en-US" sz="1400" dirty="0"/>
          </a:p>
        </p:txBody>
      </p:sp>
      <p:sp>
        <p:nvSpPr>
          <p:cNvPr id="15" name="Shape 13"/>
          <p:cNvSpPr/>
          <p:nvPr/>
        </p:nvSpPr>
        <p:spPr>
          <a:xfrm>
            <a:off x="5355828" y="3267714"/>
            <a:ext cx="1206500" cy="1670050"/>
          </a:xfrm>
          <a:prstGeom prst="roundRect">
            <a:avLst>
              <a:gd name="adj" fmla="val 4211"/>
            </a:avLst>
          </a:prstGeom>
          <a:solidFill>
            <a:srgbClr val="B8561A"/>
          </a:solidFill>
          <a:ln/>
        </p:spPr>
      </p:sp>
      <p:sp>
        <p:nvSpPr>
          <p:cNvPr id="16" name="Text 14"/>
          <p:cNvSpPr/>
          <p:nvPr/>
        </p:nvSpPr>
        <p:spPr>
          <a:xfrm>
            <a:off x="5474724" y="4988564"/>
            <a:ext cx="96878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After tuning</a:t>
            </a:r>
            <a:endParaRPr lang="en-US" sz="1200" dirty="0"/>
          </a:p>
        </p:txBody>
      </p:sp>
      <p:sp>
        <p:nvSpPr>
          <p:cNvPr id="17" name="Shape 15"/>
          <p:cNvSpPr/>
          <p:nvPr/>
        </p:nvSpPr>
        <p:spPr>
          <a:xfrm>
            <a:off x="7300437" y="1730375"/>
            <a:ext cx="4075589" cy="3676650"/>
          </a:xfrm>
          <a:prstGeom prst="roundRect">
            <a:avLst>
              <a:gd name="adj" fmla="val 2677"/>
            </a:avLst>
          </a:prstGeom>
          <a:solidFill>
            <a:srgbClr val="FDFCF9"/>
          </a:solidFill>
          <a:ln w="6350">
            <a:solidFill>
              <a:srgbClr val="E2E0D8"/>
            </a:solidFill>
            <a:prstDash val="solid"/>
          </a:ln>
        </p:spPr>
      </p:sp>
      <p:sp>
        <p:nvSpPr>
          <p:cNvPr id="18" name="Text 16"/>
          <p:cNvSpPr/>
          <p:nvPr/>
        </p:nvSpPr>
        <p:spPr>
          <a:xfrm>
            <a:off x="7505541" y="1935479"/>
            <a:ext cx="37753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Best settings found</a:t>
            </a:r>
            <a:endParaRPr lang="en-US" sz="1600" dirty="0"/>
          </a:p>
        </p:txBody>
      </p:sp>
      <p:sp>
        <p:nvSpPr>
          <p:cNvPr id="19" name="Text 17"/>
          <p:cNvSpPr/>
          <p:nvPr/>
        </p:nvSpPr>
        <p:spPr>
          <a:xfrm>
            <a:off x="7508716" y="2271396"/>
            <a:ext cx="3659029" cy="455930"/>
          </a:xfrm>
          <a:prstGeom prst="roundRect">
            <a:avLst>
              <a:gd name="adj" fmla="val 16017"/>
            </a:avLst>
          </a:prstGeom>
          <a:solidFill>
            <a:srgbClr val="FDFCF9"/>
          </a:solidFill>
          <a:ln w="6350">
            <a:solidFill>
              <a:srgbClr val="E2E0D8"/>
            </a:solidFill>
            <a:prstDash val="solid"/>
          </a:ln>
        </p:spPr>
        <p:txBody>
          <a:bodyPr wrap="square" lIns="132917" tIns="82117" rIns="32404" bIns="56717"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learning rate 0.1</a:t>
            </a:r>
            <a:endParaRPr lang="en-US" sz="1400" dirty="0"/>
          </a:p>
        </p:txBody>
      </p:sp>
      <p:sp>
        <p:nvSpPr>
          <p:cNvPr id="20" name="Text 18"/>
          <p:cNvSpPr/>
          <p:nvPr/>
        </p:nvSpPr>
        <p:spPr>
          <a:xfrm>
            <a:off x="7508716" y="2822575"/>
            <a:ext cx="3659029" cy="455930"/>
          </a:xfrm>
          <a:prstGeom prst="roundRect">
            <a:avLst>
              <a:gd name="adj" fmla="val 16017"/>
            </a:avLst>
          </a:prstGeom>
          <a:solidFill>
            <a:srgbClr val="FDFCF9"/>
          </a:solidFill>
          <a:ln w="6350">
            <a:solidFill>
              <a:srgbClr val="E2E0D8"/>
            </a:solidFill>
            <a:prstDash val="solid"/>
          </a:ln>
        </p:spPr>
        <p:txBody>
          <a:bodyPr wrap="square" lIns="132917" tIns="82117" rIns="32404" bIns="56717"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500 rounds</a:t>
            </a:r>
            <a:endParaRPr lang="en-US" sz="1400" dirty="0"/>
          </a:p>
        </p:txBody>
      </p:sp>
      <p:sp>
        <p:nvSpPr>
          <p:cNvPr id="21" name="Text 19"/>
          <p:cNvSpPr/>
          <p:nvPr/>
        </p:nvSpPr>
        <p:spPr>
          <a:xfrm>
            <a:off x="7508716" y="3373754"/>
            <a:ext cx="3659029" cy="455930"/>
          </a:xfrm>
          <a:prstGeom prst="roundRect">
            <a:avLst>
              <a:gd name="adj" fmla="val 16017"/>
            </a:avLst>
          </a:prstGeom>
          <a:solidFill>
            <a:srgbClr val="FDFCF9"/>
          </a:solidFill>
          <a:ln w="6350">
            <a:solidFill>
              <a:srgbClr val="E2E0D8"/>
            </a:solidFill>
            <a:prstDash val="solid"/>
          </a:ln>
        </p:spPr>
        <p:txBody>
          <a:bodyPr wrap="square" lIns="132917" tIns="82117" rIns="32404" bIns="56717"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31 leaves per tree</a:t>
            </a:r>
            <a:endParaRPr lang="en-US" sz="1400" dirty="0"/>
          </a:p>
        </p:txBody>
      </p:sp>
      <p:sp>
        <p:nvSpPr>
          <p:cNvPr id="22" name="Text 20"/>
          <p:cNvSpPr/>
          <p:nvPr/>
        </p:nvSpPr>
        <p:spPr>
          <a:xfrm>
            <a:off x="7508716" y="3924939"/>
            <a:ext cx="3659029" cy="455930"/>
          </a:xfrm>
          <a:prstGeom prst="roundRect">
            <a:avLst>
              <a:gd name="adj" fmla="val 16017"/>
            </a:avLst>
          </a:prstGeom>
          <a:solidFill>
            <a:srgbClr val="FDFCF9"/>
          </a:solidFill>
          <a:ln w="6350">
            <a:solidFill>
              <a:srgbClr val="E2E0D8"/>
            </a:solidFill>
            <a:prstDash val="solid"/>
          </a:ln>
        </p:spPr>
        <p:txBody>
          <a:bodyPr wrap="square" lIns="132917" tIns="82117" rIns="32404" bIns="56717" rtlCol="0" anchor="t">
            <a:normAutofit/>
          </a:bodyPr>
          <a:lstStyle/>
          <a:p>
            <a:pPr algn="l" indent="0" marL="0">
              <a:lnSpc>
                <a:spcPts val="1960"/>
              </a:lnSpc>
              <a:buNone/>
            </a:pPr>
            <a:r>
              <a:rPr lang="en-US" sz="1400" dirty="0">
                <a:solidFill>
                  <a:srgbClr val="16213A"/>
                </a:solidFill>
                <a:latin typeface="IBM Plex Sans" pitchFamily="34" charset="0"/>
                <a:ea typeface="IBM Plex Sans" pitchFamily="34" charset="-122"/>
                <a:cs typeface="IBM Plex Sans" pitchFamily="34" charset="-120"/>
              </a:rPr>
              <a:t>smallest leaf 50 rows</a:t>
            </a:r>
            <a:endParaRPr lang="en-US" sz="1400" dirty="0"/>
          </a:p>
        </p:txBody>
      </p:sp>
      <p:sp>
        <p:nvSpPr>
          <p:cNvPr id="23" name="Text 21"/>
          <p:cNvSpPr/>
          <p:nvPr/>
        </p:nvSpPr>
        <p:spPr>
          <a:xfrm>
            <a:off x="7505541" y="4472942"/>
            <a:ext cx="3775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10 of 108 combinations tried.</a:t>
            </a:r>
            <a:endParaRPr lang="en-US" sz="1200" dirty="0"/>
          </a:p>
        </p:txBody>
      </p:sp>
      <p:sp>
        <p:nvSpPr>
          <p:cNvPr id="24" name="Text 2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The final comparison on the test set</a:t>
            </a:r>
            <a:endParaRPr lang="en-US" sz="1200" dirty="0"/>
          </a:p>
        </p:txBody>
      </p:sp>
      <p:sp>
        <p:nvSpPr>
          <p:cNvPr id="25" name="Text 2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THE RESULT</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IBM Plex Sans" pitchFamily="34" charset="0"/>
                <a:ea typeface="IBM Plex Sans" pitchFamily="34" charset="-122"/>
                <a:cs typeface="IBM Plex Sans" pitchFamily="34" charset="-120"/>
              </a:rPr>
              <a:t>Baseline vs tuned model, on the test set</a:t>
            </a:r>
            <a:endParaRPr lang="en-US" sz="3200" dirty="0"/>
          </a:p>
        </p:txBody>
      </p:sp>
      <p:sp>
        <p:nvSpPr>
          <p:cNvPr id="4" name="Shape 2"/>
          <p:cNvSpPr/>
          <p:nvPr/>
        </p:nvSpPr>
        <p:spPr>
          <a:xfrm>
            <a:off x="815975" y="1730375"/>
            <a:ext cx="3380264" cy="3441700"/>
          </a:xfrm>
          <a:prstGeom prst="roundRect">
            <a:avLst>
              <a:gd name="adj" fmla="val 2912"/>
            </a:avLst>
          </a:prstGeom>
          <a:solidFill>
            <a:srgbClr val="1F2D4D"/>
          </a:solidFill>
          <a:ln w="6350">
            <a:solidFill>
              <a:srgbClr val="33466E"/>
            </a:solidFill>
            <a:prstDash val="solid"/>
          </a:ln>
        </p:spPr>
      </p:sp>
      <p:sp>
        <p:nvSpPr>
          <p:cNvPr id="5" name="Text 3"/>
          <p:cNvSpPr/>
          <p:nvPr/>
        </p:nvSpPr>
        <p:spPr>
          <a:xfrm>
            <a:off x="976529" y="1935479"/>
            <a:ext cx="3059155" cy="23876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F0A35E"/>
                </a:solidFill>
                <a:latin typeface="IBM Plex Sans" pitchFamily="34" charset="0"/>
                <a:ea typeface="IBM Plex Sans" pitchFamily="34" charset="-122"/>
                <a:cs typeface="IBM Plex Sans" pitchFamily="34" charset="-120"/>
              </a:rPr>
              <a:t>MAE ($)</a:t>
            </a:r>
            <a:endParaRPr lang="en-US" sz="1200" dirty="0"/>
          </a:p>
        </p:txBody>
      </p:sp>
      <p:sp>
        <p:nvSpPr>
          <p:cNvPr id="6" name="Text 4"/>
          <p:cNvSpPr/>
          <p:nvPr/>
        </p:nvSpPr>
        <p:spPr>
          <a:xfrm>
            <a:off x="1844437" y="2237742"/>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2.15</a:t>
            </a:r>
            <a:endParaRPr lang="en-US" sz="1200" dirty="0"/>
          </a:p>
        </p:txBody>
      </p:sp>
      <p:sp>
        <p:nvSpPr>
          <p:cNvPr id="7" name="Shape 5"/>
          <p:cNvSpPr/>
          <p:nvPr/>
        </p:nvSpPr>
        <p:spPr>
          <a:xfrm>
            <a:off x="1591707" y="2489200"/>
            <a:ext cx="825500" cy="1530350"/>
          </a:xfrm>
          <a:prstGeom prst="roundRect">
            <a:avLst>
              <a:gd name="adj" fmla="val 4615"/>
            </a:avLst>
          </a:prstGeom>
          <a:solidFill>
            <a:srgbClr val="C9D2E0"/>
          </a:solidFill>
          <a:ln/>
        </p:spPr>
      </p:sp>
      <p:sp>
        <p:nvSpPr>
          <p:cNvPr id="8" name="Text 6"/>
          <p:cNvSpPr/>
          <p:nvPr/>
        </p:nvSpPr>
        <p:spPr>
          <a:xfrm>
            <a:off x="2847737" y="2675892"/>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1.54</a:t>
            </a:r>
            <a:endParaRPr lang="en-US" sz="1200" dirty="0"/>
          </a:p>
        </p:txBody>
      </p:sp>
      <p:sp>
        <p:nvSpPr>
          <p:cNvPr id="9" name="Shape 7"/>
          <p:cNvSpPr/>
          <p:nvPr/>
        </p:nvSpPr>
        <p:spPr>
          <a:xfrm>
            <a:off x="2595007" y="2927350"/>
            <a:ext cx="825500" cy="1092200"/>
          </a:xfrm>
          <a:prstGeom prst="roundRect">
            <a:avLst>
              <a:gd name="adj" fmla="val 4615"/>
            </a:avLst>
          </a:prstGeom>
          <a:solidFill>
            <a:srgbClr val="F0A35E"/>
          </a:solidFill>
          <a:ln/>
        </p:spPr>
      </p:sp>
      <p:sp>
        <p:nvSpPr>
          <p:cNvPr id="10" name="Text 8"/>
          <p:cNvSpPr/>
          <p:nvPr/>
        </p:nvSpPr>
        <p:spPr>
          <a:xfrm>
            <a:off x="1566307" y="4108450"/>
            <a:ext cx="876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Baseline</a:t>
            </a:r>
            <a:endParaRPr lang="en-US" sz="1200" dirty="0"/>
          </a:p>
        </p:txBody>
      </p:sp>
      <p:sp>
        <p:nvSpPr>
          <p:cNvPr id="11" name="Text 9"/>
          <p:cNvSpPr/>
          <p:nvPr/>
        </p:nvSpPr>
        <p:spPr>
          <a:xfrm>
            <a:off x="2569607" y="4108450"/>
            <a:ext cx="876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Final</a:t>
            </a:r>
            <a:endParaRPr lang="en-US" sz="1200" dirty="0"/>
          </a:p>
        </p:txBody>
      </p:sp>
      <p:sp>
        <p:nvSpPr>
          <p:cNvPr id="12" name="Text 10"/>
          <p:cNvSpPr/>
          <p:nvPr/>
        </p:nvSpPr>
        <p:spPr>
          <a:xfrm>
            <a:off x="976529" y="4410714"/>
            <a:ext cx="3059155"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F0A35E"/>
                </a:solidFill>
                <a:latin typeface="Source Serif 4" pitchFamily="18" charset="0"/>
                <a:ea typeface="Source Serif 4" pitchFamily="18" charset="-122"/>
                <a:cs typeface="Source Serif 4" pitchFamily="18" charset="-120"/>
              </a:rPr>
              <a:t>-28.5%</a:t>
            </a:r>
            <a:endParaRPr lang="en-US" sz="2200" dirty="0"/>
          </a:p>
        </p:txBody>
      </p:sp>
      <p:sp>
        <p:nvSpPr>
          <p:cNvPr id="13" name="Shape 11"/>
          <p:cNvSpPr/>
          <p:nvPr/>
        </p:nvSpPr>
        <p:spPr>
          <a:xfrm>
            <a:off x="4405789" y="1730375"/>
            <a:ext cx="3380343" cy="3441700"/>
          </a:xfrm>
          <a:prstGeom prst="roundRect">
            <a:avLst>
              <a:gd name="adj" fmla="val 2912"/>
            </a:avLst>
          </a:prstGeom>
          <a:solidFill>
            <a:srgbClr val="1F2D4D"/>
          </a:solidFill>
          <a:ln w="6350">
            <a:solidFill>
              <a:srgbClr val="33466E"/>
            </a:solidFill>
            <a:prstDash val="solid"/>
          </a:ln>
        </p:spPr>
      </p:sp>
      <p:sp>
        <p:nvSpPr>
          <p:cNvPr id="14" name="Text 12"/>
          <p:cNvSpPr/>
          <p:nvPr/>
        </p:nvSpPr>
        <p:spPr>
          <a:xfrm>
            <a:off x="4566342" y="1935479"/>
            <a:ext cx="3059237" cy="23876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F0A35E"/>
                </a:solidFill>
                <a:latin typeface="IBM Plex Sans" pitchFamily="34" charset="0"/>
                <a:ea typeface="IBM Plex Sans" pitchFamily="34" charset="-122"/>
                <a:cs typeface="IBM Plex Sans" pitchFamily="34" charset="-120"/>
              </a:rPr>
              <a:t>RMSE ($)</a:t>
            </a:r>
            <a:endParaRPr lang="en-US" sz="1200" dirty="0"/>
          </a:p>
        </p:txBody>
      </p:sp>
      <p:sp>
        <p:nvSpPr>
          <p:cNvPr id="15" name="Text 13"/>
          <p:cNvSpPr/>
          <p:nvPr/>
        </p:nvSpPr>
        <p:spPr>
          <a:xfrm>
            <a:off x="5434251" y="2237742"/>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4.76</a:t>
            </a:r>
            <a:endParaRPr lang="en-US" sz="1200" dirty="0"/>
          </a:p>
        </p:txBody>
      </p:sp>
      <p:sp>
        <p:nvSpPr>
          <p:cNvPr id="16" name="Shape 14"/>
          <p:cNvSpPr/>
          <p:nvPr/>
        </p:nvSpPr>
        <p:spPr>
          <a:xfrm>
            <a:off x="5181521" y="2489200"/>
            <a:ext cx="825500" cy="1695450"/>
          </a:xfrm>
          <a:prstGeom prst="roundRect">
            <a:avLst>
              <a:gd name="adj" fmla="val 4615"/>
            </a:avLst>
          </a:prstGeom>
          <a:solidFill>
            <a:srgbClr val="C9D2E0"/>
          </a:solidFill>
          <a:ln/>
        </p:spPr>
      </p:sp>
      <p:sp>
        <p:nvSpPr>
          <p:cNvPr id="17" name="Text 15"/>
          <p:cNvSpPr/>
          <p:nvPr/>
        </p:nvSpPr>
        <p:spPr>
          <a:xfrm>
            <a:off x="6437551" y="2561592"/>
            <a:ext cx="37076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3.87</a:t>
            </a:r>
            <a:endParaRPr lang="en-US" sz="1200" dirty="0"/>
          </a:p>
        </p:txBody>
      </p:sp>
      <p:sp>
        <p:nvSpPr>
          <p:cNvPr id="18" name="Shape 16"/>
          <p:cNvSpPr/>
          <p:nvPr/>
        </p:nvSpPr>
        <p:spPr>
          <a:xfrm>
            <a:off x="6184821" y="2813050"/>
            <a:ext cx="825500" cy="1371600"/>
          </a:xfrm>
          <a:prstGeom prst="roundRect">
            <a:avLst>
              <a:gd name="adj" fmla="val 4615"/>
            </a:avLst>
          </a:prstGeom>
          <a:solidFill>
            <a:srgbClr val="F0A35E"/>
          </a:solidFill>
          <a:ln/>
        </p:spPr>
      </p:sp>
      <p:sp>
        <p:nvSpPr>
          <p:cNvPr id="19" name="Text 17"/>
          <p:cNvSpPr/>
          <p:nvPr/>
        </p:nvSpPr>
        <p:spPr>
          <a:xfrm>
            <a:off x="5156121" y="4273550"/>
            <a:ext cx="876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Baseline</a:t>
            </a:r>
            <a:endParaRPr lang="en-US" sz="1200" dirty="0"/>
          </a:p>
        </p:txBody>
      </p:sp>
      <p:sp>
        <p:nvSpPr>
          <p:cNvPr id="20" name="Text 18"/>
          <p:cNvSpPr/>
          <p:nvPr/>
        </p:nvSpPr>
        <p:spPr>
          <a:xfrm>
            <a:off x="6159421" y="4273550"/>
            <a:ext cx="876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Final</a:t>
            </a:r>
            <a:endParaRPr lang="en-US" sz="1200" dirty="0"/>
          </a:p>
        </p:txBody>
      </p:sp>
      <p:sp>
        <p:nvSpPr>
          <p:cNvPr id="21" name="Text 19"/>
          <p:cNvSpPr/>
          <p:nvPr/>
        </p:nvSpPr>
        <p:spPr>
          <a:xfrm>
            <a:off x="4566342" y="4575814"/>
            <a:ext cx="3059237"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F0A35E"/>
                </a:solidFill>
                <a:latin typeface="Source Serif 4" pitchFamily="18" charset="0"/>
                <a:ea typeface="Source Serif 4" pitchFamily="18" charset="-122"/>
                <a:cs typeface="Source Serif 4" pitchFamily="18" charset="-120"/>
              </a:rPr>
              <a:t>-18.8%</a:t>
            </a:r>
            <a:endParaRPr lang="en-US" sz="2200" dirty="0"/>
          </a:p>
        </p:txBody>
      </p:sp>
      <p:sp>
        <p:nvSpPr>
          <p:cNvPr id="22" name="Shape 20"/>
          <p:cNvSpPr/>
          <p:nvPr/>
        </p:nvSpPr>
        <p:spPr>
          <a:xfrm>
            <a:off x="7995682" y="1730375"/>
            <a:ext cx="3380343" cy="3441700"/>
          </a:xfrm>
          <a:prstGeom prst="roundRect">
            <a:avLst>
              <a:gd name="adj" fmla="val 2912"/>
            </a:avLst>
          </a:prstGeom>
          <a:solidFill>
            <a:srgbClr val="1F2D4D"/>
          </a:solidFill>
          <a:ln w="6350">
            <a:solidFill>
              <a:srgbClr val="33466E"/>
            </a:solidFill>
            <a:prstDash val="solid"/>
          </a:ln>
        </p:spPr>
      </p:sp>
      <p:sp>
        <p:nvSpPr>
          <p:cNvPr id="23" name="Text 21"/>
          <p:cNvSpPr/>
          <p:nvPr/>
        </p:nvSpPr>
        <p:spPr>
          <a:xfrm>
            <a:off x="8156235" y="1935479"/>
            <a:ext cx="3059237" cy="23876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F0A35E"/>
                </a:solidFill>
                <a:latin typeface="IBM Plex Sans" pitchFamily="34" charset="0"/>
                <a:ea typeface="IBM Plex Sans" pitchFamily="34" charset="-122"/>
                <a:cs typeface="IBM Plex Sans" pitchFamily="34" charset="-120"/>
              </a:rPr>
              <a:t>R²</a:t>
            </a:r>
            <a:endParaRPr lang="en-US" sz="1200" dirty="0"/>
          </a:p>
        </p:txBody>
      </p:sp>
      <p:sp>
        <p:nvSpPr>
          <p:cNvPr id="24" name="Text 22"/>
          <p:cNvSpPr/>
          <p:nvPr/>
        </p:nvSpPr>
        <p:spPr>
          <a:xfrm>
            <a:off x="8978424" y="2383792"/>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0.752</a:t>
            </a:r>
            <a:endParaRPr lang="en-US" sz="1200" dirty="0"/>
          </a:p>
        </p:txBody>
      </p:sp>
      <p:sp>
        <p:nvSpPr>
          <p:cNvPr id="25" name="Shape 23"/>
          <p:cNvSpPr/>
          <p:nvPr/>
        </p:nvSpPr>
        <p:spPr>
          <a:xfrm>
            <a:off x="8771414" y="2635250"/>
            <a:ext cx="825500" cy="1339850"/>
          </a:xfrm>
          <a:prstGeom prst="roundRect">
            <a:avLst>
              <a:gd name="adj" fmla="val 4615"/>
            </a:avLst>
          </a:prstGeom>
          <a:solidFill>
            <a:srgbClr val="C9D2E0"/>
          </a:solidFill>
          <a:ln/>
        </p:spPr>
      </p:sp>
      <p:sp>
        <p:nvSpPr>
          <p:cNvPr id="26" name="Text 24"/>
          <p:cNvSpPr/>
          <p:nvPr/>
        </p:nvSpPr>
        <p:spPr>
          <a:xfrm>
            <a:off x="9981724" y="2237742"/>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0.837</a:t>
            </a:r>
            <a:endParaRPr lang="en-US" sz="1200" dirty="0"/>
          </a:p>
        </p:txBody>
      </p:sp>
      <p:sp>
        <p:nvSpPr>
          <p:cNvPr id="27" name="Shape 25"/>
          <p:cNvSpPr/>
          <p:nvPr/>
        </p:nvSpPr>
        <p:spPr>
          <a:xfrm>
            <a:off x="9774714" y="2489200"/>
            <a:ext cx="825500" cy="1485900"/>
          </a:xfrm>
          <a:prstGeom prst="roundRect">
            <a:avLst>
              <a:gd name="adj" fmla="val 4615"/>
            </a:avLst>
          </a:prstGeom>
          <a:solidFill>
            <a:srgbClr val="F0A35E"/>
          </a:solidFill>
          <a:ln/>
        </p:spPr>
      </p:sp>
      <p:sp>
        <p:nvSpPr>
          <p:cNvPr id="28" name="Text 26"/>
          <p:cNvSpPr/>
          <p:nvPr/>
        </p:nvSpPr>
        <p:spPr>
          <a:xfrm>
            <a:off x="8746014" y="4064000"/>
            <a:ext cx="876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Baseline</a:t>
            </a:r>
            <a:endParaRPr lang="en-US" sz="1200" dirty="0"/>
          </a:p>
        </p:txBody>
      </p:sp>
      <p:sp>
        <p:nvSpPr>
          <p:cNvPr id="29" name="Text 27"/>
          <p:cNvSpPr/>
          <p:nvPr/>
        </p:nvSpPr>
        <p:spPr>
          <a:xfrm>
            <a:off x="9749314" y="4064000"/>
            <a:ext cx="876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Final</a:t>
            </a:r>
            <a:endParaRPr lang="en-US" sz="1200" dirty="0"/>
          </a:p>
        </p:txBody>
      </p:sp>
      <p:sp>
        <p:nvSpPr>
          <p:cNvPr id="30" name="Text 28"/>
          <p:cNvSpPr/>
          <p:nvPr/>
        </p:nvSpPr>
        <p:spPr>
          <a:xfrm>
            <a:off x="8156235" y="4366264"/>
            <a:ext cx="3059237"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F0A35E"/>
                </a:solidFill>
                <a:latin typeface="Source Serif 4" pitchFamily="18" charset="0"/>
                <a:ea typeface="Source Serif 4" pitchFamily="18" charset="-122"/>
                <a:cs typeface="Source Serif 4" pitchFamily="18" charset="-120"/>
              </a:rPr>
              <a:t>+0.085</a:t>
            </a:r>
            <a:endParaRPr lang="en-US" sz="2200" dirty="0"/>
          </a:p>
        </p:txBody>
      </p:sp>
      <p:sp>
        <p:nvSpPr>
          <p:cNvPr id="31" name="Text 29"/>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35E"/>
                </a:solidFill>
                <a:latin typeface="IBM Plex Sans" pitchFamily="34" charset="0"/>
                <a:ea typeface="IBM Plex Sans" pitchFamily="34" charset="-122"/>
                <a:cs typeface="IBM Plex Sans" pitchFamily="34" charset="-120"/>
              </a:rPr>
              <a:t>→ The cost functions do not improve by the same amount</a:t>
            </a:r>
            <a:endParaRPr lang="en-US" sz="1200" dirty="0"/>
          </a:p>
        </p:txBody>
      </p:sp>
      <p:sp>
        <p:nvSpPr>
          <p:cNvPr id="32" name="Text 30"/>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COST FUNCTIONS</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Big misses shrink less than the average miss</a:t>
            </a:r>
            <a:endParaRPr lang="en-US" sz="3200" dirty="0"/>
          </a:p>
        </p:txBody>
      </p:sp>
      <p:sp>
        <p:nvSpPr>
          <p:cNvPr id="4" name="Shape 2"/>
          <p:cNvSpPr/>
          <p:nvPr/>
        </p:nvSpPr>
        <p:spPr>
          <a:xfrm>
            <a:off x="815975" y="1730375"/>
            <a:ext cx="6373019" cy="2965450"/>
          </a:xfrm>
          <a:prstGeom prst="roundRect">
            <a:avLst>
              <a:gd name="adj" fmla="val 3319"/>
            </a:avLst>
          </a:prstGeom>
          <a:solidFill>
            <a:srgbClr val="FDFCF9"/>
          </a:solidFill>
          <a:ln w="6350">
            <a:solidFill>
              <a:srgbClr val="E2E0D8"/>
            </a:solidFill>
            <a:prstDash val="solid"/>
          </a:ln>
        </p:spPr>
      </p:sp>
      <p:sp>
        <p:nvSpPr>
          <p:cNvPr id="5" name="Text 3"/>
          <p:cNvSpPr/>
          <p:nvPr/>
        </p:nvSpPr>
        <p:spPr>
          <a:xfrm>
            <a:off x="970280" y="1884679"/>
            <a:ext cx="62463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Error distribution and MAE by trip length</a:t>
            </a:r>
            <a:endParaRPr lang="en-US" sz="1600" dirty="0"/>
          </a:p>
        </p:txBody>
      </p:sp>
      <p:pic>
        <p:nvPicPr>
          <p:cNvPr id="6" name="Image 0" descr="Prediction error histogram for three models and the mean absolute error by distance band">    </p:cNvPr>
          <p:cNvPicPr>
            <a:picLocks noChangeAspect="1"/>
          </p:cNvPicPr>
          <p:nvPr/>
        </p:nvPicPr>
        <p:blipFill>
          <a:blip r:embed="rId1"/>
          <a:srcRect l="0" r="0" t="-41" b="-41"/>
          <a:stretch/>
        </p:blipFill>
        <p:spPr>
          <a:xfrm>
            <a:off x="970280" y="2230121"/>
            <a:ext cx="6604000" cy="2311400"/>
          </a:xfrm>
          <a:prstGeom prst="rect">
            <a:avLst/>
          </a:prstGeom>
        </p:spPr>
      </p:pic>
      <p:sp>
        <p:nvSpPr>
          <p:cNvPr id="7" name="Shape 4"/>
          <p:cNvSpPr/>
          <p:nvPr/>
        </p:nvSpPr>
        <p:spPr>
          <a:xfrm>
            <a:off x="7398544" y="1730375"/>
            <a:ext cx="3977481" cy="2965450"/>
          </a:xfrm>
          <a:prstGeom prst="roundRect">
            <a:avLst>
              <a:gd name="adj" fmla="val 3319"/>
            </a:avLst>
          </a:prstGeom>
          <a:solidFill>
            <a:srgbClr val="FDFCF9"/>
          </a:solidFill>
          <a:ln w="6350">
            <a:solidFill>
              <a:srgbClr val="E2E0D8"/>
            </a:solidFill>
            <a:prstDash val="solid"/>
          </a:ln>
        </p:spPr>
      </p:sp>
      <p:sp>
        <p:nvSpPr>
          <p:cNvPr id="8" name="Text 5"/>
          <p:cNvSpPr/>
          <p:nvPr/>
        </p:nvSpPr>
        <p:spPr>
          <a:xfrm>
            <a:off x="7603649" y="1935479"/>
            <a:ext cx="367429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REDUCTION ON THE TEST SET</a:t>
            </a:r>
            <a:endParaRPr lang="en-US" sz="1200" dirty="0"/>
          </a:p>
        </p:txBody>
      </p:sp>
      <p:sp>
        <p:nvSpPr>
          <p:cNvPr id="9" name="Text 6"/>
          <p:cNvSpPr/>
          <p:nvPr/>
        </p:nvSpPr>
        <p:spPr>
          <a:xfrm>
            <a:off x="7603649" y="2246629"/>
            <a:ext cx="7493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6213A"/>
                </a:solidFill>
                <a:latin typeface="IBM Plex Sans" pitchFamily="34" charset="0"/>
                <a:ea typeface="IBM Plex Sans" pitchFamily="34" charset="-122"/>
                <a:cs typeface="IBM Plex Sans" pitchFamily="34" charset="-120"/>
              </a:rPr>
              <a:t>MAE</a:t>
            </a:r>
            <a:endParaRPr lang="en-US" sz="1400" dirty="0"/>
          </a:p>
        </p:txBody>
      </p:sp>
      <p:sp>
        <p:nvSpPr>
          <p:cNvPr id="10" name="Shape 7"/>
          <p:cNvSpPr/>
          <p:nvPr/>
        </p:nvSpPr>
        <p:spPr>
          <a:xfrm>
            <a:off x="8403749" y="2247900"/>
            <a:ext cx="1358900" cy="228600"/>
          </a:xfrm>
          <a:prstGeom prst="roundRect">
            <a:avLst>
              <a:gd name="adj" fmla="val 22222"/>
            </a:avLst>
          </a:prstGeom>
          <a:solidFill>
            <a:srgbClr val="B8561A"/>
          </a:solidFill>
          <a:ln/>
        </p:spPr>
      </p:sp>
      <p:sp>
        <p:nvSpPr>
          <p:cNvPr id="11" name="Text 8"/>
          <p:cNvSpPr/>
          <p:nvPr/>
        </p:nvSpPr>
        <p:spPr>
          <a:xfrm>
            <a:off x="9864249" y="2237742"/>
            <a:ext cx="670798"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-28.5%</a:t>
            </a:r>
            <a:endParaRPr lang="en-US" sz="1400" dirty="0"/>
          </a:p>
        </p:txBody>
      </p:sp>
      <p:sp>
        <p:nvSpPr>
          <p:cNvPr id="12" name="Text 9"/>
          <p:cNvSpPr/>
          <p:nvPr/>
        </p:nvSpPr>
        <p:spPr>
          <a:xfrm>
            <a:off x="7603649" y="2584450"/>
            <a:ext cx="74930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6213A"/>
                </a:solidFill>
                <a:latin typeface="IBM Plex Sans" pitchFamily="34" charset="0"/>
                <a:ea typeface="IBM Plex Sans" pitchFamily="34" charset="-122"/>
                <a:cs typeface="IBM Plex Sans" pitchFamily="34" charset="-120"/>
              </a:rPr>
              <a:t>RMSE</a:t>
            </a:r>
            <a:endParaRPr lang="en-US" sz="1400" dirty="0"/>
          </a:p>
        </p:txBody>
      </p:sp>
      <p:sp>
        <p:nvSpPr>
          <p:cNvPr id="13" name="Shape 10"/>
          <p:cNvSpPr/>
          <p:nvPr/>
        </p:nvSpPr>
        <p:spPr>
          <a:xfrm>
            <a:off x="8403749" y="2585721"/>
            <a:ext cx="895350" cy="228600"/>
          </a:xfrm>
          <a:prstGeom prst="roundRect">
            <a:avLst>
              <a:gd name="adj" fmla="val 22222"/>
            </a:avLst>
          </a:prstGeom>
          <a:solidFill>
            <a:srgbClr val="2B5C8A"/>
          </a:solidFill>
          <a:ln/>
        </p:spPr>
      </p:sp>
      <p:sp>
        <p:nvSpPr>
          <p:cNvPr id="14" name="Text 11"/>
          <p:cNvSpPr/>
          <p:nvPr/>
        </p:nvSpPr>
        <p:spPr>
          <a:xfrm>
            <a:off x="9400699" y="2575564"/>
            <a:ext cx="670798" cy="27432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-18.8%</a:t>
            </a:r>
            <a:endParaRPr lang="en-US" sz="1400" dirty="0"/>
          </a:p>
        </p:txBody>
      </p:sp>
      <p:sp>
        <p:nvSpPr>
          <p:cNvPr id="15" name="Text 12"/>
          <p:cNvSpPr/>
          <p:nvPr/>
        </p:nvSpPr>
        <p:spPr>
          <a:xfrm>
            <a:off x="7603649" y="2913379"/>
            <a:ext cx="367429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C8A"/>
                </a:solidFill>
                <a:latin typeface="IBM Plex Sans" pitchFamily="34" charset="0"/>
                <a:ea typeface="IBM Plex Sans" pitchFamily="34" charset="-122"/>
                <a:cs typeface="IBM Plex Sans" pitchFamily="34" charset="-120"/>
              </a:rPr>
              <a:t>RMSE DIVIDED BY MAE</a:t>
            </a:r>
            <a:endParaRPr lang="en-US" sz="1200" dirty="0"/>
          </a:p>
        </p:txBody>
      </p:sp>
      <p:sp>
        <p:nvSpPr>
          <p:cNvPr id="16" name="Text 13"/>
          <p:cNvSpPr/>
          <p:nvPr/>
        </p:nvSpPr>
        <p:spPr>
          <a:xfrm>
            <a:off x="7603649" y="3215642"/>
            <a:ext cx="89328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8C97AB"/>
                </a:solidFill>
                <a:latin typeface="Source Serif 4" pitchFamily="18" charset="0"/>
                <a:ea typeface="Source Serif 4" pitchFamily="18" charset="-122"/>
                <a:cs typeface="Source Serif 4" pitchFamily="18" charset="-120"/>
              </a:rPr>
              <a:t>2.21</a:t>
            </a:r>
            <a:endParaRPr lang="en-US" sz="3200" dirty="0"/>
          </a:p>
        </p:txBody>
      </p:sp>
      <p:sp>
        <p:nvSpPr>
          <p:cNvPr id="17" name="Text 14"/>
          <p:cNvSpPr/>
          <p:nvPr/>
        </p:nvSpPr>
        <p:spPr>
          <a:xfrm>
            <a:off x="8496935" y="3362964"/>
            <a:ext cx="23510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5868"/>
                </a:solidFill>
                <a:latin typeface="IBM Plex Sans" pitchFamily="34" charset="0"/>
                <a:ea typeface="IBM Plex Sans" pitchFamily="34" charset="-122"/>
                <a:cs typeface="IBM Plex Sans" pitchFamily="34" charset="-120"/>
              </a:rPr>
              <a:t>to</a:t>
            </a:r>
            <a:endParaRPr lang="en-US" sz="1600" dirty="0"/>
          </a:p>
        </p:txBody>
      </p:sp>
      <p:sp>
        <p:nvSpPr>
          <p:cNvPr id="18" name="Text 15"/>
          <p:cNvSpPr/>
          <p:nvPr/>
        </p:nvSpPr>
        <p:spPr>
          <a:xfrm>
            <a:off x="8782844" y="3215642"/>
            <a:ext cx="95002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8561A"/>
                </a:solidFill>
                <a:latin typeface="Source Serif 4" pitchFamily="18" charset="0"/>
                <a:ea typeface="Source Serif 4" pitchFamily="18" charset="-122"/>
                <a:cs typeface="Source Serif 4" pitchFamily="18" charset="-120"/>
              </a:rPr>
              <a:t>2.51</a:t>
            </a:r>
            <a:endParaRPr lang="en-US" sz="3200" dirty="0"/>
          </a:p>
        </p:txBody>
      </p:sp>
      <p:sp>
        <p:nvSpPr>
          <p:cNvPr id="19" name="Text 16"/>
          <p:cNvSpPr/>
          <p:nvPr/>
        </p:nvSpPr>
        <p:spPr>
          <a:xfrm>
            <a:off x="7603649" y="3751579"/>
            <a:ext cx="36742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A larger ratio means what is left is mostly a few big misses.</a:t>
            </a:r>
            <a:endParaRPr lang="en-US" sz="1200" dirty="0"/>
          </a:p>
        </p:txBody>
      </p:sp>
      <p:sp>
        <p:nvSpPr>
          <p:cNvPr id="20" name="Text 17"/>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Where does the model help most?</a:t>
            </a:r>
            <a:endParaRPr lang="en-US" sz="1200" dirty="0"/>
          </a:p>
        </p:txBody>
      </p:sp>
      <p:sp>
        <p:nvSpPr>
          <p:cNvPr id="21" name="Text 1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WHERE IT HELPS</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Long trips gain the most</a:t>
            </a:r>
            <a:endParaRPr lang="en-US" sz="3200" dirty="0"/>
          </a:p>
        </p:txBody>
      </p:sp>
      <p:sp>
        <p:nvSpPr>
          <p:cNvPr id="4" name="Shape 2"/>
          <p:cNvSpPr/>
          <p:nvPr/>
        </p:nvSpPr>
        <p:spPr>
          <a:xfrm>
            <a:off x="815975" y="1730375"/>
            <a:ext cx="5969397" cy="3696970"/>
          </a:xfrm>
          <a:prstGeom prst="roundRect">
            <a:avLst>
              <a:gd name="adj" fmla="val 2662"/>
            </a:avLst>
          </a:prstGeom>
          <a:solidFill>
            <a:srgbClr val="FDFCF9"/>
          </a:solidFill>
          <a:ln w="6350">
            <a:solidFill>
              <a:srgbClr val="E2E0D8"/>
            </a:solidFill>
            <a:prstDash val="solid"/>
          </a:ln>
        </p:spPr>
      </p:sp>
      <p:sp>
        <p:nvSpPr>
          <p:cNvPr id="5" name="Text 3"/>
          <p:cNvSpPr/>
          <p:nvPr/>
        </p:nvSpPr>
        <p:spPr>
          <a:xfrm>
            <a:off x="1021080" y="1935479"/>
            <a:ext cx="57259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Average error by trip length</a:t>
            </a:r>
            <a:endParaRPr lang="en-US" sz="1600" dirty="0"/>
          </a:p>
        </p:txBody>
      </p:sp>
      <p:sp>
        <p:nvSpPr>
          <p:cNvPr id="6" name="Shape 4"/>
          <p:cNvSpPr/>
          <p:nvPr/>
        </p:nvSpPr>
        <p:spPr>
          <a:xfrm>
            <a:off x="1021080" y="2311400"/>
            <a:ext cx="152400" cy="152400"/>
          </a:xfrm>
          <a:prstGeom prst="roundRect">
            <a:avLst>
              <a:gd name="adj" fmla="val 16667"/>
            </a:avLst>
          </a:prstGeom>
          <a:solidFill>
            <a:srgbClr val="8C97AB"/>
          </a:solidFill>
          <a:ln/>
        </p:spPr>
      </p:sp>
      <p:sp>
        <p:nvSpPr>
          <p:cNvPr id="7" name="Text 5"/>
          <p:cNvSpPr/>
          <p:nvPr/>
        </p:nvSpPr>
        <p:spPr>
          <a:xfrm>
            <a:off x="1236980" y="2280921"/>
            <a:ext cx="12386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Linear baseline</a:t>
            </a:r>
            <a:endParaRPr lang="en-US" sz="1200" dirty="0"/>
          </a:p>
        </p:txBody>
      </p:sp>
      <p:sp>
        <p:nvSpPr>
          <p:cNvPr id="8" name="Shape 6"/>
          <p:cNvSpPr/>
          <p:nvPr/>
        </p:nvSpPr>
        <p:spPr>
          <a:xfrm>
            <a:off x="2475627" y="2311400"/>
            <a:ext cx="152400" cy="152400"/>
          </a:xfrm>
          <a:prstGeom prst="roundRect">
            <a:avLst>
              <a:gd name="adj" fmla="val 16667"/>
            </a:avLst>
          </a:prstGeom>
          <a:solidFill>
            <a:srgbClr val="B8561A"/>
          </a:solidFill>
          <a:ln/>
        </p:spPr>
      </p:sp>
      <p:sp>
        <p:nvSpPr>
          <p:cNvPr id="9" name="Text 7"/>
          <p:cNvSpPr/>
          <p:nvPr/>
        </p:nvSpPr>
        <p:spPr>
          <a:xfrm>
            <a:off x="2691527" y="2280921"/>
            <a:ext cx="14769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Gradient Boosting</a:t>
            </a:r>
            <a:endParaRPr lang="en-US" sz="1200" dirty="0"/>
          </a:p>
        </p:txBody>
      </p:sp>
      <p:sp>
        <p:nvSpPr>
          <p:cNvPr id="10" name="Text 8"/>
          <p:cNvSpPr/>
          <p:nvPr/>
        </p:nvSpPr>
        <p:spPr>
          <a:xfrm>
            <a:off x="1109663" y="409702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$1.85</a:t>
            </a:r>
            <a:endParaRPr lang="en-US" sz="1200" dirty="0"/>
          </a:p>
        </p:txBody>
      </p:sp>
      <p:sp>
        <p:nvSpPr>
          <p:cNvPr id="11" name="Shape 9"/>
          <p:cNvSpPr/>
          <p:nvPr/>
        </p:nvSpPr>
        <p:spPr>
          <a:xfrm>
            <a:off x="1143873" y="4348479"/>
            <a:ext cx="342900" cy="596900"/>
          </a:xfrm>
          <a:prstGeom prst="roundRect">
            <a:avLst>
              <a:gd name="adj" fmla="val 11111"/>
            </a:avLst>
          </a:prstGeom>
          <a:solidFill>
            <a:srgbClr val="8C97AB"/>
          </a:solidFill>
          <a:ln/>
        </p:spPr>
      </p:sp>
      <p:sp>
        <p:nvSpPr>
          <p:cNvPr id="12" name="Text 10"/>
          <p:cNvSpPr/>
          <p:nvPr/>
        </p:nvSpPr>
        <p:spPr>
          <a:xfrm>
            <a:off x="1571863" y="419862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$1.54</a:t>
            </a:r>
            <a:endParaRPr lang="en-US" sz="1200" dirty="0"/>
          </a:p>
        </p:txBody>
      </p:sp>
      <p:sp>
        <p:nvSpPr>
          <p:cNvPr id="13" name="Shape 11"/>
          <p:cNvSpPr/>
          <p:nvPr/>
        </p:nvSpPr>
        <p:spPr>
          <a:xfrm>
            <a:off x="1606074" y="4450079"/>
            <a:ext cx="342900" cy="495300"/>
          </a:xfrm>
          <a:prstGeom prst="roundRect">
            <a:avLst>
              <a:gd name="adj" fmla="val 11111"/>
            </a:avLst>
          </a:prstGeom>
          <a:solidFill>
            <a:srgbClr val="B8561A"/>
          </a:solidFill>
          <a:ln/>
        </p:spPr>
      </p:sp>
      <p:sp>
        <p:nvSpPr>
          <p:cNvPr id="14" name="Text 12"/>
          <p:cNvSpPr/>
          <p:nvPr/>
        </p:nvSpPr>
        <p:spPr>
          <a:xfrm>
            <a:off x="1250617" y="5008879"/>
            <a:ext cx="59169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0-1 km</a:t>
            </a:r>
            <a:endParaRPr lang="en-US" sz="1200" dirty="0"/>
          </a:p>
        </p:txBody>
      </p:sp>
      <p:sp>
        <p:nvSpPr>
          <p:cNvPr id="15" name="Text 13"/>
          <p:cNvSpPr/>
          <p:nvPr/>
        </p:nvSpPr>
        <p:spPr>
          <a:xfrm>
            <a:off x="2236788" y="428117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$1.28</a:t>
            </a:r>
            <a:endParaRPr lang="en-US" sz="1200" dirty="0"/>
          </a:p>
        </p:txBody>
      </p:sp>
      <p:sp>
        <p:nvSpPr>
          <p:cNvPr id="16" name="Shape 14"/>
          <p:cNvSpPr/>
          <p:nvPr/>
        </p:nvSpPr>
        <p:spPr>
          <a:xfrm>
            <a:off x="2270998" y="4532629"/>
            <a:ext cx="342900" cy="412750"/>
          </a:xfrm>
          <a:prstGeom prst="roundRect">
            <a:avLst>
              <a:gd name="adj" fmla="val 11111"/>
            </a:avLst>
          </a:prstGeom>
          <a:solidFill>
            <a:srgbClr val="8C97AB"/>
          </a:solidFill>
          <a:ln/>
        </p:spPr>
      </p:sp>
      <p:sp>
        <p:nvSpPr>
          <p:cNvPr id="17" name="Text 15"/>
          <p:cNvSpPr/>
          <p:nvPr/>
        </p:nvSpPr>
        <p:spPr>
          <a:xfrm>
            <a:off x="2698988" y="438277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$0.97</a:t>
            </a:r>
            <a:endParaRPr lang="en-US" sz="1200" dirty="0"/>
          </a:p>
        </p:txBody>
      </p:sp>
      <p:sp>
        <p:nvSpPr>
          <p:cNvPr id="18" name="Shape 16"/>
          <p:cNvSpPr/>
          <p:nvPr/>
        </p:nvSpPr>
        <p:spPr>
          <a:xfrm>
            <a:off x="2733199" y="4634229"/>
            <a:ext cx="342900" cy="311150"/>
          </a:xfrm>
          <a:prstGeom prst="roundRect">
            <a:avLst>
              <a:gd name="adj" fmla="val 12245"/>
            </a:avLst>
          </a:prstGeom>
          <a:solidFill>
            <a:srgbClr val="B8561A"/>
          </a:solidFill>
          <a:ln/>
        </p:spPr>
      </p:sp>
      <p:sp>
        <p:nvSpPr>
          <p:cNvPr id="19" name="Text 17"/>
          <p:cNvSpPr/>
          <p:nvPr/>
        </p:nvSpPr>
        <p:spPr>
          <a:xfrm>
            <a:off x="2377742" y="5008879"/>
            <a:ext cx="59169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1-2 km</a:t>
            </a:r>
            <a:endParaRPr lang="en-US" sz="1200" dirty="0"/>
          </a:p>
        </p:txBody>
      </p:sp>
      <p:sp>
        <p:nvSpPr>
          <p:cNvPr id="20" name="Text 18"/>
          <p:cNvSpPr/>
          <p:nvPr/>
        </p:nvSpPr>
        <p:spPr>
          <a:xfrm>
            <a:off x="3363833" y="411607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$1.80</a:t>
            </a:r>
            <a:endParaRPr lang="en-US" sz="1200" dirty="0"/>
          </a:p>
        </p:txBody>
      </p:sp>
      <p:sp>
        <p:nvSpPr>
          <p:cNvPr id="21" name="Shape 19"/>
          <p:cNvSpPr/>
          <p:nvPr/>
        </p:nvSpPr>
        <p:spPr>
          <a:xfrm>
            <a:off x="3398044" y="4367529"/>
            <a:ext cx="342900" cy="577850"/>
          </a:xfrm>
          <a:prstGeom prst="roundRect">
            <a:avLst>
              <a:gd name="adj" fmla="val 11111"/>
            </a:avLst>
          </a:prstGeom>
          <a:solidFill>
            <a:srgbClr val="8C97AB"/>
          </a:solidFill>
          <a:ln/>
        </p:spPr>
      </p:sp>
      <p:sp>
        <p:nvSpPr>
          <p:cNvPr id="22" name="Text 20"/>
          <p:cNvSpPr/>
          <p:nvPr/>
        </p:nvSpPr>
        <p:spPr>
          <a:xfrm>
            <a:off x="3826034" y="426212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$1.34</a:t>
            </a:r>
            <a:endParaRPr lang="en-US" sz="1200" dirty="0"/>
          </a:p>
        </p:txBody>
      </p:sp>
      <p:sp>
        <p:nvSpPr>
          <p:cNvPr id="23" name="Shape 21"/>
          <p:cNvSpPr/>
          <p:nvPr/>
        </p:nvSpPr>
        <p:spPr>
          <a:xfrm>
            <a:off x="3860245" y="4513579"/>
            <a:ext cx="342900" cy="431800"/>
          </a:xfrm>
          <a:prstGeom prst="roundRect">
            <a:avLst>
              <a:gd name="adj" fmla="val 11111"/>
            </a:avLst>
          </a:prstGeom>
          <a:solidFill>
            <a:srgbClr val="B8561A"/>
          </a:solidFill>
          <a:ln/>
        </p:spPr>
      </p:sp>
      <p:sp>
        <p:nvSpPr>
          <p:cNvPr id="24" name="Text 22"/>
          <p:cNvSpPr/>
          <p:nvPr/>
        </p:nvSpPr>
        <p:spPr>
          <a:xfrm>
            <a:off x="3504787" y="5008879"/>
            <a:ext cx="59169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2-5 km</a:t>
            </a:r>
            <a:endParaRPr lang="en-US" sz="1200" dirty="0"/>
          </a:p>
        </p:txBody>
      </p:sp>
      <p:sp>
        <p:nvSpPr>
          <p:cNvPr id="25" name="Text 23"/>
          <p:cNvSpPr/>
          <p:nvPr/>
        </p:nvSpPr>
        <p:spPr>
          <a:xfrm>
            <a:off x="4490958" y="358267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$3.47</a:t>
            </a:r>
            <a:endParaRPr lang="en-US" sz="1200" dirty="0"/>
          </a:p>
        </p:txBody>
      </p:sp>
      <p:sp>
        <p:nvSpPr>
          <p:cNvPr id="26" name="Shape 24"/>
          <p:cNvSpPr/>
          <p:nvPr/>
        </p:nvSpPr>
        <p:spPr>
          <a:xfrm>
            <a:off x="4525169" y="3834129"/>
            <a:ext cx="342900" cy="1111250"/>
          </a:xfrm>
          <a:prstGeom prst="roundRect">
            <a:avLst>
              <a:gd name="adj" fmla="val 11111"/>
            </a:avLst>
          </a:prstGeom>
          <a:solidFill>
            <a:srgbClr val="8C97AB"/>
          </a:solidFill>
          <a:ln/>
        </p:spPr>
      </p:sp>
      <p:sp>
        <p:nvSpPr>
          <p:cNvPr id="27" name="Text 25"/>
          <p:cNvSpPr/>
          <p:nvPr/>
        </p:nvSpPr>
        <p:spPr>
          <a:xfrm>
            <a:off x="4953159" y="397002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$2.25</a:t>
            </a:r>
            <a:endParaRPr lang="en-US" sz="1200" dirty="0"/>
          </a:p>
        </p:txBody>
      </p:sp>
      <p:sp>
        <p:nvSpPr>
          <p:cNvPr id="28" name="Shape 26"/>
          <p:cNvSpPr/>
          <p:nvPr/>
        </p:nvSpPr>
        <p:spPr>
          <a:xfrm>
            <a:off x="4987370" y="4221479"/>
            <a:ext cx="342900" cy="723900"/>
          </a:xfrm>
          <a:prstGeom prst="roundRect">
            <a:avLst>
              <a:gd name="adj" fmla="val 11111"/>
            </a:avLst>
          </a:prstGeom>
          <a:solidFill>
            <a:srgbClr val="B8561A"/>
          </a:solidFill>
          <a:ln/>
        </p:spPr>
      </p:sp>
      <p:sp>
        <p:nvSpPr>
          <p:cNvPr id="29" name="Text 27"/>
          <p:cNvSpPr/>
          <p:nvPr/>
        </p:nvSpPr>
        <p:spPr>
          <a:xfrm>
            <a:off x="4577048" y="5008879"/>
            <a:ext cx="70142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5-10 km</a:t>
            </a:r>
            <a:endParaRPr lang="en-US" sz="1200" dirty="0"/>
          </a:p>
        </p:txBody>
      </p:sp>
      <p:sp>
        <p:nvSpPr>
          <p:cNvPr id="30" name="Text 28"/>
          <p:cNvSpPr/>
          <p:nvPr/>
        </p:nvSpPr>
        <p:spPr>
          <a:xfrm>
            <a:off x="5618004" y="266192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$6.33</a:t>
            </a:r>
            <a:endParaRPr lang="en-US" sz="1200" dirty="0"/>
          </a:p>
        </p:txBody>
      </p:sp>
      <p:sp>
        <p:nvSpPr>
          <p:cNvPr id="31" name="Shape 29"/>
          <p:cNvSpPr/>
          <p:nvPr/>
        </p:nvSpPr>
        <p:spPr>
          <a:xfrm>
            <a:off x="5652214" y="2913379"/>
            <a:ext cx="342900" cy="2032000"/>
          </a:xfrm>
          <a:prstGeom prst="roundRect">
            <a:avLst>
              <a:gd name="adj" fmla="val 11111"/>
            </a:avLst>
          </a:prstGeom>
          <a:solidFill>
            <a:srgbClr val="8C97AB"/>
          </a:solidFill>
          <a:ln/>
        </p:spPr>
      </p:sp>
      <p:sp>
        <p:nvSpPr>
          <p:cNvPr id="32" name="Text 30"/>
          <p:cNvSpPr/>
          <p:nvPr/>
        </p:nvSpPr>
        <p:spPr>
          <a:xfrm>
            <a:off x="6080204" y="3423921"/>
            <a:ext cx="46220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$3.95</a:t>
            </a:r>
            <a:endParaRPr lang="en-US" sz="1200" dirty="0"/>
          </a:p>
        </p:txBody>
      </p:sp>
      <p:sp>
        <p:nvSpPr>
          <p:cNvPr id="33" name="Shape 31"/>
          <p:cNvSpPr/>
          <p:nvPr/>
        </p:nvSpPr>
        <p:spPr>
          <a:xfrm>
            <a:off x="6114415" y="3675379"/>
            <a:ext cx="342900" cy="1270000"/>
          </a:xfrm>
          <a:prstGeom prst="roundRect">
            <a:avLst>
              <a:gd name="adj" fmla="val 11111"/>
            </a:avLst>
          </a:prstGeom>
          <a:solidFill>
            <a:srgbClr val="B8561A"/>
          </a:solidFill>
          <a:ln/>
        </p:spPr>
      </p:sp>
      <p:sp>
        <p:nvSpPr>
          <p:cNvPr id="34" name="Text 32"/>
          <p:cNvSpPr/>
          <p:nvPr/>
        </p:nvSpPr>
        <p:spPr>
          <a:xfrm>
            <a:off x="5649230" y="5008879"/>
            <a:ext cx="81114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10-50 km</a:t>
            </a:r>
            <a:endParaRPr lang="en-US" sz="1200" dirty="0"/>
          </a:p>
        </p:txBody>
      </p:sp>
      <p:sp>
        <p:nvSpPr>
          <p:cNvPr id="35" name="Shape 33"/>
          <p:cNvSpPr/>
          <p:nvPr/>
        </p:nvSpPr>
        <p:spPr>
          <a:xfrm>
            <a:off x="6994922" y="1730375"/>
            <a:ext cx="4381103" cy="3696970"/>
          </a:xfrm>
          <a:prstGeom prst="roundRect">
            <a:avLst>
              <a:gd name="adj" fmla="val 2662"/>
            </a:avLst>
          </a:prstGeom>
          <a:solidFill>
            <a:srgbClr val="FDFCF9"/>
          </a:solidFill>
          <a:ln w="6350">
            <a:solidFill>
              <a:srgbClr val="E2E0D8"/>
            </a:solidFill>
            <a:prstDash val="solid"/>
          </a:ln>
        </p:spPr>
      </p:sp>
      <p:sp>
        <p:nvSpPr>
          <p:cNvPr id="36" name="Text 34"/>
          <p:cNvSpPr/>
          <p:nvPr/>
        </p:nvSpPr>
        <p:spPr>
          <a:xfrm>
            <a:off x="7200027" y="1935479"/>
            <a:ext cx="40900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Trips predicted close to the real fare</a:t>
            </a:r>
            <a:endParaRPr lang="en-US" sz="1600" dirty="0"/>
          </a:p>
        </p:txBody>
      </p:sp>
      <p:sp>
        <p:nvSpPr>
          <p:cNvPr id="37" name="Text 35"/>
          <p:cNvSpPr/>
          <p:nvPr/>
        </p:nvSpPr>
        <p:spPr>
          <a:xfrm>
            <a:off x="7200027" y="2280921"/>
            <a:ext cx="409002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within $2</a:t>
            </a:r>
            <a:endParaRPr lang="en-US" sz="1300" dirty="0"/>
          </a:p>
        </p:txBody>
      </p:sp>
      <p:sp>
        <p:nvSpPr>
          <p:cNvPr id="38" name="Shape 36"/>
          <p:cNvSpPr/>
          <p:nvPr/>
        </p:nvSpPr>
        <p:spPr>
          <a:xfrm>
            <a:off x="7301627" y="2586992"/>
            <a:ext cx="1720850" cy="165100"/>
          </a:xfrm>
          <a:prstGeom prst="roundRect">
            <a:avLst>
              <a:gd name="adj" fmla="val 30769"/>
            </a:avLst>
          </a:prstGeom>
          <a:solidFill>
            <a:srgbClr val="8C97AB"/>
          </a:solidFill>
          <a:ln/>
        </p:spPr>
      </p:sp>
      <p:sp>
        <p:nvSpPr>
          <p:cNvPr id="39" name="Text 37"/>
          <p:cNvSpPr/>
          <p:nvPr/>
        </p:nvSpPr>
        <p:spPr>
          <a:xfrm>
            <a:off x="9124077" y="2562864"/>
            <a:ext cx="38219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71%</a:t>
            </a:r>
            <a:endParaRPr lang="en-US" sz="1200" dirty="0"/>
          </a:p>
        </p:txBody>
      </p:sp>
      <p:sp>
        <p:nvSpPr>
          <p:cNvPr id="40" name="Shape 38"/>
          <p:cNvSpPr/>
          <p:nvPr/>
        </p:nvSpPr>
        <p:spPr>
          <a:xfrm>
            <a:off x="7301627" y="2851150"/>
            <a:ext cx="1968500" cy="165100"/>
          </a:xfrm>
          <a:prstGeom prst="roundRect">
            <a:avLst>
              <a:gd name="adj" fmla="val 30769"/>
            </a:avLst>
          </a:prstGeom>
          <a:solidFill>
            <a:srgbClr val="B8561A"/>
          </a:solidFill>
          <a:ln/>
        </p:spPr>
      </p:sp>
      <p:sp>
        <p:nvSpPr>
          <p:cNvPr id="41" name="Text 39"/>
          <p:cNvSpPr/>
          <p:nvPr/>
        </p:nvSpPr>
        <p:spPr>
          <a:xfrm>
            <a:off x="9371727" y="2827021"/>
            <a:ext cx="38219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81%</a:t>
            </a:r>
            <a:endParaRPr lang="en-US" sz="1200" dirty="0"/>
          </a:p>
        </p:txBody>
      </p:sp>
      <p:sp>
        <p:nvSpPr>
          <p:cNvPr id="42" name="Text 40"/>
          <p:cNvSpPr/>
          <p:nvPr/>
        </p:nvSpPr>
        <p:spPr>
          <a:xfrm>
            <a:off x="7200027" y="3141979"/>
            <a:ext cx="409002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within $3</a:t>
            </a:r>
            <a:endParaRPr lang="en-US" sz="1300" dirty="0"/>
          </a:p>
        </p:txBody>
      </p:sp>
      <p:sp>
        <p:nvSpPr>
          <p:cNvPr id="43" name="Shape 41"/>
          <p:cNvSpPr/>
          <p:nvPr/>
        </p:nvSpPr>
        <p:spPr>
          <a:xfrm>
            <a:off x="7301627" y="3448050"/>
            <a:ext cx="2019300" cy="165100"/>
          </a:xfrm>
          <a:prstGeom prst="roundRect">
            <a:avLst>
              <a:gd name="adj" fmla="val 30769"/>
            </a:avLst>
          </a:prstGeom>
          <a:solidFill>
            <a:srgbClr val="8C97AB"/>
          </a:solidFill>
          <a:ln/>
        </p:spPr>
      </p:sp>
      <p:sp>
        <p:nvSpPr>
          <p:cNvPr id="44" name="Text 42"/>
          <p:cNvSpPr/>
          <p:nvPr/>
        </p:nvSpPr>
        <p:spPr>
          <a:xfrm>
            <a:off x="9422527" y="3423921"/>
            <a:ext cx="38219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84%</a:t>
            </a:r>
            <a:endParaRPr lang="en-US" sz="1200" dirty="0"/>
          </a:p>
        </p:txBody>
      </p:sp>
      <p:sp>
        <p:nvSpPr>
          <p:cNvPr id="45" name="Shape 43"/>
          <p:cNvSpPr/>
          <p:nvPr/>
        </p:nvSpPr>
        <p:spPr>
          <a:xfrm>
            <a:off x="7301627" y="3712214"/>
            <a:ext cx="2159000" cy="165100"/>
          </a:xfrm>
          <a:prstGeom prst="roundRect">
            <a:avLst>
              <a:gd name="adj" fmla="val 30769"/>
            </a:avLst>
          </a:prstGeom>
          <a:solidFill>
            <a:srgbClr val="B8561A"/>
          </a:solidFill>
          <a:ln/>
        </p:spPr>
      </p:sp>
      <p:sp>
        <p:nvSpPr>
          <p:cNvPr id="46" name="Text 44"/>
          <p:cNvSpPr/>
          <p:nvPr/>
        </p:nvSpPr>
        <p:spPr>
          <a:xfrm>
            <a:off x="9562227" y="3688079"/>
            <a:ext cx="38219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89%</a:t>
            </a:r>
            <a:endParaRPr lang="en-US" sz="1200" dirty="0"/>
          </a:p>
        </p:txBody>
      </p:sp>
      <p:sp>
        <p:nvSpPr>
          <p:cNvPr id="47" name="Text 45"/>
          <p:cNvSpPr/>
          <p:nvPr/>
        </p:nvSpPr>
        <p:spPr>
          <a:xfrm>
            <a:off x="7200027" y="4003042"/>
            <a:ext cx="409002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within $5</a:t>
            </a:r>
            <a:endParaRPr lang="en-US" sz="1300" dirty="0"/>
          </a:p>
        </p:txBody>
      </p:sp>
      <p:sp>
        <p:nvSpPr>
          <p:cNvPr id="48" name="Shape 46"/>
          <p:cNvSpPr/>
          <p:nvPr/>
        </p:nvSpPr>
        <p:spPr>
          <a:xfrm>
            <a:off x="7301627" y="4309114"/>
            <a:ext cx="2209800" cy="165100"/>
          </a:xfrm>
          <a:prstGeom prst="roundRect">
            <a:avLst>
              <a:gd name="adj" fmla="val 30769"/>
            </a:avLst>
          </a:prstGeom>
          <a:solidFill>
            <a:srgbClr val="8C97AB"/>
          </a:solidFill>
          <a:ln/>
        </p:spPr>
      </p:sp>
      <p:sp>
        <p:nvSpPr>
          <p:cNvPr id="49" name="Text 47"/>
          <p:cNvSpPr/>
          <p:nvPr/>
        </p:nvSpPr>
        <p:spPr>
          <a:xfrm>
            <a:off x="9613027" y="4284979"/>
            <a:ext cx="38219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92%</a:t>
            </a:r>
            <a:endParaRPr lang="en-US" sz="1200" dirty="0"/>
          </a:p>
        </p:txBody>
      </p:sp>
      <p:sp>
        <p:nvSpPr>
          <p:cNvPr id="50" name="Shape 48"/>
          <p:cNvSpPr/>
          <p:nvPr/>
        </p:nvSpPr>
        <p:spPr>
          <a:xfrm>
            <a:off x="7301627" y="4573271"/>
            <a:ext cx="2298700" cy="165100"/>
          </a:xfrm>
          <a:prstGeom prst="roundRect">
            <a:avLst>
              <a:gd name="adj" fmla="val 30769"/>
            </a:avLst>
          </a:prstGeom>
          <a:solidFill>
            <a:srgbClr val="B8561A"/>
          </a:solidFill>
          <a:ln/>
        </p:spPr>
      </p:sp>
      <p:sp>
        <p:nvSpPr>
          <p:cNvPr id="51" name="Text 49"/>
          <p:cNvSpPr/>
          <p:nvPr/>
        </p:nvSpPr>
        <p:spPr>
          <a:xfrm>
            <a:off x="9701927" y="4549142"/>
            <a:ext cx="382191"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95%</a:t>
            </a:r>
            <a:endParaRPr lang="en-US" sz="1200" dirty="0"/>
          </a:p>
        </p:txBody>
      </p:sp>
      <p:sp>
        <p:nvSpPr>
          <p:cNvPr id="52" name="Text 50"/>
          <p:cNvSpPr/>
          <p:nvPr/>
        </p:nvSpPr>
        <p:spPr>
          <a:xfrm>
            <a:off x="7200027" y="4864100"/>
            <a:ext cx="40900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Typical (median) error: $1.22 to $0.82.</a:t>
            </a:r>
            <a:endParaRPr lang="en-US" sz="1200" dirty="0"/>
          </a:p>
        </p:txBody>
      </p:sp>
      <p:sp>
        <p:nvSpPr>
          <p:cNvPr id="53" name="Text 51"/>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Is the gain bigger than the noise?</a:t>
            </a:r>
            <a:endParaRPr lang="en-US" sz="1200" dirty="0"/>
          </a:p>
        </p:txBody>
      </p:sp>
      <p:sp>
        <p:nvSpPr>
          <p:cNvPr id="54" name="Text 52"/>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BM Plex Sans" pitchFamily="34" charset="0"/>
                <a:ea typeface="IBM Plex Sans" pitchFamily="34" charset="-122"/>
                <a:cs typeface="IBM Plex Sans" pitchFamily="34" charset="-120"/>
              </a:rPr>
              <a:t>CHECKS</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13A"/>
                </a:solidFill>
                <a:latin typeface="IBM Plex Sans" pitchFamily="34" charset="0"/>
                <a:ea typeface="IBM Plex Sans" pitchFamily="34" charset="-122"/>
                <a:cs typeface="IBM Plex Sans" pitchFamily="34" charset="-120"/>
              </a:rPr>
              <a:t>The gain is bigger than the noise</a:t>
            </a:r>
            <a:endParaRPr lang="en-US" sz="3200" dirty="0"/>
          </a:p>
        </p:txBody>
      </p:sp>
      <p:sp>
        <p:nvSpPr>
          <p:cNvPr id="4" name="Shape 2"/>
          <p:cNvSpPr/>
          <p:nvPr/>
        </p:nvSpPr>
        <p:spPr>
          <a:xfrm>
            <a:off x="815975" y="1730375"/>
            <a:ext cx="5608400" cy="3600450"/>
          </a:xfrm>
          <a:prstGeom prst="roundRect">
            <a:avLst>
              <a:gd name="adj" fmla="val 2734"/>
            </a:avLst>
          </a:prstGeom>
          <a:solidFill>
            <a:srgbClr val="FDFCF9"/>
          </a:solidFill>
          <a:ln w="6350">
            <a:solidFill>
              <a:srgbClr val="E2E0D8"/>
            </a:solidFill>
            <a:prstDash val="solid"/>
          </a:ln>
        </p:spPr>
      </p:sp>
      <p:sp>
        <p:nvSpPr>
          <p:cNvPr id="5" name="Text 3"/>
          <p:cNvSpPr/>
          <p:nvPr/>
        </p:nvSpPr>
        <p:spPr>
          <a:xfrm>
            <a:off x="1021080" y="1935479"/>
            <a:ext cx="535413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RMSE with a 95% bootstrap interval</a:t>
            </a:r>
            <a:endParaRPr lang="en-US" sz="1600" dirty="0"/>
          </a:p>
        </p:txBody>
      </p:sp>
      <p:sp>
        <p:nvSpPr>
          <p:cNvPr id="6" name="Text 4"/>
          <p:cNvSpPr/>
          <p:nvPr/>
        </p:nvSpPr>
        <p:spPr>
          <a:xfrm>
            <a:off x="1021080" y="2280921"/>
            <a:ext cx="3924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Linear baseline</a:t>
            </a:r>
            <a:endParaRPr lang="en-US" sz="1400" dirty="0"/>
          </a:p>
        </p:txBody>
      </p:sp>
      <p:sp>
        <p:nvSpPr>
          <p:cNvPr id="7" name="Shape 5"/>
          <p:cNvSpPr/>
          <p:nvPr/>
        </p:nvSpPr>
        <p:spPr>
          <a:xfrm>
            <a:off x="4246880" y="2598421"/>
            <a:ext cx="1962150" cy="177800"/>
          </a:xfrm>
          <a:prstGeom prst="roundRect">
            <a:avLst>
              <a:gd name="adj" fmla="val 50000"/>
            </a:avLst>
          </a:prstGeom>
          <a:solidFill>
            <a:srgbClr val="8C97AB"/>
          </a:solidFill>
          <a:ln/>
        </p:spPr>
      </p:sp>
      <p:sp>
        <p:nvSpPr>
          <p:cNvPr id="8" name="Shape 6"/>
          <p:cNvSpPr/>
          <p:nvPr/>
        </p:nvSpPr>
        <p:spPr>
          <a:xfrm>
            <a:off x="5027930" y="2560321"/>
            <a:ext cx="101600" cy="254000"/>
          </a:xfrm>
          <a:prstGeom prst="roundRect">
            <a:avLst>
              <a:gd name="adj" fmla="val 50000"/>
            </a:avLst>
          </a:prstGeom>
          <a:solidFill>
            <a:srgbClr val="16213A"/>
          </a:solidFill>
          <a:ln/>
        </p:spPr>
      </p:sp>
      <p:sp>
        <p:nvSpPr>
          <p:cNvPr id="9" name="Text 7"/>
          <p:cNvSpPr/>
          <p:nvPr/>
        </p:nvSpPr>
        <p:spPr>
          <a:xfrm>
            <a:off x="3840480" y="2839721"/>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$4.44</a:t>
            </a:r>
            <a:endParaRPr lang="en-US" sz="1200" dirty="0"/>
          </a:p>
        </p:txBody>
      </p:sp>
      <p:sp>
        <p:nvSpPr>
          <p:cNvPr id="10" name="Text 8"/>
          <p:cNvSpPr/>
          <p:nvPr/>
        </p:nvSpPr>
        <p:spPr>
          <a:xfrm>
            <a:off x="5802630" y="2839721"/>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$5.20</a:t>
            </a:r>
            <a:endParaRPr lang="en-US" sz="1200" dirty="0"/>
          </a:p>
        </p:txBody>
      </p:sp>
      <p:sp>
        <p:nvSpPr>
          <p:cNvPr id="11" name="Text 9"/>
          <p:cNvSpPr/>
          <p:nvPr/>
        </p:nvSpPr>
        <p:spPr>
          <a:xfrm>
            <a:off x="1021080" y="3233421"/>
            <a:ext cx="3924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Tuned Gradient Boosting</a:t>
            </a:r>
            <a:endParaRPr lang="en-US" sz="1400" dirty="0"/>
          </a:p>
        </p:txBody>
      </p:sp>
      <p:sp>
        <p:nvSpPr>
          <p:cNvPr id="12" name="Shape 10"/>
          <p:cNvSpPr/>
          <p:nvPr/>
        </p:nvSpPr>
        <p:spPr>
          <a:xfrm>
            <a:off x="1833880" y="3550921"/>
            <a:ext cx="2044700" cy="177800"/>
          </a:xfrm>
          <a:prstGeom prst="roundRect">
            <a:avLst>
              <a:gd name="adj" fmla="val 50000"/>
            </a:avLst>
          </a:prstGeom>
          <a:solidFill>
            <a:srgbClr val="B8561A"/>
          </a:solidFill>
          <a:ln/>
        </p:spPr>
      </p:sp>
      <p:sp>
        <p:nvSpPr>
          <p:cNvPr id="13" name="Shape 11"/>
          <p:cNvSpPr/>
          <p:nvPr/>
        </p:nvSpPr>
        <p:spPr>
          <a:xfrm>
            <a:off x="2697480" y="3512821"/>
            <a:ext cx="101600" cy="254000"/>
          </a:xfrm>
          <a:prstGeom prst="roundRect">
            <a:avLst>
              <a:gd name="adj" fmla="val 50000"/>
            </a:avLst>
          </a:prstGeom>
          <a:solidFill>
            <a:srgbClr val="16213A"/>
          </a:solidFill>
          <a:ln/>
        </p:spPr>
      </p:sp>
      <p:sp>
        <p:nvSpPr>
          <p:cNvPr id="14" name="Text 12"/>
          <p:cNvSpPr/>
          <p:nvPr/>
        </p:nvSpPr>
        <p:spPr>
          <a:xfrm>
            <a:off x="1427480" y="3792221"/>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$3.51</a:t>
            </a:r>
            <a:endParaRPr lang="en-US" sz="1200" dirty="0"/>
          </a:p>
        </p:txBody>
      </p:sp>
      <p:sp>
        <p:nvSpPr>
          <p:cNvPr id="15" name="Text 13"/>
          <p:cNvSpPr/>
          <p:nvPr/>
        </p:nvSpPr>
        <p:spPr>
          <a:xfrm>
            <a:off x="3472180" y="3792221"/>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$4.30</a:t>
            </a:r>
            <a:endParaRPr lang="en-US" sz="1200" dirty="0"/>
          </a:p>
        </p:txBody>
      </p:sp>
      <p:sp>
        <p:nvSpPr>
          <p:cNvPr id="16" name="Text 14"/>
          <p:cNvSpPr/>
          <p:nvPr/>
        </p:nvSpPr>
        <p:spPr>
          <a:xfrm>
            <a:off x="1021080" y="4224021"/>
            <a:ext cx="53541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The intervals do not overlap. Saved file: 1.4 MB, 0.11 s per 10,000 trips.</a:t>
            </a:r>
            <a:endParaRPr lang="en-US" sz="1200" dirty="0"/>
          </a:p>
        </p:txBody>
      </p:sp>
      <p:sp>
        <p:nvSpPr>
          <p:cNvPr id="17" name="Shape 15"/>
          <p:cNvSpPr/>
          <p:nvPr/>
        </p:nvSpPr>
        <p:spPr>
          <a:xfrm>
            <a:off x="6633925" y="1730375"/>
            <a:ext cx="4742101" cy="3600450"/>
          </a:xfrm>
          <a:prstGeom prst="roundRect">
            <a:avLst>
              <a:gd name="adj" fmla="val 2734"/>
            </a:avLst>
          </a:prstGeom>
          <a:solidFill>
            <a:srgbClr val="FDFCF9"/>
          </a:solidFill>
          <a:ln w="6350">
            <a:solidFill>
              <a:srgbClr val="E2E0D8"/>
            </a:solidFill>
            <a:prstDash val="solid"/>
          </a:ln>
        </p:spPr>
      </p:sp>
      <p:sp>
        <p:nvSpPr>
          <p:cNvPr id="18" name="Text 16"/>
          <p:cNvSpPr/>
          <p:nvPr/>
        </p:nvSpPr>
        <p:spPr>
          <a:xfrm>
            <a:off x="6839030" y="1935479"/>
            <a:ext cx="44618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What the model relies on</a:t>
            </a:r>
            <a:endParaRPr lang="en-US" sz="1600" dirty="0"/>
          </a:p>
        </p:txBody>
      </p:sp>
      <p:pic>
        <p:nvPicPr>
          <p:cNvPr id="19" name="Image 0" descr="Permutation importance: distance matters far more than any other input">    </p:cNvPr>
          <p:cNvPicPr>
            <a:picLocks noChangeAspect="1"/>
          </p:cNvPicPr>
          <p:nvPr/>
        </p:nvPicPr>
        <p:blipFill>
          <a:blip r:embed="rId1"/>
          <a:srcRect l="0" r="0" t="-55" b="-55"/>
          <a:stretch/>
        </p:blipFill>
        <p:spPr>
          <a:xfrm>
            <a:off x="6839030" y="2280921"/>
            <a:ext cx="3810000" cy="2844800"/>
          </a:xfrm>
          <a:prstGeom prst="rect">
            <a:avLst/>
          </a:prstGeom>
        </p:spPr>
      </p:pic>
      <p:sp>
        <p:nvSpPr>
          <p:cNvPr id="20" name="Text 17"/>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A"/>
                </a:solidFill>
                <a:latin typeface="IBM Plex Sans" pitchFamily="34" charset="0"/>
                <a:ea typeface="IBM Plex Sans" pitchFamily="34" charset="-122"/>
                <a:cs typeface="IBM Plex Sans" pitchFamily="34" charset="-120"/>
              </a:rPr>
              <a:t>→ What I would try next</a:t>
            </a:r>
            <a:endParaRPr lang="en-US" sz="1200" dirty="0"/>
          </a:p>
        </p:txBody>
      </p:sp>
      <p:sp>
        <p:nvSpPr>
          <p:cNvPr id="21" name="Text 1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868"/>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ph type="title"/>
          </p:nvPr>
        </p:nvSpPr>
        <p:spPr>
          <a:xfrm>
            <a:off x="812800" y="10769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IBM Plex Sans" pitchFamily="34" charset="0"/>
                <a:ea typeface="IBM Plex Sans" pitchFamily="34" charset="-122"/>
                <a:cs typeface="IBM Plex Sans" pitchFamily="34" charset="-120"/>
              </a:rPr>
              <a:t>What I would try next</a:t>
            </a:r>
            <a:endParaRPr lang="en-US" sz="3200" dirty="0"/>
          </a:p>
        </p:txBody>
      </p:sp>
      <p:sp>
        <p:nvSpPr>
          <p:cNvPr id="4" name="Shape 2"/>
          <p:cNvSpPr/>
          <p:nvPr/>
        </p:nvSpPr>
        <p:spPr>
          <a:xfrm>
            <a:off x="815975" y="1730375"/>
            <a:ext cx="5175250" cy="979170"/>
          </a:xfrm>
          <a:prstGeom prst="roundRect">
            <a:avLst>
              <a:gd name="adj" fmla="val 10052"/>
            </a:avLst>
          </a:prstGeom>
          <a:solidFill>
            <a:srgbClr val="1F2D4D"/>
          </a:solidFill>
          <a:ln w="6350">
            <a:solidFill>
              <a:srgbClr val="33466E"/>
            </a:solidFill>
            <a:prstDash val="solid"/>
          </a:ln>
        </p:spPr>
      </p:sp>
      <p:sp>
        <p:nvSpPr>
          <p:cNvPr id="5" name="Text 3"/>
          <p:cNvSpPr/>
          <p:nvPr/>
        </p:nvSpPr>
        <p:spPr>
          <a:xfrm>
            <a:off x="1021080" y="1935479"/>
            <a:ext cx="49079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Encoding inside the Pipeline</a:t>
            </a:r>
            <a:endParaRPr lang="en-US" sz="1600" dirty="0"/>
          </a:p>
        </p:txBody>
      </p:sp>
      <p:sp>
        <p:nvSpPr>
          <p:cNvPr id="6" name="Text 4"/>
          <p:cNvSpPr/>
          <p:nvPr/>
        </p:nvSpPr>
        <p:spPr>
          <a:xfrm>
            <a:off x="1021080" y="2255521"/>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E0"/>
                </a:solidFill>
                <a:latin typeface="IBM Plex Sans" pitchFamily="34" charset="0"/>
                <a:ea typeface="IBM Plex Sans" pitchFamily="34" charset="-122"/>
                <a:cs typeface="IBM Plex Sans" pitchFamily="34" charset="-120"/>
              </a:rPr>
              <a:t>So the saved file accepts a raw row.</a:t>
            </a:r>
            <a:endParaRPr lang="en-US" sz="1400" dirty="0"/>
          </a:p>
        </p:txBody>
      </p:sp>
      <p:sp>
        <p:nvSpPr>
          <p:cNvPr id="7" name="Shape 5"/>
          <p:cNvSpPr/>
          <p:nvPr/>
        </p:nvSpPr>
        <p:spPr>
          <a:xfrm>
            <a:off x="6200775" y="1730375"/>
            <a:ext cx="5175250" cy="979170"/>
          </a:xfrm>
          <a:prstGeom prst="roundRect">
            <a:avLst>
              <a:gd name="adj" fmla="val 10052"/>
            </a:avLst>
          </a:prstGeom>
          <a:solidFill>
            <a:srgbClr val="1F2D4D"/>
          </a:solidFill>
          <a:ln w="6350">
            <a:solidFill>
              <a:srgbClr val="33466E"/>
            </a:solidFill>
            <a:prstDash val="solid"/>
          </a:ln>
        </p:spPr>
      </p:sp>
      <p:sp>
        <p:nvSpPr>
          <p:cNvPr id="8" name="Text 6"/>
          <p:cNvSpPr/>
          <p:nvPr/>
        </p:nvSpPr>
        <p:spPr>
          <a:xfrm>
            <a:off x="6405880" y="1935479"/>
            <a:ext cx="49079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A smarter search</a:t>
            </a:r>
            <a:endParaRPr lang="en-US" sz="1600" dirty="0"/>
          </a:p>
        </p:txBody>
      </p:sp>
      <p:sp>
        <p:nvSpPr>
          <p:cNvPr id="9" name="Text 7"/>
          <p:cNvSpPr/>
          <p:nvPr/>
        </p:nvSpPr>
        <p:spPr>
          <a:xfrm>
            <a:off x="6405880" y="2255521"/>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E0"/>
                </a:solidFill>
                <a:latin typeface="IBM Plex Sans" pitchFamily="34" charset="0"/>
                <a:ea typeface="IBM Plex Sans" pitchFamily="34" charset="-122"/>
                <a:cs typeface="IBM Plex Sans" pitchFamily="34" charset="-120"/>
              </a:rPr>
              <a:t>Optuna, and Ridge stacked with the best tree model.</a:t>
            </a:r>
            <a:endParaRPr lang="en-US" sz="1400" dirty="0"/>
          </a:p>
        </p:txBody>
      </p:sp>
      <p:sp>
        <p:nvSpPr>
          <p:cNvPr id="10" name="Shape 8"/>
          <p:cNvSpPr/>
          <p:nvPr/>
        </p:nvSpPr>
        <p:spPr>
          <a:xfrm>
            <a:off x="815975" y="2919096"/>
            <a:ext cx="5175250" cy="979170"/>
          </a:xfrm>
          <a:prstGeom prst="roundRect">
            <a:avLst>
              <a:gd name="adj" fmla="val 10052"/>
            </a:avLst>
          </a:prstGeom>
          <a:solidFill>
            <a:srgbClr val="1F2D4D"/>
          </a:solidFill>
          <a:ln w="6350">
            <a:solidFill>
              <a:srgbClr val="33466E"/>
            </a:solidFill>
            <a:prstDash val="solid"/>
          </a:ln>
        </p:spPr>
      </p:sp>
      <p:sp>
        <p:nvSpPr>
          <p:cNvPr id="11" name="Text 9"/>
          <p:cNvSpPr/>
          <p:nvPr/>
        </p:nvSpPr>
        <p:spPr>
          <a:xfrm>
            <a:off x="1021080" y="3124200"/>
            <a:ext cx="49079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Where it still fails</a:t>
            </a:r>
            <a:endParaRPr lang="en-US" sz="1600" dirty="0"/>
          </a:p>
        </p:txBody>
      </p:sp>
      <p:sp>
        <p:nvSpPr>
          <p:cNvPr id="12" name="Text 10"/>
          <p:cNvSpPr/>
          <p:nvPr/>
        </p:nvSpPr>
        <p:spPr>
          <a:xfrm>
            <a:off x="1021080" y="3444242"/>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E0"/>
                </a:solidFill>
                <a:latin typeface="IBM Plex Sans" pitchFamily="34" charset="0"/>
                <a:ea typeface="IBM Plex Sans" pitchFamily="34" charset="-122"/>
                <a:cs typeface="IBM Plex Sans" pitchFamily="34" charset="-120"/>
              </a:rPr>
              <a:t>SHAP on fixed airport fares and trips over 10 km.</a:t>
            </a:r>
            <a:endParaRPr lang="en-US" sz="1400" dirty="0"/>
          </a:p>
        </p:txBody>
      </p:sp>
      <p:sp>
        <p:nvSpPr>
          <p:cNvPr id="13" name="Shape 11"/>
          <p:cNvSpPr/>
          <p:nvPr/>
        </p:nvSpPr>
        <p:spPr>
          <a:xfrm>
            <a:off x="6200775" y="2919096"/>
            <a:ext cx="5175250" cy="979170"/>
          </a:xfrm>
          <a:prstGeom prst="roundRect">
            <a:avLst>
              <a:gd name="adj" fmla="val 10052"/>
            </a:avLst>
          </a:prstGeom>
          <a:solidFill>
            <a:srgbClr val="1F2D4D"/>
          </a:solidFill>
          <a:ln w="6350">
            <a:solidFill>
              <a:srgbClr val="33466E"/>
            </a:solidFill>
            <a:prstDash val="solid"/>
          </a:ln>
        </p:spPr>
      </p:sp>
      <p:sp>
        <p:nvSpPr>
          <p:cNvPr id="14" name="Text 12"/>
          <p:cNvSpPr/>
          <p:nvPr/>
        </p:nvSpPr>
        <p:spPr>
          <a:xfrm>
            <a:off x="6405880" y="3124200"/>
            <a:ext cx="49079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A time-based split</a:t>
            </a:r>
            <a:endParaRPr lang="en-US" sz="1600" dirty="0"/>
          </a:p>
        </p:txBody>
      </p:sp>
      <p:sp>
        <p:nvSpPr>
          <p:cNvPr id="15" name="Text 13"/>
          <p:cNvSpPr/>
          <p:nvPr/>
        </p:nvSpPr>
        <p:spPr>
          <a:xfrm>
            <a:off x="6405880" y="3444242"/>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E0"/>
                </a:solidFill>
                <a:latin typeface="IBM Plex Sans" pitchFamily="34" charset="0"/>
                <a:ea typeface="IBM Plex Sans" pitchFamily="34" charset="-122"/>
                <a:cs typeface="IBM Plex Sans" pitchFamily="34" charset="-120"/>
              </a:rPr>
              <a:t>The September 2012 price change may affect later trips.</a:t>
            </a:r>
            <a:endParaRPr lang="en-US" sz="1400" dirty="0"/>
          </a:p>
        </p:txBody>
      </p:sp>
      <p:sp>
        <p:nvSpPr>
          <p:cNvPr id="16" name="Text 1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2E0"/>
                </a:solidFill>
                <a:latin typeface="IBM Plex Sans" pitchFamily="34" charset="0"/>
                <a:ea typeface="IBM Plex Sans" pitchFamily="34" charset="-122"/>
                <a:cs typeface="IBM Plex Sans" pitchFamily="34" charset="-120"/>
              </a:rPr>
              <a:t>14</a:t>
            </a:r>
            <a:endParaRPr lang="en-US" sz="1200" dirty="0"/>
          </a:p>
        </p:txBody>
      </p:sp>
      <p:sp>
        <p:nvSpPr>
          <p:cNvPr id="17" name="Text 1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35E"/>
                </a:solidFill>
                <a:latin typeface="IBM Plex Sans" pitchFamily="34" charset="0"/>
                <a:ea typeface="IBM Plex Sans" pitchFamily="34" charset="-122"/>
                <a:cs typeface="IBM Plex Sans" pitchFamily="34" charset="-120"/>
              </a:rPr>
              <a:t>Explore the models yourself: </a:t>
            </a:r>
            <a:r>
              <a:rPr lang="en-US" sz="1200" b="1" u="sng" dirty="0">
                <a:solidFill>
                  <a:srgbClr val="F0A35E"/>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interactive model explorer</a:t>
            </a:r>
            <a:endParaRPr lang="en-US" sz="1200" dirty="0"/>
          </a:p>
        </p:txBody>
      </p:sp>
    </p:spTree>
  </p:cSld>
  <p:clrMapOvr>
    <a:masterClrMapping/>
  </p:clrMapOvr>
</p:sld>
</file>

<file path=ppt/theme/theme1.xml><?xml version="1.0" encoding="utf-8"?>
<a:theme xmlns:a="http://schemas.openxmlformats.org/drawingml/2006/main" name="NYC Taxi Fare: Baseline vs Tuned Model">
  <a:themeElements>
    <a:clrScheme name="NYC Taxi Fare: Baseline vs Tuned Model">
      <a:dk1>
        <a:srgbClr val="16213A"/>
      </a:dk1>
      <a:lt1>
        <a:srgbClr val="F7F6F2"/>
      </a:lt1>
      <a:dk2>
        <a:srgbClr val="4E5668"/>
      </a:dk2>
      <a:lt2>
        <a:srgbClr val="E1E1E0"/>
      </a:lt2>
      <a:accent1>
        <a:srgbClr val="2B5C8A"/>
      </a:accent1>
      <a:accent2>
        <a:srgbClr val="B8561A"/>
      </a:accent2>
      <a:accent3>
        <a:srgbClr val="F0A35E"/>
      </a:accent3>
      <a:accent4>
        <a:srgbClr val="4F5868"/>
      </a:accent4>
      <a:accent5>
        <a:srgbClr val="8C97AB"/>
      </a:accent5>
      <a:accent6>
        <a:srgbClr val="C9D2E0"/>
      </a:accent6>
      <a:hlink>
        <a:srgbClr val="0563C1"/>
      </a:hlink>
      <a:folHlink>
        <a:srgbClr val="954F72"/>
      </a:folHlink>
    </a:clrScheme>
    <a:fontScheme name="NYC Taxi Fare: Baseline vs Tuned Mode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Taxi Fare: Baseline vs Tuned Model</dc:title>
  <dc:subject/>
  <dc:creator/>
  <cp:lastModifiedBy/>
  <cp:revision>1</cp:revision>
  <dcterms:created xsi:type="dcterms:W3CDTF">2026-10-01T23:01:14Z</dcterms:created>
  <dcterms:modified xsi:type="dcterms:W3CDTF">2026-10-01T23:01:14Z</dcterms:modified>
</cp:coreProperties>
</file>