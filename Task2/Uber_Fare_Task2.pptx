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1675"/>
  <p:notesSz cx="6858000" cy="9144000"/>
  <p:embeddedFontLst>
    <p:embeddedFont>
      <p:font typeface="IBM Plex Sans"/>
      <p:regular r:id="rId24"/>
      <p:bold r:id="rId25"/>
      <p:italic r:id="rId26"/>
      <p:boldItalic r:id="rId27"/>
    </p:embeddedFont>
    <p:embeddedFont>
      <p:font typeface="Economica"/>
      <p:regular r:id="rId28"/>
      <p:bold r:id="rId29"/>
      <p:italic r:id="rId30"/>
      <p:boldItalic r:id="rId31"/>
    </p:embeddedFont>
    <p:embeddedFont>
      <p:font typeface="Roboto Mono"/>
      <p:regular r:id="rId32"/>
      <p:bold r:id="rId33"/>
      <p:italic r:id="rId34"/>
      <p:boldItalic r:id="rId35"/>
    </p:embeddedFont>
    <p:embeddedFont>
      <p:font typeface="Open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0" roundtripDataSignature="AMtx7mhOfV6En1kFZafbsbLCDufBnTtH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IBMPlexSans-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BMPlexSans-italic.fntdata"/><Relationship Id="rId25" Type="http://schemas.openxmlformats.org/officeDocument/2006/relationships/font" Target="fonts/IBMPlexSans-bold.fntdata"/><Relationship Id="rId28" Type="http://schemas.openxmlformats.org/officeDocument/2006/relationships/font" Target="fonts/Economica-regular.fntdata"/><Relationship Id="rId27" Type="http://schemas.openxmlformats.org/officeDocument/2006/relationships/font" Target="fonts/IBMPlexSans-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Economica-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Economica-boldItalic.fntdata"/><Relationship Id="rId30" Type="http://schemas.openxmlformats.org/officeDocument/2006/relationships/font" Target="fonts/Economica-italic.fntdata"/><Relationship Id="rId11" Type="http://schemas.openxmlformats.org/officeDocument/2006/relationships/slide" Target="slides/slide6.xml"/><Relationship Id="rId33" Type="http://schemas.openxmlformats.org/officeDocument/2006/relationships/font" Target="fonts/RobotoMono-bold.fntdata"/><Relationship Id="rId10" Type="http://schemas.openxmlformats.org/officeDocument/2006/relationships/slide" Target="slides/slide5.xml"/><Relationship Id="rId32" Type="http://schemas.openxmlformats.org/officeDocument/2006/relationships/font" Target="fonts/RobotoMono-regular.fntdata"/><Relationship Id="rId13" Type="http://schemas.openxmlformats.org/officeDocument/2006/relationships/slide" Target="slides/slide8.xml"/><Relationship Id="rId35" Type="http://schemas.openxmlformats.org/officeDocument/2006/relationships/font" Target="fonts/RobotoMono-boldItalic.fntdata"/><Relationship Id="rId12" Type="http://schemas.openxmlformats.org/officeDocument/2006/relationships/slide" Target="slides/slide7.xml"/><Relationship Id="rId34" Type="http://schemas.openxmlformats.org/officeDocument/2006/relationships/font" Target="fonts/RobotoMono-italic.fntdata"/><Relationship Id="rId15" Type="http://schemas.openxmlformats.org/officeDocument/2006/relationships/slide" Target="slides/slide10.xml"/><Relationship Id="rId37" Type="http://schemas.openxmlformats.org/officeDocument/2006/relationships/font" Target="fonts/OpenSans-bold.fntdata"/><Relationship Id="rId14" Type="http://schemas.openxmlformats.org/officeDocument/2006/relationships/slide" Target="slides/slide9.xml"/><Relationship Id="rId36" Type="http://schemas.openxmlformats.org/officeDocument/2006/relationships/font" Target="fonts/OpenSans-regular.fntdata"/><Relationship Id="rId17" Type="http://schemas.openxmlformats.org/officeDocument/2006/relationships/slide" Target="slides/slide12.xml"/><Relationship Id="rId39" Type="http://schemas.openxmlformats.org/officeDocument/2006/relationships/font" Target="fonts/OpenSans-boldItalic.fntdata"/><Relationship Id="rId16" Type="http://schemas.openxmlformats.org/officeDocument/2006/relationships/slide" Target="slides/slide11.xml"/><Relationship Id="rId38" Type="http://schemas.openxmlformats.org/officeDocument/2006/relationships/font" Target="fonts/OpenSans-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h4f2796e85df475a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h4f2796e85df475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lnSpc>
                <a:spcPct val="115000"/>
              </a:lnSpc>
              <a:spcBef>
                <a:spcPts val="0"/>
              </a:spcBef>
              <a:spcAft>
                <a:spcPts val="0"/>
              </a:spcAft>
              <a:buClr>
                <a:schemeClr val="dk1"/>
              </a:buClr>
              <a:buSzPts val="1100"/>
              <a:buFont typeface="Arial"/>
              <a:buNone/>
            </a:pPr>
            <a:r>
              <a:rPr lang="en-US">
                <a:solidFill>
                  <a:srgbClr val="16213A"/>
                </a:solidFill>
              </a:rPr>
              <a:t>احنا الاسبوع اللي فات ات</a:t>
            </a:r>
            <a:br>
              <a:rPr lang="en-US">
                <a:solidFill>
                  <a:srgbClr val="16213A"/>
                </a:solidFill>
              </a:rPr>
            </a:br>
            <a:br>
              <a:rPr lang="en-US">
                <a:solidFill>
                  <a:srgbClr val="16213A"/>
                </a:solidFill>
              </a:rPr>
            </a:br>
            <a:r>
              <a:rPr b="1" lang="en-US">
                <a:solidFill>
                  <a:srgbClr val="16213A"/>
                </a:solidFill>
              </a:rPr>
              <a:t>الـLinear Regression فهم الـbasic relationship، لكن مقدرش يفهم كل الـnon-linear patterns الموجودة في الداتا. ف الاسيوع ده قدرت افهم ايه الحاجات ال linear regression </a:t>
            </a:r>
            <a:endParaRPr b="1">
              <a:solidFill>
                <a:srgbClr val="16213A"/>
              </a:solidFill>
            </a:endParaRPr>
          </a:p>
          <a:p>
            <a:pPr indent="0" lvl="0" marL="0" rtl="1" algn="r">
              <a:lnSpc>
                <a:spcPct val="115000"/>
              </a:lnSpc>
              <a:spcBef>
                <a:spcPts val="1200"/>
              </a:spcBef>
              <a:spcAft>
                <a:spcPts val="0"/>
              </a:spcAft>
              <a:buClr>
                <a:schemeClr val="dk1"/>
              </a:buClr>
              <a:buSzPts val="1100"/>
              <a:buFont typeface="Arial"/>
              <a:buNone/>
            </a:pPr>
            <a:r>
              <a:rPr b="1" lang="en-US">
                <a:solidFill>
                  <a:srgbClr val="16213A"/>
                </a:solidFill>
              </a:rPr>
              <a:t>فهم كويس:</a:t>
            </a:r>
            <a:endParaRPr b="1">
              <a:solidFill>
                <a:srgbClr val="16213A"/>
              </a:solidFill>
            </a:endParaRPr>
          </a:p>
          <a:p>
            <a:pPr indent="-298450" lvl="0" marL="457200" rtl="1" algn="r">
              <a:lnSpc>
                <a:spcPct val="115000"/>
              </a:lnSpc>
              <a:spcBef>
                <a:spcPts val="1200"/>
              </a:spcBef>
              <a:spcAft>
                <a:spcPts val="0"/>
              </a:spcAft>
              <a:buClr>
                <a:srgbClr val="16213A"/>
              </a:buClr>
              <a:buSzPts val="1100"/>
              <a:buChar char="●"/>
            </a:pPr>
            <a:r>
              <a:rPr lang="en-US">
                <a:solidFill>
                  <a:srgbClr val="16213A"/>
                </a:solidFill>
              </a:rPr>
              <a:t>العلاقة الأساسية بين </a:t>
            </a:r>
            <a:r>
              <a:rPr b="1" lang="en-US">
                <a:solidFill>
                  <a:srgbClr val="16213A"/>
                </a:solidFill>
              </a:rPr>
              <a:t>Distance → Fare</a:t>
            </a:r>
            <a:r>
              <a:rPr lang="en-US">
                <a:solidFill>
                  <a:srgbClr val="16213A"/>
                </a:solidFill>
              </a:rPr>
              <a:t>: كل ما المسافة تزيد، السعر غالبًا يزيد.</a:t>
            </a:r>
            <a:endParaRPr>
              <a:solidFill>
                <a:srgbClr val="16213A"/>
              </a:solidFill>
            </a:endParaRPr>
          </a:p>
          <a:p>
            <a:pPr indent="-298450" lvl="0" marL="457200" rtl="1" algn="r">
              <a:lnSpc>
                <a:spcPct val="115000"/>
              </a:lnSpc>
              <a:spcBef>
                <a:spcPts val="0"/>
              </a:spcBef>
              <a:spcAft>
                <a:spcPts val="0"/>
              </a:spcAft>
              <a:buClr>
                <a:srgbClr val="16213A"/>
              </a:buClr>
              <a:buSzPts val="1100"/>
              <a:buChar char="●"/>
            </a:pPr>
            <a:r>
              <a:rPr lang="en-US">
                <a:solidFill>
                  <a:srgbClr val="16213A"/>
                </a:solidFill>
              </a:rPr>
              <a:t>الـgeneral trend بتاع الأسعار، ولذلك قدر يدي نتائج معقولة.</a:t>
            </a:r>
            <a:endParaRPr>
              <a:solidFill>
                <a:srgbClr val="16213A"/>
              </a:solidFill>
            </a:endParaRPr>
          </a:p>
          <a:p>
            <a:pPr indent="0" lvl="0" marL="0" rtl="1" algn="r">
              <a:lnSpc>
                <a:spcPct val="115000"/>
              </a:lnSpc>
              <a:spcBef>
                <a:spcPts val="1200"/>
              </a:spcBef>
              <a:spcAft>
                <a:spcPts val="0"/>
              </a:spcAft>
              <a:buClr>
                <a:schemeClr val="dk1"/>
              </a:buClr>
              <a:buSzPts val="1100"/>
              <a:buFont typeface="Arial"/>
              <a:buNone/>
            </a:pPr>
            <a:r>
              <a:rPr b="1" lang="en-US">
                <a:solidFill>
                  <a:srgbClr val="16213A"/>
                </a:solidFill>
              </a:rPr>
              <a:t>اللي مفهموش كويس:</a:t>
            </a:r>
            <a:endParaRPr b="1">
              <a:solidFill>
                <a:srgbClr val="16213A"/>
              </a:solidFill>
            </a:endParaRPr>
          </a:p>
          <a:p>
            <a:pPr indent="-298450" lvl="0" marL="457200" rtl="1" algn="r">
              <a:lnSpc>
                <a:spcPct val="115000"/>
              </a:lnSpc>
              <a:spcBef>
                <a:spcPts val="1200"/>
              </a:spcBef>
              <a:spcAft>
                <a:spcPts val="0"/>
              </a:spcAft>
              <a:buClr>
                <a:srgbClr val="16213A"/>
              </a:buClr>
              <a:buSzPts val="1100"/>
              <a:buChar char="●"/>
            </a:pPr>
            <a:r>
              <a:rPr lang="en-US">
                <a:solidFill>
                  <a:srgbClr val="16213A"/>
                </a:solidFill>
              </a:rPr>
              <a:t>إن العلاقة بين </a:t>
            </a:r>
            <a:r>
              <a:rPr b="1" lang="en-US">
                <a:solidFill>
                  <a:srgbClr val="16213A"/>
                </a:solidFill>
              </a:rPr>
              <a:t>Distance وFare مش خط مستقيم طول الوقت</a:t>
            </a:r>
            <a:r>
              <a:rPr lang="en-US">
                <a:solidFill>
                  <a:srgbClr val="16213A"/>
                </a:solidFill>
              </a:rPr>
              <a:t>.</a:t>
            </a:r>
            <a:endParaRPr>
              <a:solidFill>
                <a:srgbClr val="16213A"/>
              </a:solidFill>
            </a:endParaRPr>
          </a:p>
          <a:p>
            <a:pPr indent="-298450" lvl="0" marL="457200" rtl="1" algn="r">
              <a:lnSpc>
                <a:spcPct val="115000"/>
              </a:lnSpc>
              <a:spcBef>
                <a:spcPts val="0"/>
              </a:spcBef>
              <a:spcAft>
                <a:spcPts val="0"/>
              </a:spcAft>
              <a:buClr>
                <a:srgbClr val="16213A"/>
              </a:buClr>
              <a:buSzPts val="1100"/>
              <a:buChar char="●"/>
            </a:pPr>
            <a:r>
              <a:rPr lang="en-US">
                <a:solidFill>
                  <a:srgbClr val="16213A"/>
                </a:solidFill>
              </a:rPr>
              <a:t>تأثير </a:t>
            </a:r>
            <a:r>
              <a:rPr b="1" lang="en-US">
                <a:solidFill>
                  <a:srgbClr val="16213A"/>
                </a:solidFill>
              </a:rPr>
              <a:t>Hour</a:t>
            </a:r>
            <a:r>
              <a:rPr lang="en-US">
                <a:solidFill>
                  <a:srgbClr val="16213A"/>
                </a:solidFill>
              </a:rPr>
              <a:t> مش Linear؛ السعر بيتغير بشكل مختلف خلال اليوم.</a:t>
            </a:r>
            <a:endParaRPr>
              <a:solidFill>
                <a:srgbClr val="16213A"/>
              </a:solidFill>
            </a:endParaRPr>
          </a:p>
          <a:p>
            <a:pPr indent="-298450" lvl="0" marL="457200" rtl="1" algn="r">
              <a:lnSpc>
                <a:spcPct val="115000"/>
              </a:lnSpc>
              <a:spcBef>
                <a:spcPts val="0"/>
              </a:spcBef>
              <a:spcAft>
                <a:spcPts val="0"/>
              </a:spcAft>
              <a:buClr>
                <a:srgbClr val="16213A"/>
              </a:buClr>
              <a:buSzPts val="1100"/>
              <a:buChar char="●"/>
            </a:pPr>
            <a:r>
              <a:rPr lang="en-US">
                <a:solidFill>
                  <a:srgbClr val="16213A"/>
                </a:solidFill>
              </a:rPr>
              <a:t>رحلات زي المطاراات  ليها pricing pattern مختلف، وفيها أسعار شبه ثابتة.</a:t>
            </a:r>
            <a:endParaRPr>
              <a:solidFill>
                <a:srgbClr val="16213A"/>
              </a:solidFill>
            </a:endParaRPr>
          </a:p>
          <a:p>
            <a:pPr indent="-298450" lvl="0" marL="457200" rtl="1" algn="r">
              <a:lnSpc>
                <a:spcPct val="115000"/>
              </a:lnSpc>
              <a:spcBef>
                <a:spcPts val="0"/>
              </a:spcBef>
              <a:spcAft>
                <a:spcPts val="0"/>
              </a:spcAft>
              <a:buClr>
                <a:srgbClr val="16213A"/>
              </a:buClr>
              <a:buSzPts val="1100"/>
              <a:buChar char="●"/>
            </a:pPr>
            <a:r>
              <a:rPr lang="en-US">
                <a:solidFill>
                  <a:srgbClr val="16213A"/>
                </a:solidFill>
              </a:rPr>
              <a:t>الـ</a:t>
            </a:r>
            <a:r>
              <a:rPr b="1" lang="en-US">
                <a:solidFill>
                  <a:srgbClr val="16213A"/>
                </a:solidFill>
              </a:rPr>
              <a:t>interactions</a:t>
            </a:r>
            <a:r>
              <a:rPr lang="en-US">
                <a:solidFill>
                  <a:srgbClr val="16213A"/>
                </a:solidFill>
              </a:rPr>
              <a:t>: مثلًا تأثير المسافة ممكن يختلف حسب الوقت أو نوع الرحلة.</a:t>
            </a:r>
            <a:endParaRPr>
              <a:solidFill>
                <a:srgbClr val="16213A"/>
              </a:solidFill>
            </a:endParaRPr>
          </a:p>
          <a:p>
            <a:pPr indent="0" lvl="0" marL="381000" marR="381000" rtl="1" algn="r">
              <a:lnSpc>
                <a:spcPct val="115000"/>
              </a:lnSpc>
              <a:spcBef>
                <a:spcPts val="1200"/>
              </a:spcBef>
              <a:spcAft>
                <a:spcPts val="0"/>
              </a:spcAft>
              <a:buClr>
                <a:schemeClr val="dk1"/>
              </a:buClr>
              <a:buSzPts val="1100"/>
              <a:buFont typeface="Arial"/>
              <a:buNone/>
            </a:pPr>
            <a:br>
              <a:rPr lang="en-US">
                <a:solidFill>
                  <a:srgbClr val="16213A"/>
                </a:solidFill>
              </a:rPr>
            </a:br>
            <a:r>
              <a:rPr b="1" lang="en-US">
                <a:solidFill>
                  <a:srgbClr val="16213A"/>
                </a:solidFill>
              </a:rPr>
              <a:t>"هو فهم القاعدة العامة كويس: المسافة بتزيد → السعر بيزيد. لكن لما الـpricing بقى فيه patterns أعقد ومش ماشية في خط مستقيم، بدأ يقف عندها."</a:t>
            </a:r>
            <a:endParaRPr b="1">
              <a:solidFill>
                <a:srgbClr val="16213A"/>
              </a:solidFill>
            </a:endParaRPr>
          </a:p>
          <a:p>
            <a:pPr indent="0" lvl="0" marL="0" rtl="1" algn="r">
              <a:lnSpc>
                <a:spcPct val="115000"/>
              </a:lnSpc>
              <a:spcBef>
                <a:spcPts val="1200"/>
              </a:spcBef>
              <a:spcAft>
                <a:spcPts val="0"/>
              </a:spcAft>
              <a:buClr>
                <a:schemeClr val="dk1"/>
              </a:buClr>
              <a:buSzPts val="1100"/>
              <a:buFont typeface="Arial"/>
              <a:buNone/>
            </a:pPr>
            <a:r>
              <a:t/>
            </a:r>
            <a:endParaRPr>
              <a:solidFill>
                <a:srgbClr val="16213A"/>
              </a:solidFill>
            </a:endParaRPr>
          </a:p>
          <a:p>
            <a:pPr indent="0" lvl="0" marL="0" rtl="1" algn="r">
              <a:lnSpc>
                <a:spcPct val="115000"/>
              </a:lnSpc>
              <a:spcBef>
                <a:spcPts val="0"/>
              </a:spcBef>
              <a:spcAft>
                <a:spcPts val="0"/>
              </a:spcAft>
              <a:buClr>
                <a:schemeClr val="dk1"/>
              </a:buClr>
              <a:buSzPts val="1100"/>
              <a:buFont typeface="Arial"/>
              <a:buNone/>
            </a:pPr>
            <a:r>
              <a:t/>
            </a:r>
            <a:endParaRPr>
              <a:solidFill>
                <a:srgbClr val="16213A"/>
              </a:solidFill>
            </a:endParaRPr>
          </a:p>
          <a:p>
            <a:pPr indent="0" lvl="0" marL="0" rtl="1" algn="r">
              <a:lnSpc>
                <a:spcPct val="115000"/>
              </a:lnSpc>
              <a:spcBef>
                <a:spcPts val="0"/>
              </a:spcBef>
              <a:spcAft>
                <a:spcPts val="0"/>
              </a:spcAft>
              <a:buClr>
                <a:schemeClr val="dk1"/>
              </a:buClr>
              <a:buSzPts val="1100"/>
              <a:buFont typeface="Arial"/>
              <a:buNone/>
            </a:pPr>
            <a:r>
              <a:t/>
            </a:r>
            <a:endParaRPr b="1" sz="1300">
              <a:solidFill>
                <a:srgbClr val="16213A"/>
              </a:solidFill>
            </a:endParaRPr>
          </a:p>
          <a:p>
            <a:pPr indent="0" lvl="0" marL="0" rtl="1" algn="r">
              <a:lnSpc>
                <a:spcPct val="115000"/>
              </a:lnSpc>
              <a:spcBef>
                <a:spcPts val="0"/>
              </a:spcBef>
              <a:spcAft>
                <a:spcPts val="0"/>
              </a:spcAft>
              <a:buClr>
                <a:schemeClr val="dk1"/>
              </a:buClr>
              <a:buSzPts val="1100"/>
              <a:buFont typeface="Arial"/>
              <a:buNone/>
            </a:pPr>
            <a:r>
              <a:rPr b="1" lang="en-US" sz="1300">
                <a:solidFill>
                  <a:srgbClr val="16213A"/>
                </a:solidFill>
              </a:rPr>
              <a:t>إذن، من هنا بدأنا Task 2. بعد ما عرفنا إن الـLinear Regression فهم العلاقة الأساسية بين الـDistance والـFare، لكنه مقدرش يلتقط الـnon-linear patterns بشكل كويس، بدأنا في Task 2 نسأل: هل المشكلة في الداتا نفسها، ولا في الـmodel؟ وإيه الـmodel اللي يقدر يفهم الـpatterns دي بشكل أفضل؟</a:t>
            </a:r>
            <a:br>
              <a:rPr b="1" lang="en-US" sz="1300">
                <a:solidFill>
                  <a:srgbClr val="16213A"/>
                </a:solidFill>
              </a:rPr>
            </a:br>
            <a:br>
              <a:rPr b="1" lang="en-US" sz="1300">
                <a:solidFill>
                  <a:srgbClr val="16213A"/>
                </a:solidFill>
              </a:rPr>
            </a:br>
            <a:endParaRPr b="1" sz="1300">
              <a:solidFill>
                <a:srgbClr val="16213A"/>
              </a:solidFill>
            </a:endParaRPr>
          </a:p>
          <a:p>
            <a:pPr indent="0" lvl="0" marL="381000" marR="381000" rtl="1" algn="r">
              <a:lnSpc>
                <a:spcPct val="115000"/>
              </a:lnSpc>
              <a:spcBef>
                <a:spcPts val="1200"/>
              </a:spcBef>
              <a:spcAft>
                <a:spcPts val="1200"/>
              </a:spcAft>
              <a:buClr>
                <a:schemeClr val="dk1"/>
              </a:buClr>
              <a:buSzPts val="1100"/>
              <a:buFont typeface="Arial"/>
              <a:buNone/>
            </a:pPr>
            <a:r>
              <a:rPr b="1" lang="en-US" sz="1300">
                <a:solidFill>
                  <a:srgbClr val="16213A"/>
                </a:solidFill>
              </a:rPr>
              <a:t>ففي Task 2، رجعنا للـEDA وبصينا: إيه الحاجات اللي بتخلي سعر الرحلة يتغير بطريقة الـLinear Regression مش قادر يفهمها؟”</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1" algn="r">
              <a:lnSpc>
                <a:spcPct val="115000"/>
              </a:lnSpc>
              <a:spcBef>
                <a:spcPts val="1200"/>
              </a:spcBef>
              <a:spcAft>
                <a:spcPts val="0"/>
              </a:spcAft>
              <a:buClr>
                <a:schemeClr val="dk1"/>
              </a:buClr>
              <a:buSzPts val="1100"/>
              <a:buFont typeface="Arial"/>
              <a:buNone/>
            </a:pPr>
            <a:r>
              <a:rPr b="1" lang="en-US" sz="1300">
                <a:solidFill>
                  <a:schemeClr val="dk1"/>
                </a:solidFill>
              </a:rPr>
              <a:t> رجعنا للـEDA وبصينا: إيه الحاجات اللي بتخلي سعر الرحلة يتغير بطريقة الـLinear Regression مش قادر يفهمها؟” فيه patterns تانية الـLinear Regression محتاج يعرفها عشان يقدر يتوقع السعر بشكل أفضل. </a:t>
            </a:r>
            <a:endParaRPr b="1" sz="1300">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sz="1300">
                <a:solidFill>
                  <a:schemeClr val="dk1"/>
                </a:solidFill>
              </a:rPr>
              <a:t>ولقينا 3 حاجات:</a:t>
            </a:r>
            <a:endParaRPr b="1" sz="1300">
              <a:solidFill>
                <a:schemeClr val="dk1"/>
              </a:solidFill>
            </a:endParaRPr>
          </a:p>
          <a:p>
            <a:pPr indent="0" lvl="0" marL="0" rtl="1" algn="r">
              <a:lnSpc>
                <a:spcPct val="115000"/>
              </a:lnSpc>
              <a:spcBef>
                <a:spcPts val="1400"/>
              </a:spcBef>
              <a:spcAft>
                <a:spcPts val="0"/>
              </a:spcAft>
              <a:buClr>
                <a:schemeClr val="dk1"/>
              </a:buClr>
              <a:buSzPts val="1100"/>
              <a:buFont typeface="Arial"/>
              <a:buNone/>
            </a:pPr>
            <a:r>
              <a:rPr b="1" lang="en-US" sz="1300">
                <a:solidFill>
                  <a:schemeClr val="dk1"/>
                </a:solidFill>
              </a:rPr>
              <a:t>1. الوقت</a:t>
            </a:r>
            <a:endParaRPr b="1" sz="1300">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sz="1300">
                <a:solidFill>
                  <a:schemeClr val="dk1"/>
                </a:solidFill>
              </a:rPr>
              <a:t>لقينا إن السعر لكل كيلومتر بيتغير خلال السنين وكانت ف Sep 2012 كنت السنة الوحيدة اللي فيها سعر اعلي من العادي مقارنا ببقيت السنين.. بمعني</a:t>
            </a:r>
            <a:br>
              <a:rPr b="1" lang="en-US" sz="1300">
                <a:solidFill>
                  <a:schemeClr val="dk1"/>
                </a:solidFill>
              </a:rPr>
            </a:br>
            <a:r>
              <a:rPr b="1" lang="en-US" sz="1300">
                <a:solidFill>
                  <a:schemeClr val="dk1"/>
                </a:solidFill>
              </a:rPr>
              <a:t>ف ده كان insight بالنسبالي انه  نفس المسافة مش بالضرورة يكون لها نفس السعر. </a:t>
            </a:r>
            <a:endParaRPr b="1" sz="1300">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sz="1300">
                <a:solidFill>
                  <a:schemeClr val="dk1"/>
                </a:solidFill>
              </a:rPr>
              <a:t>فأضفنا Features تمثل الـtime بشكل أفضل.</a:t>
            </a:r>
            <a:endParaRPr b="1" sz="1300">
              <a:solidFill>
                <a:schemeClr val="dk1"/>
              </a:solidFill>
            </a:endParaRPr>
          </a:p>
          <a:p>
            <a:pPr indent="0" lvl="0" marL="0" rtl="1" algn="r">
              <a:lnSpc>
                <a:spcPct val="115000"/>
              </a:lnSpc>
              <a:spcBef>
                <a:spcPts val="1400"/>
              </a:spcBef>
              <a:spcAft>
                <a:spcPts val="0"/>
              </a:spcAft>
              <a:buClr>
                <a:schemeClr val="dk1"/>
              </a:buClr>
              <a:buSzPts val="1100"/>
              <a:buFont typeface="Arial"/>
              <a:buNone/>
            </a:pPr>
            <a:r>
              <a:rPr b="1" lang="en-US" sz="1300">
                <a:solidFill>
                  <a:schemeClr val="dk1"/>
                </a:solidFill>
              </a:rPr>
              <a:t>2. الـHour</a:t>
            </a:r>
            <a:endParaRPr b="1" sz="1300">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sz="1300">
                <a:solidFill>
                  <a:schemeClr val="dk1"/>
                </a:solidFill>
              </a:rPr>
              <a:t>لقينا إن الساعة مش مجرد رقم من 0 لـ23.</a:t>
            </a:r>
            <a:endParaRPr b="1" sz="1300">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sz="1300">
                <a:solidFill>
                  <a:schemeClr val="dk1"/>
                </a:solidFill>
              </a:rPr>
              <a:t>مثلاً:</a:t>
            </a:r>
            <a:br>
              <a:rPr b="1" lang="en-US" sz="1300">
                <a:solidFill>
                  <a:schemeClr val="dk1"/>
                </a:solidFill>
              </a:rPr>
            </a:br>
            <a:r>
              <a:rPr b="1" lang="en-US" sz="1300">
                <a:solidFill>
                  <a:schemeClr val="dk1"/>
                </a:solidFill>
              </a:rPr>
              <a:t>11 PM و12 AM قريبين جدًا، لكن لو استخدمنا الساعة كرقم، الـmodel ممكن يشوف 23 و0 كأنهم بعيدين جدًا.</a:t>
            </a:r>
            <a:endParaRPr b="1" sz="1300">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sz="1300">
                <a:solidFill>
                  <a:schemeClr val="dk1"/>
                </a:solidFill>
              </a:rPr>
              <a:t>فعملنا sin/cos representation عشان نخلي الـmodel يفهم طبيعة الوقت كـcircle.</a:t>
            </a:r>
            <a:endParaRPr b="1" sz="1300">
              <a:solidFill>
                <a:schemeClr val="dk1"/>
              </a:solidFill>
            </a:endParaRPr>
          </a:p>
          <a:p>
            <a:pPr indent="0" lvl="0" marL="0" rtl="1" algn="r">
              <a:lnSpc>
                <a:spcPct val="115000"/>
              </a:lnSpc>
              <a:spcBef>
                <a:spcPts val="1400"/>
              </a:spcBef>
              <a:spcAft>
                <a:spcPts val="0"/>
              </a:spcAft>
              <a:buClr>
                <a:schemeClr val="dk1"/>
              </a:buClr>
              <a:buSzPts val="1100"/>
              <a:buFont typeface="Arial"/>
              <a:buNone/>
            </a:pPr>
            <a:r>
              <a:rPr b="1" lang="en-US" sz="1300">
                <a:solidFill>
                  <a:schemeClr val="dk1"/>
                </a:solidFill>
              </a:rPr>
              <a:t>3. JFK</a:t>
            </a:r>
            <a:endParaRPr b="1" sz="1300">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sz="1300">
                <a:solidFill>
                  <a:schemeClr val="dk1"/>
                </a:solidFill>
              </a:rPr>
              <a:t>لقينا إن رحلات JFK → Manhattan أسعارها متجمعة تقريبًا عند 45–57.</a:t>
            </a:r>
            <a:endParaRPr b="1" sz="1300">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sz="1300">
                <a:solidFill>
                  <a:schemeClr val="dk1"/>
                </a:solidFill>
              </a:rPr>
              <a:t>يعني دي مش ماشية بنفس pattern الرحلات العادية.</a:t>
            </a:r>
            <a:endParaRPr b="1" sz="1300">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sz="1300">
                <a:solidFill>
                  <a:schemeClr val="dk1"/>
                </a:solidFill>
              </a:rPr>
              <a:t>فأضفنا JFK feature عشان الـmodel يعرف إن دي نوع مختلف من الرحلات وله pricing behavior مختلف.</a:t>
            </a:r>
            <a:endParaRPr b="1" sz="1300">
              <a:solidFill>
                <a:schemeClr val="dk1"/>
              </a:solidFill>
            </a:endParaRPr>
          </a:p>
          <a:p>
            <a:pPr indent="0" lvl="0" marL="0" rtl="0" algn="l">
              <a:spcBef>
                <a:spcPts val="1200"/>
              </a:spcBef>
              <a:spcAft>
                <a:spcPts val="0"/>
              </a:spcAft>
              <a:buNone/>
            </a:pPr>
            <a:r>
              <a:t/>
            </a:r>
            <a:endParaRPr/>
          </a:p>
        </p:txBody>
      </p:sp>
      <p:sp>
        <p:nvSpPr>
          <p:cNvPr id="68" name="Google Shape;6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lnSpc>
                <a:spcPct val="115000"/>
              </a:lnSpc>
              <a:spcBef>
                <a:spcPts val="1200"/>
              </a:spcBef>
              <a:spcAft>
                <a:spcPts val="0"/>
              </a:spcAft>
              <a:buNone/>
            </a:pPr>
            <a:r>
              <a:rPr b="1" lang="en-US">
                <a:solidFill>
                  <a:schemeClr val="dk1"/>
                </a:solidFill>
              </a:rPr>
              <a:t>"إحنا بدأنا الـPipeline بالـMissing Values، لأن قبل ما نعمل أي preprocessing لازم نتأكد إن البيانات كاملة.</a:t>
            </a:r>
            <a:endParaRPr b="1">
              <a:solidFill>
                <a:schemeClr val="dk1"/>
              </a:solidFill>
            </a:endParaRPr>
          </a:p>
          <a:p>
            <a:pPr indent="0" lvl="0" marL="0" rtl="1" algn="r">
              <a:lnSpc>
                <a:spcPct val="115000"/>
              </a:lnSpc>
              <a:spcBef>
                <a:spcPts val="1200"/>
              </a:spcBef>
              <a:spcAft>
                <a:spcPts val="0"/>
              </a:spcAft>
              <a:buNone/>
            </a:pPr>
            <a:r>
              <a:rPr b="1" lang="en-US">
                <a:solidFill>
                  <a:schemeClr val="dk1"/>
                </a:solidFill>
              </a:rPr>
              <a:t>كان عندنا بعض missing values، فاستخدمنا dropna() لإزالة الـrows اللي فيها قيم ناقصة.</a:t>
            </a:r>
            <a:endParaRPr b="1">
              <a:solidFill>
                <a:schemeClr val="dk1"/>
              </a:solidFill>
            </a:endParaRPr>
          </a:p>
          <a:p>
            <a:pPr indent="0" lvl="0" marL="0" rtl="1" algn="r">
              <a:lnSpc>
                <a:spcPct val="115000"/>
              </a:lnSpc>
              <a:spcBef>
                <a:spcPts val="1200"/>
              </a:spcBef>
              <a:spcAft>
                <a:spcPts val="0"/>
              </a:spcAft>
              <a:buNone/>
            </a:pPr>
            <a:r>
              <a:rPr b="1" lang="en-US">
                <a:solidFill>
                  <a:schemeClr val="dk1"/>
                </a:solidFill>
              </a:rPr>
              <a:t>والرسم على الشمال بيأكد إن بعد الخطوة دي مفيش missing values متبقية.</a:t>
            </a:r>
            <a:endParaRPr b="1">
              <a:solidFill>
                <a:schemeClr val="dk1"/>
              </a:solidFill>
            </a:endParaRPr>
          </a:p>
          <a:p>
            <a:pPr indent="0" lvl="0" marL="0" rtl="1" algn="r">
              <a:lnSpc>
                <a:spcPct val="115000"/>
              </a:lnSpc>
              <a:spcBef>
                <a:spcPts val="1200"/>
              </a:spcBef>
              <a:spcAft>
                <a:spcPts val="0"/>
              </a:spcAft>
              <a:buNone/>
            </a:pPr>
            <a:r>
              <a:rPr b="1" lang="en-US">
                <a:solidFill>
                  <a:schemeClr val="dk1"/>
                </a:solidFill>
              </a:rPr>
              <a:t>بعد كده بصينا على توزيع الـfare_amount بعد حذف الـmissing values.</a:t>
            </a:r>
            <a:endParaRPr b="1">
              <a:solidFill>
                <a:schemeClr val="dk1"/>
              </a:solidFill>
            </a:endParaRPr>
          </a:p>
          <a:p>
            <a:pPr indent="0" lvl="0" marL="0" rtl="1" algn="r">
              <a:lnSpc>
                <a:spcPct val="115000"/>
              </a:lnSpc>
              <a:spcBef>
                <a:spcPts val="1200"/>
              </a:spcBef>
              <a:spcAft>
                <a:spcPts val="0"/>
              </a:spcAft>
              <a:buNone/>
            </a:pPr>
            <a:r>
              <a:rPr b="1" lang="en-US">
                <a:solidFill>
                  <a:schemeClr val="dk1"/>
                </a:solidFill>
              </a:rPr>
              <a:t>بنلاحظ إن معظم الـfares موجودة في نطاق منخفض نسبيًا، وفيه عدد قليل من القيم العالية ناحية اليمين.</a:t>
            </a:r>
            <a:endParaRPr b="1">
              <a:solidFill>
                <a:schemeClr val="dk1"/>
              </a:solidFill>
            </a:endParaRPr>
          </a:p>
          <a:p>
            <a:pPr indent="0" lvl="0" marL="0" rtl="1" algn="r">
              <a:lnSpc>
                <a:spcPct val="115000"/>
              </a:lnSpc>
              <a:spcBef>
                <a:spcPts val="1200"/>
              </a:spcBef>
              <a:spcAft>
                <a:spcPts val="0"/>
              </a:spcAft>
              <a:buNone/>
            </a:pPr>
            <a:r>
              <a:rPr b="1" lang="en-US">
                <a:solidFill>
                  <a:schemeClr val="dk1"/>
                </a:solidFill>
              </a:rPr>
              <a:t>وده مهم لأنه بيدينا فكرة عن شكل الـtarget وبيخلينا ننتبه لاحتمال وجود unusual values، واللي هنتعامل معاها في خطوة الـOutliers بعد كده.</a:t>
            </a:r>
            <a:endParaRPr b="1">
              <a:solidFill>
                <a:schemeClr val="dk1"/>
              </a:solidFill>
            </a:endParaRPr>
          </a:p>
          <a:p>
            <a:pPr indent="0" lvl="0" marL="0" rtl="1" algn="r">
              <a:lnSpc>
                <a:spcPct val="115000"/>
              </a:lnSpc>
              <a:spcBef>
                <a:spcPts val="1200"/>
              </a:spcBef>
              <a:spcAft>
                <a:spcPts val="0"/>
              </a:spcAft>
              <a:buNone/>
            </a:pPr>
            <a:r>
              <a:rPr b="1" lang="en-US">
                <a:solidFill>
                  <a:schemeClr val="dk1"/>
                </a:solidFill>
              </a:rPr>
              <a:t>فالفكرة هنا إننا قبل ما نبدأ Encoding أو Scaling أو Training، بننظف الداتا ونتأكد من شكلها."</a:t>
            </a:r>
            <a:endParaRPr b="1">
              <a:solidFill>
                <a:schemeClr val="dk1"/>
              </a:solidFill>
            </a:endParaRPr>
          </a:p>
          <a:p>
            <a:pPr indent="0" lvl="0" marL="0" rtl="0" algn="l">
              <a:spcBef>
                <a:spcPts val="1200"/>
              </a:spcBef>
              <a:spcAft>
                <a:spcPts val="0"/>
              </a:spcAft>
              <a:buNone/>
            </a:pPr>
            <a:r>
              <a:t/>
            </a:r>
            <a:endParaRPr/>
          </a:p>
        </p:txBody>
      </p:sp>
      <p:sp>
        <p:nvSpPr>
          <p:cNvPr id="86" name="Google Shape;86;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4f2796e85df475ae_0_8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lnSpc>
                <a:spcPct val="115000"/>
              </a:lnSpc>
              <a:spcBef>
                <a:spcPts val="1200"/>
              </a:spcBef>
              <a:spcAft>
                <a:spcPts val="0"/>
              </a:spcAft>
              <a:buNone/>
            </a:pPr>
            <a:r>
              <a:rPr b="1" lang="en-US">
                <a:solidFill>
                  <a:schemeClr val="dk1"/>
                </a:solidFill>
              </a:rPr>
              <a:t>بعد كده أردنا نعرف هل الـfeatures دي مرتبطة فعلًا بالـfare. فحسبنا الـcorrelation بينها وبين fare_amount.</a:t>
            </a:r>
            <a:endParaRPr b="1">
              <a:solidFill>
                <a:schemeClr val="dk1"/>
              </a:solidFill>
            </a:endParaRPr>
          </a:p>
          <a:p>
            <a:pPr indent="0" lvl="0" marL="0" rtl="1" algn="r">
              <a:lnSpc>
                <a:spcPct val="115000"/>
              </a:lnSpc>
              <a:spcBef>
                <a:spcPts val="1200"/>
              </a:spcBef>
              <a:spcAft>
                <a:spcPts val="0"/>
              </a:spcAft>
              <a:buNone/>
            </a:pPr>
            <a:r>
              <a:rPr b="1" lang="en-US">
                <a:solidFill>
                  <a:schemeClr val="dk1"/>
                </a:solidFill>
              </a:rPr>
              <a:t> إن الـcorrelations كلها قريبة جدًا من zero. Traffic Condition كانت أعلى واحدة، لكن حتى هي كانت حوالي 0.003، وده ارتباط ضعيف جدًا.</a:t>
            </a:r>
            <a:endParaRPr b="1">
              <a:solidFill>
                <a:schemeClr val="dk1"/>
              </a:solidFill>
            </a:endParaRPr>
          </a:p>
          <a:p>
            <a:pPr indent="0" lvl="0" marL="0" rtl="1" algn="r">
              <a:lnSpc>
                <a:spcPct val="115000"/>
              </a:lnSpc>
              <a:spcBef>
                <a:spcPts val="1200"/>
              </a:spcBef>
              <a:spcAft>
                <a:spcPts val="0"/>
              </a:spcAft>
              <a:buNone/>
            </a:pPr>
            <a:r>
              <a:rPr b="1" lang="en-US">
                <a:solidFill>
                  <a:schemeClr val="dk1"/>
                </a:solidFill>
              </a:rPr>
              <a:t>وعشان نتأكد، بصينا على الـmedian fare في حالات الـTraffic المختلفة: Flow وDense وCongested. لقينا إن الـmedian fare تقريبًا متساوي في الحالات الثلاث.</a:t>
            </a:r>
            <a:endParaRPr b="1">
              <a:solidFill>
                <a:schemeClr val="dk1"/>
              </a:solidFill>
            </a:endParaRPr>
          </a:p>
          <a:p>
            <a:pPr indent="0" lvl="0" marL="0" rtl="1" algn="r">
              <a:lnSpc>
                <a:spcPct val="115000"/>
              </a:lnSpc>
              <a:spcBef>
                <a:spcPts val="1200"/>
              </a:spcBef>
              <a:spcAft>
                <a:spcPts val="0"/>
              </a:spcAft>
              <a:buNone/>
            </a:pPr>
            <a:r>
              <a:rPr b="1" lang="en-US">
                <a:solidFill>
                  <a:schemeClr val="dk1"/>
                </a:solidFill>
              </a:rPr>
              <a:t>فاستنتجنا إن Traffic Condition لوحدها مش بتفسر فرق كبير في الـfare في الداتا دي، لكن ده لا يعني إنها مستحيل تكون مفيدة مع features تانية."</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spcBef>
                <a:spcPts val="1200"/>
              </a:spcBef>
              <a:spcAft>
                <a:spcPts val="0"/>
              </a:spcAft>
              <a:buNone/>
            </a:pPr>
            <a:r>
              <a:t/>
            </a:r>
            <a:endParaRPr/>
          </a:p>
        </p:txBody>
      </p:sp>
      <p:sp>
        <p:nvSpPr>
          <p:cNvPr id="93" name="Google Shape;93;h4f2796e85df475ae_0_8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"بعد ما تعاملنا مع الـmissing values والـcategorical features، وصلنا لخطوة الـScaling.</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المشكلة إن الـfeatures عندنا كانت على scales مختلفة جدًا. مثلًا الـyear قيمته حوالي 2000، بينما الـhour والـdistance قيمهم أصغر بكتير، وده ظاهر في الرسم اللي على الشمال.</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فإحنا استخدمنا RobustScaler عشان نخلي الـfeatures على scale متقارب.</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RobustScaler بيحوّل الـmedian إلى حوالي zero والـIQR إلى حوالي one، وده ظاهر في الرسم اللي على اليمين.</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واخترنا RobustScaler لأنه أكثر مقاومة للـoutliers، وده مناسب للداتا بتاعتنا لأنها فيها extreme values.</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المهم إننا مش بنغير المعلومات نفسها، إحنا فقط بنغير scale الأرقام عشان الـmodel يتعامل مع الـfeatures بشكل أفضل."</a:t>
            </a:r>
            <a:endParaRPr b="1">
              <a:solidFill>
                <a:schemeClr val="dk1"/>
              </a:solidFill>
            </a:endParaRPr>
          </a:p>
          <a:p>
            <a:pPr indent="0" lvl="0" marL="0" rtl="0" algn="l">
              <a:spcBef>
                <a:spcPts val="1200"/>
              </a:spcBef>
              <a:spcAft>
                <a:spcPts val="0"/>
              </a:spcAft>
              <a:buNone/>
            </a:pPr>
            <a:r>
              <a:t/>
            </a:r>
            <a:endParaRPr/>
          </a:p>
        </p:txBody>
      </p:sp>
      <p:sp>
        <p:nvSpPr>
          <p:cNvPr id="99" name="Google Shape;9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1" algn="r">
              <a:lnSpc>
                <a:spcPct val="115000"/>
              </a:lnSpc>
              <a:spcBef>
                <a:spcPts val="1200"/>
              </a:spcBef>
              <a:spcAft>
                <a:spcPts val="0"/>
              </a:spcAft>
              <a:buNone/>
            </a:pPr>
            <a:r>
              <a:rPr b="1" lang="en-US">
                <a:solidFill>
                  <a:schemeClr val="dk1"/>
                </a:solidFill>
              </a:rPr>
              <a:t>العلاقة بين </a:t>
            </a:r>
            <a:r>
              <a:rPr b="1" lang="en-US">
                <a:solidFill>
                  <a:srgbClr val="188038"/>
                </a:solidFill>
                <a:latin typeface="Roboto Mono"/>
                <a:ea typeface="Roboto Mono"/>
                <a:cs typeface="Roboto Mono"/>
                <a:sym typeface="Roboto Mono"/>
              </a:rPr>
              <a:t>distance</a:t>
            </a:r>
            <a:r>
              <a:rPr b="1" lang="en-US">
                <a:solidFill>
                  <a:schemeClr val="dk1"/>
                </a:solidFill>
              </a:rPr>
              <a:t> و</a:t>
            </a:r>
            <a:r>
              <a:rPr b="1" lang="en-US">
                <a:solidFill>
                  <a:srgbClr val="188038"/>
                </a:solidFill>
                <a:latin typeface="Roboto Mono"/>
                <a:ea typeface="Roboto Mono"/>
                <a:cs typeface="Roboto Mono"/>
                <a:sym typeface="Roboto Mono"/>
              </a:rPr>
              <a:t>fare</a:t>
            </a:r>
            <a:r>
              <a:rPr b="1" lang="en-US">
                <a:solidFill>
                  <a:schemeClr val="dk1"/>
                </a:solidFill>
              </a:rPr>
              <a:t> مش خطية بشكل بسيط.</a:t>
            </a:r>
            <a:br>
              <a:rPr b="1" lang="en-US">
                <a:solidFill>
                  <a:schemeClr val="dk1"/>
                </a:solidFill>
              </a:rPr>
            </a:br>
            <a:r>
              <a:rPr lang="en-US">
                <a:solidFill>
                  <a:schemeClr val="dk1"/>
                </a:solidFill>
              </a:rPr>
              <a:t>الخط الأحمر، اللي بيستخدم الـ</a:t>
            </a:r>
            <a:r>
              <a:rPr lang="en-US">
                <a:solidFill>
                  <a:srgbClr val="188038"/>
                </a:solidFill>
                <a:latin typeface="Roboto Mono"/>
                <a:ea typeface="Roboto Mono"/>
                <a:cs typeface="Roboto Mono"/>
                <a:sym typeface="Roboto Mono"/>
              </a:rPr>
              <a:t>distance</a:t>
            </a:r>
            <a:r>
              <a:rPr lang="en-US">
                <a:solidFill>
                  <a:schemeClr val="dk1"/>
                </a:solidFill>
              </a:rPr>
              <a:t> الأصلية، مش بيمثل شكل العلاقة كويس.</a:t>
            </a:r>
            <a:br>
              <a:rPr lang="en-US">
                <a:solidFill>
                  <a:schemeClr val="dk1"/>
                </a:solidFill>
              </a:rPr>
            </a:br>
            <a:r>
              <a:rPr lang="en-US">
                <a:solidFill>
                  <a:schemeClr val="dk1"/>
                </a:solidFill>
              </a:rPr>
              <a:t>لذلك عملنا </a:t>
            </a:r>
            <a:r>
              <a:rPr b="1" lang="en-US">
                <a:solidFill>
                  <a:schemeClr val="dk1"/>
                </a:solidFill>
              </a:rPr>
              <a:t>log transformation</a:t>
            </a:r>
            <a:r>
              <a:rPr lang="en-US">
                <a:solidFill>
                  <a:schemeClr val="dk1"/>
                </a:solidFill>
              </a:rPr>
              <a:t> للـdistance باستخدام </a:t>
            </a:r>
            <a:r>
              <a:rPr lang="en-US">
                <a:solidFill>
                  <a:srgbClr val="188038"/>
                </a:solidFill>
                <a:latin typeface="Roboto Mono"/>
                <a:ea typeface="Roboto Mono"/>
                <a:cs typeface="Roboto Mono"/>
                <a:sym typeface="Roboto Mono"/>
              </a:rPr>
              <a:t>log1p()</a:t>
            </a:r>
            <a:r>
              <a:rPr lang="en-US">
                <a:solidFill>
                  <a:schemeClr val="dk1"/>
                </a:solidFill>
              </a:rPr>
              <a:t> وأنشأنا Feature جديدة اسمها </a:t>
            </a:r>
            <a:r>
              <a:rPr b="1" lang="en-US">
                <a:solidFill>
                  <a:srgbClr val="188038"/>
                </a:solidFill>
                <a:latin typeface="Roboto Mono"/>
                <a:ea typeface="Roboto Mono"/>
                <a:cs typeface="Roboto Mono"/>
                <a:sym typeface="Roboto Mono"/>
              </a:rPr>
              <a:t>log_distance</a:t>
            </a:r>
            <a:r>
              <a:rPr lang="en-US">
                <a:solidFill>
                  <a:schemeClr val="dk1"/>
                </a:solidFill>
              </a:rPr>
              <a:t>.</a:t>
            </a:r>
            <a:br>
              <a:rPr lang="en-US">
                <a:solidFill>
                  <a:schemeClr val="dk1"/>
                </a:solidFill>
              </a:rPr>
            </a:br>
            <a:r>
              <a:rPr lang="en-US">
                <a:solidFill>
                  <a:schemeClr val="dk1"/>
                </a:solidFill>
              </a:rPr>
              <a:t>الـ</a:t>
            </a:r>
            <a:r>
              <a:rPr lang="en-US">
                <a:solidFill>
                  <a:srgbClr val="188038"/>
                </a:solidFill>
                <a:latin typeface="Roboto Mono"/>
                <a:ea typeface="Roboto Mono"/>
                <a:cs typeface="Roboto Mono"/>
                <a:sym typeface="Roboto Mono"/>
              </a:rPr>
              <a:t>log_distance</a:t>
            </a:r>
            <a:r>
              <a:rPr lang="en-US">
                <a:solidFill>
                  <a:schemeClr val="dk1"/>
                </a:solidFill>
              </a:rPr>
              <a:t> بيضغط قيم الـdistance الكبيرة وبيخلي تمثيل العلاقة غير الخطية مع الـfare أنسب للـmodel.</a:t>
            </a:r>
            <a:endParaRPr>
              <a:solidFill>
                <a:schemeClr val="dk1"/>
              </a:solidFill>
            </a:endParaRPr>
          </a:p>
          <a:p>
            <a:pPr indent="0" lvl="0" marL="0" marR="381000" rtl="1" algn="r">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spcBef>
                <a:spcPts val="1200"/>
              </a:spcBef>
              <a:spcAft>
                <a:spcPts val="0"/>
              </a:spcAft>
              <a:buNone/>
            </a:pPr>
            <a:r>
              <a:t/>
            </a:r>
            <a:endParaRPr/>
          </a:p>
        </p:txBody>
      </p:sp>
      <p:sp>
        <p:nvSpPr>
          <p:cNvPr id="106" name="Google Shape;10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"الـfigure دي بتوضح اتنين patterns اكتشفناهم أثناء الـEDA.</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أول pattern هو إن fare per kilometer حصل له jump واضح في September 2012، فده معناه إن فيه تغيير في مستوى التسعير في الفترة دي.</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الـsecond pattern موجود في رحلات JFK-Manhattan، لأن توزيع أسعارها مختلف جدًا عن باقي الرحلات، وفيه spikes واضحة عند أسعار معينة، وده يشير إلى fixed or special pricing.</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فبدل ما نسيب الملاحظات دي مجرد observations، حولناها إلى features يقدر الـmodel يستخدمها. وده هو هدف الـFeature Engineering: تحويل الـpatterns اللي اكتشفناها في الـEDA إلى معلومات مفيدة للـmodel."</a:t>
            </a:r>
            <a:endParaRPr b="1">
              <a:solidFill>
                <a:schemeClr val="dk1"/>
              </a:solidFill>
            </a:endParaRPr>
          </a:p>
          <a:p>
            <a:pPr indent="0" lvl="0" marL="0" rtl="0" algn="l">
              <a:spcBef>
                <a:spcPts val="1200"/>
              </a:spcBef>
              <a:spcAft>
                <a:spcPts val="0"/>
              </a:spcAft>
              <a:buNone/>
            </a:pPr>
            <a:r>
              <a:t/>
            </a:r>
            <a:endParaRPr/>
          </a:p>
        </p:txBody>
      </p:sp>
      <p:sp>
        <p:nvSpPr>
          <p:cNvPr id="112" name="Google Shape;11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lnSpc>
                <a:spcPct val="115000"/>
              </a:lnSpc>
              <a:spcBef>
                <a:spcPts val="1200"/>
              </a:spcBef>
              <a:spcAft>
                <a:spcPts val="0"/>
              </a:spcAft>
              <a:buNone/>
            </a:pPr>
            <a:r>
              <a:rPr b="1" lang="en-US">
                <a:solidFill>
                  <a:schemeClr val="dk1"/>
                </a:solidFill>
              </a:rPr>
              <a:t> مش كل قيمة عالية تعتبر Outlier؛ المهم هل الـfare منطقي بالنسبة للـdistance ولا لأ </a:t>
            </a:r>
            <a:r>
              <a:rPr b="1" lang="en-US">
                <a:solidFill>
                  <a:schemeClr val="dk1"/>
                </a:solidFill>
              </a:rPr>
              <a:t>"إحنا استخدمنا Fare–Distance rule عشان نفرّق بين الـreal outliers والـdata errors. مش كل Fare عالي بنحذفه؛ بنحذف فقط الحالات اللي السعر فيها غير متناسب بشكل واضح مع المسافة، عشان الـmodel مايتعلمش من بيانات غير منطقية." </a:t>
            </a:r>
            <a:endParaRPr b="1">
              <a:solidFill>
                <a:schemeClr val="dk1"/>
              </a:solidFill>
            </a:endParaRPr>
          </a:p>
          <a:p>
            <a:pPr indent="0" lvl="0" marL="0" rtl="1" algn="r">
              <a:lnSpc>
                <a:spcPct val="115000"/>
              </a:lnSpc>
              <a:spcBef>
                <a:spcPts val="1200"/>
              </a:spcBef>
              <a:spcAft>
                <a:spcPts val="0"/>
              </a:spcAft>
              <a:buNone/>
            </a:pPr>
            <a:r>
              <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 مش كل قيمة عالية تعتبر Outlier؛ المهم هل الـfare منطقي بالنسبة للـdistance ولا لأ.  "في خطوة الـOutlier handling، إحنا ما استخدمناش بس فكرة إن القيمة الكبيرة تعتبر outlier. استخدمنا Domain Rule يعتمد على العلاقة بين distance وfare.</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الرسم على الشمال بيوضح الحالات اللي الـrule علّم عليها، وخصوصًا الرحلات اللي عندها distance قريبة من zero ولكن fare مرتفع بشكل غير منطقي.</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الفكرة إن السعر لازم يكون منطقي بالنسبة للمسافة، فمش كل fare مرتفع يعتبر outlier، لكن fare مرتفع جدًا مع distance شبه zero يعتبر حالة مشكوك فيها.</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بعد إزالة الحالات اللي الـrule اعتبرها fare errors، بصينا على توزيع الـfare مرة تانية، والرسم على اليمين بيبين التوزيع بعد الـdomain-rule cleaning.</a:t>
            </a:r>
            <a:endParaRPr b="1">
              <a:solidFill>
                <a:schemeClr val="dk1"/>
              </a:solidFill>
            </a:endParaRPr>
          </a:p>
          <a:p>
            <a:pPr indent="0" lvl="0" marL="0" rtl="1" algn="r">
              <a:lnSpc>
                <a:spcPct val="115000"/>
              </a:lnSpc>
              <a:spcBef>
                <a:spcPts val="1200"/>
              </a:spcBef>
              <a:spcAft>
                <a:spcPts val="0"/>
              </a:spcAft>
              <a:buNone/>
            </a:pPr>
            <a:r>
              <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br>
              <a:rPr b="1" lang="en-US">
                <a:solidFill>
                  <a:schemeClr val="dk1"/>
                </a:solidFill>
              </a:rPr>
            </a:br>
            <a:r>
              <a:rPr b="1" lang="en-US">
                <a:solidFill>
                  <a:schemeClr val="dk1"/>
                </a:solidFill>
              </a:rPr>
              <a:t>"الـoutliers في الداتا ممكن تنتج من أخطاء في الـGPS، أخطاء في الـfare، أو حالات لا يتناسب فيها الـfare مع الـdistance. لكن مش كل قيمة extreme تعتبر خطأ؛ الرحلات الطويلة ورحلات المطارات ممكن تكون حقيقية. لذلك استخدمنا Domain Rules لإزالة الحالات التي يمكن تبرير أنها أخطاء، واحتفظنا بالـrare but valid trips."</a:t>
            </a:r>
            <a:r>
              <a:rPr lang="en-US">
                <a:solidFill>
                  <a:schemeClr val="dk1"/>
                </a:solidFill>
              </a:rPr>
              <a:t> </a:t>
            </a:r>
            <a:endParaRPr b="1">
              <a:solidFill>
                <a:schemeClr val="dk1"/>
              </a:solidFill>
            </a:endParaRPr>
          </a:p>
          <a:p>
            <a:pPr indent="0" lvl="0" marL="0" rtl="0" algn="l">
              <a:spcBef>
                <a:spcPts val="1200"/>
              </a:spcBef>
              <a:spcAft>
                <a:spcPts val="0"/>
              </a:spcAft>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"بعد ما عملنا الـTrain/Test Split، محتاجين نتأكد إن الـsplit نفسه منطقي وإن الـTrain والـTest مش مختلفين جدًا عن بعض.</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عشان كده قارنّا توزيع الـfare والـdistance في الـTrain والـTest.</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في الرسمين نقدر نشوف إن الـdistributions متقاربة جدًا، يعني الـTrain والـTest بيمثلوا تقريبًا نفس شكل البيانات.</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وده مهم لأننا عايزين الـTest set يمثل البيانات اللي الـmodel ممكن يشوفها بعد كده، مش مجموعة مختلفة تمامًا.</a:t>
            </a:r>
            <a:endParaRPr b="1">
              <a:solidFill>
                <a:schemeClr val="dk1"/>
              </a:solidFill>
            </a:endParaRPr>
          </a:p>
          <a:p>
            <a:pPr indent="0" lvl="0" marL="0" rtl="1" algn="r">
              <a:lnSpc>
                <a:spcPct val="115000"/>
              </a:lnSpc>
              <a:spcBef>
                <a:spcPts val="1200"/>
              </a:spcBef>
              <a:spcAft>
                <a:spcPts val="0"/>
              </a:spcAft>
              <a:buNone/>
            </a:pPr>
            <a:r>
              <a:rPr b="1" lang="en-US">
                <a:solidFill>
                  <a:schemeClr val="dk1"/>
                </a:solidFill>
              </a:rPr>
              <a:t>وفي نفس الوقت، عشان نتجنب Data Leakage، كل الـlearned preprocessing زي Scaling وFeature Selection بيتعمل باستخدام الـtraining data فقط، والـTest يفضل untouched لحد التقييم النهائي." </a:t>
            </a:r>
            <a:endParaRPr b="1">
              <a:solidFill>
                <a:schemeClr val="dk1"/>
              </a:solidFill>
            </a:endParaRPr>
          </a:p>
          <a:p>
            <a:pPr indent="0" lvl="0" marL="0" rtl="1" algn="r">
              <a:lnSpc>
                <a:spcPct val="115000"/>
              </a:lnSpc>
              <a:spcBef>
                <a:spcPts val="1200"/>
              </a:spcBef>
              <a:spcAft>
                <a:spcPts val="0"/>
              </a:spcAft>
              <a:buNone/>
            </a:pPr>
            <a:r>
              <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br>
              <a:rPr b="1" lang="en-US">
                <a:solidFill>
                  <a:schemeClr val="dk1"/>
                </a:solidFill>
              </a:rPr>
            </a:br>
            <a:endParaRPr b="1">
              <a:solidFill>
                <a:schemeClr val="dk1"/>
              </a:solidFill>
            </a:endParaRPr>
          </a:p>
          <a:p>
            <a:pPr indent="0" lvl="0" marL="0" rtl="0" algn="l">
              <a:spcBef>
                <a:spcPts val="1200"/>
              </a:spcBef>
              <a:spcAft>
                <a:spcPts val="0"/>
              </a:spcAft>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h4f2796e85df475ae_0_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1" algn="r">
              <a:lnSpc>
                <a:spcPct val="115000"/>
              </a:lnSpc>
              <a:spcBef>
                <a:spcPts val="1200"/>
              </a:spcBef>
              <a:spcAft>
                <a:spcPts val="0"/>
              </a:spcAft>
              <a:buNone/>
            </a:pPr>
            <a:r>
              <a:rPr b="1" lang="en-US">
                <a:solidFill>
                  <a:schemeClr val="dk1"/>
                </a:solidFill>
              </a:rPr>
              <a:t>"هنا استخدمنا الـEDA عشان نحدد features جديدة تضيف information مش واضحة في الـraw data."</a:t>
            </a:r>
            <a:endParaRPr b="1">
              <a:solidFill>
                <a:schemeClr val="dk1"/>
              </a:solidFill>
            </a:endParaRPr>
          </a:p>
          <a:p>
            <a:pPr indent="-298450" lvl="0" marL="457200" rtl="1" algn="r">
              <a:lnSpc>
                <a:spcPct val="115000"/>
              </a:lnSpc>
              <a:spcBef>
                <a:spcPts val="1200"/>
              </a:spcBef>
              <a:spcAft>
                <a:spcPts val="0"/>
              </a:spcAft>
              <a:buClr>
                <a:schemeClr val="dk1"/>
              </a:buClr>
              <a:buSzPts val="1100"/>
              <a:buChar char="●"/>
            </a:pPr>
            <a:r>
              <a:rPr b="1" lang="en-US">
                <a:solidFill>
                  <a:srgbClr val="188038"/>
                </a:solidFill>
                <a:latin typeface="Roboto Mono"/>
                <a:ea typeface="Roboto Mono"/>
                <a:cs typeface="Roboto Mono"/>
                <a:sym typeface="Roboto Mono"/>
              </a:rPr>
              <a:t>log_distance</a:t>
            </a:r>
            <a:r>
              <a:rPr lang="en-US">
                <a:solidFill>
                  <a:schemeClr val="dk1"/>
                </a:solidFill>
              </a:rPr>
              <a:t>: أضفناها لأن العلاقة بين </a:t>
            </a:r>
            <a:r>
              <a:rPr lang="en-US">
                <a:solidFill>
                  <a:srgbClr val="188038"/>
                </a:solidFill>
                <a:latin typeface="Roboto Mono"/>
                <a:ea typeface="Roboto Mono"/>
                <a:cs typeface="Roboto Mono"/>
                <a:sym typeface="Roboto Mono"/>
              </a:rPr>
              <a:t>distance</a:t>
            </a:r>
            <a:r>
              <a:rPr lang="en-US">
                <a:solidFill>
                  <a:schemeClr val="dk1"/>
                </a:solidFill>
              </a:rPr>
              <a:t> و</a:t>
            </a:r>
            <a:r>
              <a:rPr lang="en-US">
                <a:solidFill>
                  <a:srgbClr val="188038"/>
                </a:solidFill>
                <a:latin typeface="Roboto Mono"/>
                <a:ea typeface="Roboto Mono"/>
                <a:cs typeface="Roboto Mono"/>
                <a:sym typeface="Roboto Mono"/>
              </a:rPr>
              <a:t>fare</a:t>
            </a:r>
            <a:r>
              <a:rPr lang="en-US">
                <a:solidFill>
                  <a:schemeClr val="dk1"/>
                </a:solidFill>
              </a:rPr>
              <a:t> كانت </a:t>
            </a:r>
            <a:r>
              <a:rPr b="1" lang="en-US">
                <a:solidFill>
                  <a:schemeClr val="dk1"/>
                </a:solidFill>
              </a:rPr>
              <a:t>non-linear</a:t>
            </a:r>
            <a:r>
              <a:rPr lang="en-US">
                <a:solidFill>
                  <a:schemeClr val="dk1"/>
                </a:solidFill>
              </a:rPr>
              <a:t>، فـlog transformation بيمثل العلاقة بشكل أفضل.</a:t>
            </a:r>
            <a:endParaRPr>
              <a:solidFill>
                <a:schemeClr val="dk1"/>
              </a:solidFill>
            </a:endParaRPr>
          </a:p>
          <a:p>
            <a:pPr indent="-298450" lvl="0" marL="457200" rtl="1" algn="r">
              <a:lnSpc>
                <a:spcPct val="115000"/>
              </a:lnSpc>
              <a:spcBef>
                <a:spcPts val="0"/>
              </a:spcBef>
              <a:spcAft>
                <a:spcPts val="0"/>
              </a:spcAft>
              <a:buClr>
                <a:schemeClr val="dk1"/>
              </a:buClr>
              <a:buSzPts val="1100"/>
              <a:buChar char="●"/>
            </a:pPr>
            <a:r>
              <a:rPr b="1" lang="en-US">
                <a:solidFill>
                  <a:schemeClr val="dk1"/>
                </a:solidFill>
              </a:rPr>
              <a:t>Time features</a:t>
            </a:r>
            <a:r>
              <a:rPr lang="en-US">
                <a:solidFill>
                  <a:schemeClr val="dk1"/>
                </a:solidFill>
              </a:rPr>
              <a:t>: أضفناها لأن السعر لكل km اتغير مع الوقت، خصوصًا التغير الواضح في </a:t>
            </a:r>
            <a:r>
              <a:rPr b="1" lang="en-US">
                <a:solidFill>
                  <a:schemeClr val="dk1"/>
                </a:solidFill>
              </a:rPr>
              <a:t>September 2012</a:t>
            </a:r>
            <a:r>
              <a:rPr lang="en-US">
                <a:solidFill>
                  <a:schemeClr val="dk1"/>
                </a:solidFill>
              </a:rPr>
              <a:t>.</a:t>
            </a:r>
            <a:endParaRPr>
              <a:solidFill>
                <a:schemeClr val="dk1"/>
              </a:solidFill>
            </a:endParaRPr>
          </a:p>
          <a:p>
            <a:pPr indent="-298450" lvl="0" marL="457200" rtl="1" algn="r">
              <a:lnSpc>
                <a:spcPct val="115000"/>
              </a:lnSpc>
              <a:spcBef>
                <a:spcPts val="0"/>
              </a:spcBef>
              <a:spcAft>
                <a:spcPts val="0"/>
              </a:spcAft>
              <a:buClr>
                <a:schemeClr val="dk1"/>
              </a:buClr>
              <a:buSzPts val="1100"/>
              <a:buChar char="●"/>
            </a:pPr>
            <a:r>
              <a:rPr b="1" lang="en-US">
                <a:solidFill>
                  <a:srgbClr val="188038"/>
                </a:solidFill>
                <a:latin typeface="Roboto Mono"/>
                <a:ea typeface="Roboto Mono"/>
                <a:cs typeface="Roboto Mono"/>
                <a:sym typeface="Roboto Mono"/>
              </a:rPr>
              <a:t>sin/cos</a:t>
            </a:r>
            <a:r>
              <a:rPr b="1" lang="en-US">
                <a:solidFill>
                  <a:schemeClr val="dk1"/>
                </a:solidFill>
              </a:rPr>
              <a:t> for hour</a:t>
            </a:r>
            <a:r>
              <a:rPr lang="en-US">
                <a:solidFill>
                  <a:schemeClr val="dk1"/>
                </a:solidFill>
              </a:rPr>
              <a:t>: أضفناهم لأن الـhour </a:t>
            </a:r>
            <a:r>
              <a:rPr b="1" lang="en-US">
                <a:solidFill>
                  <a:schemeClr val="dk1"/>
                </a:solidFill>
              </a:rPr>
              <a:t>cyclical</a:t>
            </a:r>
            <a:r>
              <a:rPr lang="en-US">
                <a:solidFill>
                  <a:schemeClr val="dk1"/>
                </a:solidFill>
              </a:rPr>
              <a:t>؛ يعني 23 و0 قريبين زمنيًا، وعايزين الـmodel يفهم ده.</a:t>
            </a:r>
            <a:endParaRPr>
              <a:solidFill>
                <a:schemeClr val="dk1"/>
              </a:solidFill>
            </a:endParaRPr>
          </a:p>
          <a:p>
            <a:pPr indent="-298450" lvl="0" marL="457200" rtl="1" algn="r">
              <a:lnSpc>
                <a:spcPct val="115000"/>
              </a:lnSpc>
              <a:spcBef>
                <a:spcPts val="0"/>
              </a:spcBef>
              <a:spcAft>
                <a:spcPts val="0"/>
              </a:spcAft>
              <a:buClr>
                <a:schemeClr val="dk1"/>
              </a:buClr>
              <a:buSzPts val="1100"/>
              <a:buChar char="●"/>
            </a:pPr>
            <a:r>
              <a:rPr b="1" lang="en-US">
                <a:solidFill>
                  <a:schemeClr val="dk1"/>
                </a:solidFill>
              </a:rPr>
              <a:t>JFK feature</a:t>
            </a:r>
            <a:r>
              <a:rPr lang="en-US">
                <a:solidFill>
                  <a:schemeClr val="dk1"/>
                </a:solidFill>
              </a:rPr>
              <a:t>: أضفناها لأن رحلات </a:t>
            </a:r>
            <a:r>
              <a:rPr b="1" lang="en-US">
                <a:solidFill>
                  <a:schemeClr val="dk1"/>
                </a:solidFill>
              </a:rPr>
              <a:t>JFK → Manhattan</a:t>
            </a:r>
            <a:r>
              <a:rPr lang="en-US">
                <a:solidFill>
                  <a:schemeClr val="dk1"/>
                </a:solidFill>
              </a:rPr>
              <a:t> كان لها </a:t>
            </a:r>
            <a:r>
              <a:rPr b="1" lang="en-US">
                <a:solidFill>
                  <a:schemeClr val="dk1"/>
                </a:solidFill>
              </a:rPr>
              <a:t>pricing pattern مختلف</a:t>
            </a:r>
            <a:r>
              <a:rPr lang="en-US">
                <a:solidFill>
                  <a:schemeClr val="dk1"/>
                </a:solidFill>
              </a:rPr>
              <a:t> عن الرحلات العادية.</a:t>
            </a:r>
            <a:endParaRPr>
              <a:solidFill>
                <a:schemeClr val="dk1"/>
              </a:solidFill>
            </a:endParaRPr>
          </a:p>
          <a:p>
            <a:pPr indent="0" lvl="0" marL="0" rtl="1" algn="r">
              <a:lnSpc>
                <a:spcPct val="115000"/>
              </a:lnSpc>
              <a:spcBef>
                <a:spcPts val="1200"/>
              </a:spcBef>
              <a:spcAft>
                <a:spcPts val="0"/>
              </a:spcAft>
              <a:buNone/>
            </a:pPr>
            <a:r>
              <a:t/>
            </a:r>
            <a:endParaRPr>
              <a:solidFill>
                <a:schemeClr val="dk1"/>
              </a:solidFill>
            </a:endParaRPr>
          </a:p>
          <a:p>
            <a:pPr indent="0" lvl="0" marL="0" rtl="1" algn="r">
              <a:lnSpc>
                <a:spcPct val="115000"/>
              </a:lnSpc>
              <a:spcBef>
                <a:spcPts val="1200"/>
              </a:spcBef>
              <a:spcAft>
                <a:spcPts val="0"/>
              </a:spcAft>
              <a:buNone/>
            </a:pPr>
            <a:r>
              <a:t/>
            </a:r>
            <a:endParaRPr b="1">
              <a:solidFill>
                <a:schemeClr val="dk1"/>
              </a:solidFill>
            </a:endParaRPr>
          </a:p>
          <a:p>
            <a:pPr indent="0" lvl="0" marL="0" rtl="1" algn="r">
              <a:lnSpc>
                <a:spcPct val="115000"/>
              </a:lnSpc>
              <a:spcBef>
                <a:spcPts val="1200"/>
              </a:spcBef>
              <a:spcAft>
                <a:spcPts val="0"/>
              </a:spcAft>
              <a:buNone/>
            </a:pPr>
            <a:r>
              <a:t/>
            </a:r>
            <a:endParaRPr b="1">
              <a:solidFill>
                <a:schemeClr val="dk1"/>
              </a:solidFill>
            </a:endParaRPr>
          </a:p>
          <a:p>
            <a:pPr indent="0" lvl="0" marL="0" rtl="1" algn="r">
              <a:lnSpc>
                <a:spcPct val="115000"/>
              </a:lnSpc>
              <a:spcBef>
                <a:spcPts val="1200"/>
              </a:spcBef>
              <a:spcAft>
                <a:spcPts val="0"/>
              </a:spcAft>
              <a:buNone/>
            </a:pPr>
            <a:br>
              <a:rPr b="1" lang="en-US">
                <a:solidFill>
                  <a:schemeClr val="dk1"/>
                </a:solidFill>
              </a:rPr>
            </a:br>
            <a:endParaRPr b="1">
              <a:solidFill>
                <a:schemeClr val="dk1"/>
              </a:solidFill>
            </a:endParaRPr>
          </a:p>
          <a:p>
            <a:pPr indent="0" lvl="0" marL="0" rtl="0" algn="l">
              <a:spcBef>
                <a:spcPts val="1200"/>
              </a:spcBef>
              <a:spcAft>
                <a:spcPts val="0"/>
              </a:spcAft>
              <a:buNone/>
            </a:pPr>
            <a:r>
              <a:t/>
            </a:r>
            <a:endParaRPr/>
          </a:p>
        </p:txBody>
      </p:sp>
      <p:sp>
        <p:nvSpPr>
          <p:cNvPr id="130" name="Google Shape;130;h4f2796e85df475ae_0_9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"بعد ما اخترنا الـthree finalists، عملنا Cross-Validation عشان نتأكد إن النتيجة مش مجرد نتيجة لـone lucky split.</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قسمنا الـtraining data إلى five folds، وكل مرة استخدمنا four folds للتدريب وone fold للvalidation، وكررنا العملية خمس مرات.</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في الرسم الأول، الـMAE قريب جدًا بين كل الـfolds، وده معناه إن متوسط الخطأ مستقر.</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في الـRMSE فيه variation أكبر، وده طبيعي لأنه أكثر حساسية للـlarge errors.</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أما الـR² فمعظم الـfolds قريبة من بعض، مع انخفاض نسبي في آخر fold.</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الأهم إن لما قارنا Gradient Boosting بالـLinear Regression على نفس الـfolds، Gradient Boosting حقق R² gain في كل الخمس folds.</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فده بيخلينا أكثر ثقة إن التحسن اللي شفناه مش بسبب تقسيمة واحدة للداتا، وإن Gradient Boosting فعلاً كان أكثر قدرة على تمثيل الـpatterns في الداتا.</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وبالتالي نقدر ننتقل للخطوة التالية: هل نقدر نحسن Gradient Boosting أكتر باستخدام Hyperparameter Tuning؟</a:t>
            </a:r>
            <a:r>
              <a:rPr lang="en-US">
                <a:solidFill>
                  <a:schemeClr val="dk1"/>
                </a:solidFill>
              </a:rPr>
              <a:t>"</a:t>
            </a:r>
            <a:endParaRPr>
              <a:solidFill>
                <a:schemeClr val="dk1"/>
              </a:solidFill>
            </a:endParaRPr>
          </a:p>
          <a:p>
            <a:pPr indent="0" lvl="0" marL="0" rtl="0" algn="l">
              <a:spcBef>
                <a:spcPts val="1200"/>
              </a:spcBef>
              <a:spcAft>
                <a:spcPts val="0"/>
              </a:spcAft>
              <a:buNone/>
            </a:pPr>
            <a:r>
              <a:t/>
            </a:r>
            <a:endParaRPr/>
          </a:p>
        </p:txBody>
      </p:sp>
      <p:sp>
        <p:nvSpPr>
          <p:cNvPr id="136" name="Google Shape;13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"بعد الـLinear Regression، سألنا هل ممكن نحقق تحسن باستخدام Regularization، لذلك جربنا Ridge مع قيم مختلفة للـalpha من 0.001 إلى 100، باستخدام 5-fold Cross-Validation.</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الـalpha بتتحكم في قوة الـRegularization: كل ما تزيد، الـpenalty على الـcoefficients تزيد.</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لكن من الـfigure نلاحظ إن RMSE وMAE تقريبًا ثابتين عبر معظم قيم الـalpha، وR² كمان ثابت تقريبًا. فقط عند alpha كبيرة جدًا، خصوصًا 100، الأداء بدأ يسوء.</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فده معناه إن تغيير قوة الـRegularization مش هو اللي هيحل المشكلة. الـLinear model نفسه مازال عنده limitation في تمثيل الـpatterns الموجودة في الداتا.</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وده كان سبب مهم لانتقالنا إلى Models غير خطية زي Random Forest وGradient Boosting."</a:t>
            </a:r>
            <a:endParaRPr b="1">
              <a:solidFill>
                <a:schemeClr val="dk1"/>
              </a:solidFill>
            </a:endParaRPr>
          </a:p>
          <a:p>
            <a:pPr indent="0" lvl="0" marL="0" rtl="0" algn="l">
              <a:spcBef>
                <a:spcPts val="1200"/>
              </a:spcBef>
              <a:spcAft>
                <a:spcPts val="0"/>
              </a:spcAft>
              <a:buNone/>
            </a:pPr>
            <a:r>
              <a:t/>
            </a:r>
            <a:endParaRPr/>
          </a:p>
        </p:txBody>
      </p:sp>
      <p:sp>
        <p:nvSpPr>
          <p:cNvPr id="142" name="Google Shape;14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"بعد ما عملنا Hyperparameter Tuning للـRidge، لازم نتأكد هل الـtuning فعلاً حسّن الـmodel على الـunseen test data.</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في الرسم الشمال، الـMAE والـRMSE للـBaseline والـTuned Ridge تقريبًا متساويين.</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وفي الرسم اليمين، الـR² برضه حوالي 0.75 في النموذجين.</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فبالتالي الـRidge tuning ماحققش improvement meaningful over the Linear Regression baseline.</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وده بيدينا insight مهم: المشكلة الأساسية مش في اختيار قوة الـregularization، لكن في إن الـlinear model نفسه عنده limitation في تمثيل الـnon-linear relationships الموجودة في الداتا.</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وده كان سبب إننا ننتقل لتجربة tree-based models زي Random Forest وGradient Boosting."</a:t>
            </a:r>
            <a:endParaRPr b="1">
              <a:solidFill>
                <a:schemeClr val="dk1"/>
              </a:solidFill>
            </a:endParaRPr>
          </a:p>
          <a:p>
            <a:pPr indent="0" lvl="0" marL="0" rtl="0" algn="l">
              <a:spcBef>
                <a:spcPts val="1200"/>
              </a:spcBef>
              <a:spcAft>
                <a:spcPts val="0"/>
              </a:spcAft>
              <a:buNone/>
            </a:pPr>
            <a:r>
              <a:t/>
            </a:r>
            <a:endParaRPr/>
          </a:p>
        </p:txBody>
      </p:sp>
      <p:sp>
        <p:nvSpPr>
          <p:cNvPr id="148" name="Google Shape;14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"هنا بنعمل المقارنة النهائية على الـheld-out test set بين الـLinear Regression baseline، والـTuned Ridge، والـGradient Boosting.</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أول حاجة نلاحظها إن الـBaseline والـTuned Ridge تقريبًا نفس الأداء في الـthree metrics، وده يؤكد إن الـRidge tuning ماحققش improvement meaningful.</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لكن Gradient Boosting حقق تحسن واضح: الـMAE نزل من حوالي 2.15 إلى 1.54 دولار، والـRMSE نزل من حوالي 4.76 إلى 3.87، والـR² زاد من حوالي 0.75 إلى 0.84.</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وده معناه إن Gradient Boosting مش بس قلل متوسط الخطأ، لكنه كمان قلل الأخطاء الكبيرة وفسر نسبة أكبر من variation في الـfare.</a:t>
            </a:r>
            <a:endParaRPr b="1">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وبما إن دي نتائج على الـheld-out test set، فهي بتدينا الدليل النهائي على إن التحسن اللي حصل مع Gradient Boosting بيظهر أيضًا على بيانات لم يشاهدها الـmodel أثناء التدريب أو الـtuning."</a:t>
            </a:r>
            <a:endParaRPr b="1">
              <a:solidFill>
                <a:schemeClr val="dk1"/>
              </a:solidFill>
            </a:endParaRPr>
          </a:p>
          <a:p>
            <a:pPr indent="0" lvl="0" marL="0" rtl="0" algn="l">
              <a:spcBef>
                <a:spcPts val="1200"/>
              </a:spcBef>
              <a:spcAft>
                <a:spcPts val="0"/>
              </a:spcAft>
              <a:buNone/>
            </a:pPr>
            <a:r>
              <a:t/>
            </a:r>
            <a:endParaRPr/>
          </a:p>
        </p:txBody>
      </p:sp>
      <p:sp>
        <p:nvSpPr>
          <p:cNvPr id="154" name="Google Shape;15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en-US">
                <a:solidFill>
                  <a:schemeClr val="dk1"/>
                </a:solidFill>
              </a:rPr>
              <a:t>Gradient Boosting </a:t>
            </a:r>
            <a:r>
              <a:rPr b="1" lang="en-US">
                <a:solidFill>
                  <a:schemeClr val="dk1"/>
                </a:solidFill>
              </a:rPr>
              <a:t>ما اكتفيناش إننا نقول إن Gradient Boosting متوسطه أعلى من Ridge؛ قارناهم Fold by Fold عشان نتأكد إن التفوق مش بسبب تقسيمة واحدة محظوظة.</a:t>
            </a:r>
            <a:endParaRPr b="1">
              <a:solidFill>
                <a:schemeClr val="dk1"/>
              </a:solidFill>
            </a:endParaRPr>
          </a:p>
          <a:p>
            <a:pPr indent="0" lvl="0" marL="0" rtl="1" algn="r">
              <a:spcBef>
                <a:spcPts val="0"/>
              </a:spcBef>
              <a:spcAft>
                <a:spcPts val="0"/>
              </a:spcAft>
              <a:buNone/>
            </a:pPr>
            <a:r>
              <a:t/>
            </a:r>
            <a:endParaRPr>
              <a:solidFill>
                <a:schemeClr val="dk1"/>
              </a:solidFill>
            </a:endParaRPr>
          </a:p>
          <a:p>
            <a:pPr indent="-298450" lvl="0" marL="457200" rtl="1" algn="r">
              <a:lnSpc>
                <a:spcPct val="115000"/>
              </a:lnSpc>
              <a:spcBef>
                <a:spcPts val="1200"/>
              </a:spcBef>
              <a:spcAft>
                <a:spcPts val="0"/>
              </a:spcAft>
              <a:buClr>
                <a:schemeClr val="dk1"/>
              </a:buClr>
              <a:buSzPts val="1100"/>
              <a:buChar char="●"/>
            </a:pPr>
            <a:r>
              <a:rPr lang="en-US">
                <a:solidFill>
                  <a:schemeClr val="dk1"/>
                </a:solidFill>
              </a:rPr>
              <a:t>في كل Fold، الخط البرتقالي </a:t>
            </a:r>
            <a:r>
              <a:rPr b="1" lang="en-US">
                <a:solidFill>
                  <a:schemeClr val="dk1"/>
                </a:solidFill>
              </a:rPr>
              <a:t>Gradient Boosting</a:t>
            </a:r>
            <a:r>
              <a:rPr lang="en-US">
                <a:solidFill>
                  <a:schemeClr val="dk1"/>
                </a:solidFill>
              </a:rPr>
              <a:t> أعلى من الأزرق </a:t>
            </a:r>
            <a:r>
              <a:rPr b="1" lang="en-US">
                <a:solidFill>
                  <a:schemeClr val="dk1"/>
                </a:solidFill>
              </a:rPr>
              <a:t>Ridge</a:t>
            </a:r>
            <a:r>
              <a:rPr lang="en-US">
                <a:solidFill>
                  <a:schemeClr val="dk1"/>
                </a:solidFill>
              </a:rPr>
              <a:t>، يعني الـR² بتاعه أعلى.</a:t>
            </a:r>
            <a:endParaRPr>
              <a:solidFill>
                <a:schemeClr val="dk1"/>
              </a:solidFill>
            </a:endParaRPr>
          </a:p>
          <a:p>
            <a:pPr indent="-298450" lvl="0" marL="457200" rtl="1" algn="r">
              <a:lnSpc>
                <a:spcPct val="115000"/>
              </a:lnSpc>
              <a:spcBef>
                <a:spcPts val="0"/>
              </a:spcBef>
              <a:spcAft>
                <a:spcPts val="0"/>
              </a:spcAft>
              <a:buClr>
                <a:schemeClr val="dk1"/>
              </a:buClr>
              <a:buSzPts val="1100"/>
              <a:buChar char="●"/>
            </a:pPr>
            <a:r>
              <a:rPr lang="en-US">
                <a:solidFill>
                  <a:schemeClr val="dk1"/>
                </a:solidFill>
              </a:rPr>
              <a:t>إذن التحسن مش حصل بسبب تقسيمة واحدة محظوظة؛ </a:t>
            </a:r>
            <a:r>
              <a:rPr b="1" lang="en-US">
                <a:solidFill>
                  <a:schemeClr val="dk1"/>
                </a:solidFill>
              </a:rPr>
              <a:t>Gradient Boosting حافظ على أداء أفضل عبر كل الـCross-Validation folds</a:t>
            </a:r>
            <a:r>
              <a:rPr lang="en-US">
                <a:solidFill>
                  <a:schemeClr val="dk1"/>
                </a:solidFill>
              </a:rPr>
              <a:t>.</a:t>
            </a:r>
            <a:endParaRPr>
              <a:solidFill>
                <a:schemeClr val="dk1"/>
              </a:solidFill>
            </a:endParaRPr>
          </a:p>
          <a:p>
            <a:pPr indent="0" lvl="0" marL="0" rtl="1" algn="r">
              <a:lnSpc>
                <a:spcPct val="115000"/>
              </a:lnSpc>
              <a:spcBef>
                <a:spcPts val="1200"/>
              </a:spcBef>
              <a:spcAft>
                <a:spcPts val="0"/>
              </a:spcAft>
              <a:buClr>
                <a:schemeClr val="dk1"/>
              </a:buClr>
              <a:buSzPts val="1100"/>
              <a:buFont typeface="Arial"/>
              <a:buNone/>
            </a:pPr>
            <a:r>
              <a:rPr b="1" lang="en-US">
                <a:solidFill>
                  <a:schemeClr val="dk1"/>
                </a:solidFill>
              </a:rPr>
              <a:t>الـTakeaway:</a:t>
            </a:r>
            <a:endParaRPr b="1">
              <a:solidFill>
                <a:schemeClr val="dk1"/>
              </a:solidFill>
            </a:endParaRPr>
          </a:p>
          <a:p>
            <a:pPr indent="0" lvl="0" marL="381000" marR="381000" rtl="1" algn="r">
              <a:lnSpc>
                <a:spcPct val="115000"/>
              </a:lnSpc>
              <a:spcBef>
                <a:spcPts val="1200"/>
              </a:spcBef>
              <a:spcAft>
                <a:spcPts val="0"/>
              </a:spcAft>
              <a:buClr>
                <a:schemeClr val="dk1"/>
              </a:buClr>
              <a:buSzPts val="1100"/>
              <a:buFont typeface="Arial"/>
              <a:buNone/>
            </a:pPr>
            <a:r>
              <a:rPr b="1" lang="en-US">
                <a:solidFill>
                  <a:schemeClr val="dk1"/>
                </a:solidFill>
              </a:rPr>
              <a:t>Gradient Boosting consistently outperformed Ridge across all five folds, so we chose it to move forward to tuning.</a:t>
            </a:r>
            <a:endParaRPr b="1">
              <a:solidFill>
                <a:schemeClr val="dk1"/>
              </a:solidFill>
            </a:endParaRPr>
          </a:p>
          <a:p>
            <a:pPr indent="0" lvl="0" marL="0" rtl="1" algn="r">
              <a:spcBef>
                <a:spcPts val="1200"/>
              </a:spcBef>
              <a:spcAft>
                <a:spcPts val="0"/>
              </a:spcAft>
              <a:buNone/>
            </a:pPr>
            <a:r>
              <a:t/>
            </a:r>
            <a:endParaRPr>
              <a:solidFill>
                <a:schemeClr val="dk1"/>
              </a:solidFill>
            </a:endParaRPr>
          </a:p>
        </p:txBody>
      </p:sp>
      <p:sp>
        <p:nvSpPr>
          <p:cNvPr id="160" name="Google Shape;16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Clr>
                <a:schemeClr val="dk1"/>
              </a:buClr>
              <a:buSzPts val="1100"/>
              <a:buFont typeface="Arial"/>
              <a:buNone/>
            </a:pPr>
            <a:r>
              <a:rPr lang="en-US">
                <a:solidFill>
                  <a:schemeClr val="dk1"/>
                </a:solidFill>
              </a:rPr>
              <a:t>في </a:t>
            </a:r>
            <a:r>
              <a:rPr b="1" lang="en-US">
                <a:solidFill>
                  <a:schemeClr val="dk1"/>
                </a:solidFill>
              </a:rPr>
              <a:t>Stage 1</a:t>
            </a:r>
            <a:r>
              <a:rPr lang="en-US">
                <a:solidFill>
                  <a:schemeClr val="dk1"/>
                </a:solidFill>
              </a:rPr>
              <a:t>، Gradient Boosting حقق أقل RMSE على عينة الـscreening مقارنةً بباقي الـModels.</a:t>
            </a:r>
            <a:endParaRPr>
              <a:solidFill>
                <a:schemeClr val="dk1"/>
              </a:solidFill>
            </a:endParaRPr>
          </a:p>
          <a:p>
            <a:pPr indent="0" lvl="0" marL="0" rtl="1" algn="r">
              <a:spcBef>
                <a:spcPts val="0"/>
              </a:spcBef>
              <a:spcAft>
                <a:spcPts val="0"/>
              </a:spcAft>
              <a:buNone/>
            </a:pPr>
            <a:r>
              <a:rPr lang="en-US">
                <a:solidFill>
                  <a:schemeClr val="dk1"/>
                </a:solidFill>
              </a:rPr>
              <a:t>وفي </a:t>
            </a:r>
            <a:r>
              <a:rPr b="1" lang="en-US">
                <a:solidFill>
                  <a:schemeClr val="dk1"/>
                </a:solidFill>
              </a:rPr>
              <a:t>Stage 2</a:t>
            </a:r>
            <a:r>
              <a:rPr lang="en-US">
                <a:solidFill>
                  <a:schemeClr val="dk1"/>
                </a:solidFill>
              </a:rPr>
              <a:t> على كل الـtraining data، ظل Gradient Boosting أقل RMSE من Random Forest وLinear Regression. </a:t>
            </a:r>
            <a:endParaRPr>
              <a:solidFill>
                <a:schemeClr val="dk1"/>
              </a:solidFill>
            </a:endParaRPr>
          </a:p>
          <a:p>
            <a:pPr indent="0" lvl="0" marL="0" rtl="1" algn="r">
              <a:spcBef>
                <a:spcPts val="0"/>
              </a:spcBef>
              <a:spcAft>
                <a:spcPts val="0"/>
              </a:spcAft>
              <a:buNone/>
            </a:pPr>
            <a:br>
              <a:rPr lang="en-US">
                <a:solidFill>
                  <a:schemeClr val="dk1"/>
                </a:solidFill>
              </a:rPr>
            </a:br>
            <a:r>
              <a:rPr b="1" lang="en-US">
                <a:solidFill>
                  <a:schemeClr val="dk1"/>
                </a:solidFill>
              </a:rPr>
              <a:t>Stage 1:</a:t>
            </a:r>
            <a:r>
              <a:rPr lang="en-US">
                <a:solidFill>
                  <a:schemeClr val="dk1"/>
                </a:solidFill>
              </a:rPr>
              <a:t> جرّبنا 5 Models على </a:t>
            </a:r>
            <a:r>
              <a:rPr b="1" lang="en-US">
                <a:solidFill>
                  <a:schemeClr val="dk1"/>
                </a:solidFill>
              </a:rPr>
              <a:t>screening sample</a:t>
            </a:r>
            <a:r>
              <a:rPr lang="en-US">
                <a:solidFill>
                  <a:schemeClr val="dk1"/>
                </a:solidFill>
              </a:rPr>
              <a:t>، وGradient Boosting حقق أقل RMSE، يليه Random Forest ثم Extra Trees، بينما Ridge وLinear Regression كانا الأعلى.</a:t>
            </a:r>
            <a:endParaRPr>
              <a:solidFill>
                <a:schemeClr val="dk1"/>
              </a:solidFill>
            </a:endParaRPr>
          </a:p>
          <a:p>
            <a:pPr indent="0" lvl="0" marL="0" rtl="1" algn="r">
              <a:spcBef>
                <a:spcPts val="0"/>
              </a:spcBef>
              <a:spcAft>
                <a:spcPts val="0"/>
              </a:spcAft>
              <a:buClr>
                <a:schemeClr val="dk1"/>
              </a:buClr>
              <a:buSzPts val="1100"/>
              <a:buFont typeface="Arial"/>
              <a:buNone/>
            </a:pPr>
            <a:r>
              <a:rPr b="1" lang="en-US">
                <a:solidFill>
                  <a:schemeClr val="dk1"/>
                </a:solidFill>
              </a:rPr>
              <a:t>Stage 2:</a:t>
            </a:r>
            <a:r>
              <a:rPr lang="en-US">
                <a:solidFill>
                  <a:schemeClr val="dk1"/>
                </a:solidFill>
              </a:rPr>
              <a:t> أخذنا الـ3 Models الأقوى واختبرناهم على </a:t>
            </a:r>
            <a:r>
              <a:rPr b="1" lang="en-US">
                <a:solidFill>
                  <a:schemeClr val="dk1"/>
                </a:solidFill>
              </a:rPr>
              <a:t>كل الـtraining data</a:t>
            </a:r>
            <a:r>
              <a:rPr lang="en-US">
                <a:solidFill>
                  <a:schemeClr val="dk1"/>
                </a:solidFill>
              </a:rPr>
              <a:t>، وبرضه Gradient Boosting حافظ على أقل RMSE، فاختارناه للمرحلة التالية وهي </a:t>
            </a:r>
            <a:r>
              <a:rPr b="1" lang="en-US">
                <a:solidFill>
                  <a:schemeClr val="dk1"/>
                </a:solidFill>
              </a:rPr>
              <a:t>tuning</a:t>
            </a:r>
            <a:r>
              <a:rPr lang="en-US">
                <a:solidFill>
                  <a:schemeClr val="dk1"/>
                </a:solidFill>
              </a:rPr>
              <a:t>.</a:t>
            </a:r>
            <a:endParaRPr>
              <a:solidFill>
                <a:schemeClr val="dk1"/>
              </a:solidFill>
            </a:endParaRPr>
          </a:p>
          <a:p>
            <a:pPr indent="0" lvl="0" marL="0" rtl="1" algn="r">
              <a:spcBef>
                <a:spcPts val="0"/>
              </a:spcBef>
              <a:spcAft>
                <a:spcPts val="0"/>
              </a:spcAft>
              <a:buNone/>
            </a:pPr>
            <a:r>
              <a:t/>
            </a:r>
            <a:endParaRPr>
              <a:solidFill>
                <a:schemeClr val="dk1"/>
              </a:solidFill>
            </a:endParaRPr>
          </a:p>
          <a:p>
            <a:pPr indent="0" lvl="0" marL="0" rtl="1" algn="r">
              <a:spcBef>
                <a:spcPts val="0"/>
              </a:spcBef>
              <a:spcAft>
                <a:spcPts val="0"/>
              </a:spcAft>
              <a:buNone/>
            </a:pPr>
            <a:r>
              <a:t/>
            </a:r>
            <a:endParaRPr>
              <a:solidFill>
                <a:schemeClr val="dk1"/>
              </a:solidFill>
            </a:endParaRPr>
          </a:p>
          <a:p>
            <a:pPr indent="0" lvl="0" marL="0" rtl="1" algn="r">
              <a:lnSpc>
                <a:spcPct val="115000"/>
              </a:lnSpc>
              <a:spcBef>
                <a:spcPts val="1200"/>
              </a:spcBef>
              <a:spcAft>
                <a:spcPts val="0"/>
              </a:spcAft>
              <a:buClr>
                <a:schemeClr val="dk1"/>
              </a:buClr>
              <a:buSzPts val="1100"/>
              <a:buFont typeface="Arial"/>
              <a:buNone/>
            </a:pPr>
            <a:r>
              <a:rPr lang="en-US">
                <a:solidFill>
                  <a:schemeClr val="dk1"/>
                </a:solidFill>
              </a:rPr>
              <a:t>ا</a:t>
            </a:r>
            <a:endParaRPr>
              <a:solidFill>
                <a:schemeClr val="dk1"/>
              </a:solidFill>
            </a:endParaRPr>
          </a:p>
          <a:p>
            <a:pPr indent="0" lvl="0" marL="0" rtl="1" algn="r">
              <a:spcBef>
                <a:spcPts val="1200"/>
              </a:spcBef>
              <a:spcAft>
                <a:spcPts val="0"/>
              </a:spcAft>
              <a:buNone/>
            </a:pPr>
            <a:r>
              <a:t/>
            </a:r>
            <a:endParaRPr>
              <a:solidFill>
                <a:schemeClr val="dk1"/>
              </a:solidFill>
            </a:endParaRPr>
          </a:p>
        </p:txBody>
      </p:sp>
      <p:sp>
        <p:nvSpPr>
          <p:cNvPr id="166" name="Google Shape;16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h4f2796e85df475ae_0_8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h4f2796e85df475ae_0_8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lnSpc>
                <a:spcPct val="115000"/>
              </a:lnSpc>
              <a:spcBef>
                <a:spcPts val="1200"/>
              </a:spcBef>
              <a:spcAft>
                <a:spcPts val="0"/>
              </a:spcAft>
              <a:buClr>
                <a:schemeClr val="dk1"/>
              </a:buClr>
              <a:buSzPts val="1100"/>
              <a:buFont typeface="Arial"/>
              <a:buNone/>
            </a:pPr>
            <a:r>
              <a:rPr lang="en-US">
                <a:solidFill>
                  <a:schemeClr val="dk1"/>
                </a:solidFill>
              </a:rPr>
              <a:t> بتقارن الـ</a:t>
            </a:r>
            <a:r>
              <a:rPr b="1" lang="en-US">
                <a:solidFill>
                  <a:schemeClr val="dk1"/>
                </a:solidFill>
              </a:rPr>
              <a:t>Actual Fare</a:t>
            </a:r>
            <a:r>
              <a:rPr lang="en-US">
                <a:solidFill>
                  <a:schemeClr val="dk1"/>
                </a:solidFill>
              </a:rPr>
              <a:t> بالسعر اللي الـModel </a:t>
            </a:r>
            <a:r>
              <a:rPr b="1" lang="en-US">
                <a:solidFill>
                  <a:schemeClr val="dk1"/>
                </a:solidFill>
              </a:rPr>
              <a:t>Predicted</a:t>
            </a:r>
            <a:r>
              <a:rPr lang="en-US">
                <a:solidFill>
                  <a:schemeClr val="dk1"/>
                </a:solidFill>
              </a:rPr>
              <a:t> بيه، بين Ridge وGradient Boosting.</a:t>
            </a:r>
            <a:endParaRPr>
              <a:solidFill>
                <a:schemeClr val="dk1"/>
              </a:solidFill>
            </a:endParaRPr>
          </a:p>
          <a:p>
            <a:pPr indent="-298450" lvl="0" marL="457200" rtl="1" algn="r">
              <a:lnSpc>
                <a:spcPct val="115000"/>
              </a:lnSpc>
              <a:spcBef>
                <a:spcPts val="1200"/>
              </a:spcBef>
              <a:spcAft>
                <a:spcPts val="0"/>
              </a:spcAft>
              <a:buClr>
                <a:schemeClr val="dk1"/>
              </a:buClr>
              <a:buSzPts val="1100"/>
              <a:buChar char="●"/>
            </a:pPr>
            <a:r>
              <a:rPr lang="en-US">
                <a:solidFill>
                  <a:schemeClr val="dk1"/>
                </a:solidFill>
              </a:rPr>
              <a:t>كل ما النقاط تقرب من الخط المتقطع، كل ما الـPrediction أقرب للـActual؛ وGradient Boosting ظاهر إنه أكثر تركيزًا حول العلاقة المتوقعة في النطاق الأساسي للـfares.</a:t>
            </a:r>
            <a:endParaRPr>
              <a:solidFill>
                <a:schemeClr val="dk1"/>
              </a:solidFill>
            </a:endParaRPr>
          </a:p>
          <a:p>
            <a:pPr indent="-298450" lvl="0" marL="457200" rtl="1" algn="r">
              <a:lnSpc>
                <a:spcPct val="115000"/>
              </a:lnSpc>
              <a:spcBef>
                <a:spcPts val="0"/>
              </a:spcBef>
              <a:spcAft>
                <a:spcPts val="0"/>
              </a:spcAft>
              <a:buClr>
                <a:schemeClr val="dk1"/>
              </a:buClr>
              <a:buSzPts val="1100"/>
              <a:buChar char="●"/>
            </a:pPr>
            <a:br>
              <a:rPr lang="en-US">
                <a:solidFill>
                  <a:schemeClr val="dk1"/>
                </a:solidFill>
              </a:rPr>
            </a:br>
            <a:r>
              <a:rPr lang="en-US">
                <a:solidFill>
                  <a:schemeClr val="dk1"/>
                </a:solidFill>
              </a:rPr>
              <a:t>ليه ال Gradient Boosting كان احسن؟</a:t>
            </a:r>
            <a:endParaRPr>
              <a:solidFill>
                <a:schemeClr val="dk1"/>
              </a:solidFill>
            </a:endParaRPr>
          </a:p>
          <a:p>
            <a:pPr indent="-298450" lvl="0" marL="457200" rtl="1" algn="r">
              <a:lnSpc>
                <a:spcPct val="115000"/>
              </a:lnSpc>
              <a:spcBef>
                <a:spcPts val="0"/>
              </a:spcBef>
              <a:spcAft>
                <a:spcPts val="0"/>
              </a:spcAft>
              <a:buClr>
                <a:schemeClr val="dk1"/>
              </a:buClr>
              <a:buSzPts val="1100"/>
              <a:buChar char="●"/>
            </a:pPr>
            <a:r>
              <a:rPr lang="en-US">
                <a:solidFill>
                  <a:schemeClr val="dk1"/>
                </a:solidFill>
              </a:rPr>
              <a:t>العلاقة بين </a:t>
            </a:r>
            <a:r>
              <a:rPr b="1" lang="en-US">
                <a:solidFill>
                  <a:schemeClr val="dk1"/>
                </a:solidFill>
              </a:rPr>
              <a:t>fare وdistance كانت curved</a:t>
            </a:r>
            <a:r>
              <a:rPr lang="en-US">
                <a:solidFill>
                  <a:schemeClr val="dk1"/>
                </a:solidFill>
              </a:rPr>
              <a:t>، وLinear/Ridge وصلوا لـRMSE حوالي </a:t>
            </a:r>
            <a:r>
              <a:rPr b="1" lang="en-US">
                <a:solidFill>
                  <a:schemeClr val="dk1"/>
                </a:solidFill>
              </a:rPr>
              <a:t>$4.76</a:t>
            </a:r>
            <a:r>
              <a:rPr lang="en-US">
                <a:solidFill>
                  <a:schemeClr val="dk1"/>
                </a:solidFill>
              </a:rPr>
              <a:t>.</a:t>
            </a:r>
            <a:endParaRPr>
              <a:solidFill>
                <a:schemeClr val="dk1"/>
              </a:solidFill>
            </a:endParaRPr>
          </a:p>
          <a:p>
            <a:pPr indent="-298450" lvl="0" marL="457200" rtl="1" algn="r">
              <a:lnSpc>
                <a:spcPct val="115000"/>
              </a:lnSpc>
              <a:spcBef>
                <a:spcPts val="0"/>
              </a:spcBef>
              <a:spcAft>
                <a:spcPts val="0"/>
              </a:spcAft>
              <a:buClr>
                <a:schemeClr val="dk1"/>
              </a:buClr>
              <a:buSzPts val="1100"/>
              <a:buChar char="●"/>
            </a:pPr>
            <a:r>
              <a:rPr lang="en-US">
                <a:solidFill>
                  <a:schemeClr val="dk1"/>
                </a:solidFill>
              </a:rPr>
              <a:t>Gradient Boosting نزل الـRMSE إلى حوالي </a:t>
            </a:r>
            <a:r>
              <a:rPr b="1" lang="en-US">
                <a:solidFill>
                  <a:schemeClr val="dk1"/>
                </a:solidFill>
              </a:rPr>
              <a:t>$3.87</a:t>
            </a:r>
            <a:r>
              <a:rPr lang="en-US">
                <a:solidFill>
                  <a:schemeClr val="dk1"/>
                </a:solidFill>
              </a:rPr>
              <a:t> ورفع R² من </a:t>
            </a:r>
            <a:r>
              <a:rPr b="1" lang="en-US">
                <a:solidFill>
                  <a:schemeClr val="dk1"/>
                </a:solidFill>
              </a:rPr>
              <a:t>0.75 إلى 0.84</a:t>
            </a:r>
            <a:r>
              <a:rPr lang="en-US">
                <a:solidFill>
                  <a:schemeClr val="dk1"/>
                </a:solidFill>
              </a:rPr>
              <a:t> على الـheld-out test. Uber_Model_Comparison_Presentat…</a:t>
            </a:r>
            <a:endParaRPr>
              <a:solidFill>
                <a:schemeClr val="dk1"/>
              </a:solidFill>
            </a:endParaRPr>
          </a:p>
          <a:p>
            <a:pPr indent="-298450" lvl="0" marL="457200" rtl="1" algn="r">
              <a:lnSpc>
                <a:spcPct val="115000"/>
              </a:lnSpc>
              <a:spcBef>
                <a:spcPts val="0"/>
              </a:spcBef>
              <a:spcAft>
                <a:spcPts val="0"/>
              </a:spcAft>
              <a:buClr>
                <a:schemeClr val="dk1"/>
              </a:buClr>
              <a:buSzPts val="1100"/>
              <a:buChar char="●"/>
            </a:pPr>
            <a:r>
              <a:rPr lang="en-US">
                <a:solidFill>
                  <a:schemeClr val="dk1"/>
                </a:solidFill>
              </a:rPr>
              <a:t>والأهم، التحسن ظهر عبر الـCross-Validation، مش في split واحدة فقط. Uber_Model_Comparison_Presentat…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h4f2796e85df475ae_0_8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h4f2796e85df475ae_0_8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1" algn="r">
              <a:lnSpc>
                <a:spcPct val="115000"/>
              </a:lnSpc>
              <a:spcBef>
                <a:spcPts val="1200"/>
              </a:spcBef>
              <a:spcAft>
                <a:spcPts val="0"/>
              </a:spcAft>
              <a:buClr>
                <a:schemeClr val="dk1"/>
              </a:buClr>
              <a:buSzPts val="1100"/>
              <a:buAutoNum type="arabicPeriod"/>
            </a:pPr>
            <a:r>
              <a:rPr b="1" lang="en-US">
                <a:solidFill>
                  <a:schemeClr val="dk1"/>
                </a:solidFill>
              </a:rPr>
              <a:t>Cleaning + Feature Engineering</a:t>
            </a:r>
            <a:r>
              <a:rPr lang="en-US">
                <a:solidFill>
                  <a:schemeClr val="dk1"/>
                </a:solidFill>
              </a:rPr>
              <a:t> حسّنوا تمثيل الداتا، وخلونا نتعامل مع missing values، outliers، categorical features، وnon-linear patterns بشكل منظم.</a:t>
            </a:r>
            <a:endParaRPr>
              <a:solidFill>
                <a:schemeClr val="dk1"/>
              </a:solidFill>
            </a:endParaRPr>
          </a:p>
          <a:p>
            <a:pPr indent="-298450" lvl="0" marL="457200" rtl="1" algn="r">
              <a:lnSpc>
                <a:spcPct val="115000"/>
              </a:lnSpc>
              <a:spcBef>
                <a:spcPts val="0"/>
              </a:spcBef>
              <a:spcAft>
                <a:spcPts val="0"/>
              </a:spcAft>
              <a:buClr>
                <a:schemeClr val="dk1"/>
              </a:buClr>
              <a:buSzPts val="1100"/>
              <a:buAutoNum type="arabicPeriod"/>
            </a:pPr>
            <a:r>
              <a:rPr b="1" lang="en-US">
                <a:solidFill>
                  <a:schemeClr val="dk1"/>
                </a:solidFill>
              </a:rPr>
              <a:t>Ridge لم يحسّن الـLinear Regression بشكل meaningful</a:t>
            </a:r>
            <a:r>
              <a:rPr lang="en-US">
                <a:solidFill>
                  <a:schemeClr val="dk1"/>
                </a:solidFill>
              </a:rPr>
              <a:t>، بينما </a:t>
            </a:r>
            <a:r>
              <a:rPr b="1" lang="en-US">
                <a:solidFill>
                  <a:schemeClr val="dk1"/>
                </a:solidFill>
              </a:rPr>
              <a:t>Gradient Boosting تفوق عليه باستمرار</a:t>
            </a:r>
            <a:r>
              <a:rPr lang="en-US">
                <a:solidFill>
                  <a:schemeClr val="dk1"/>
                </a:solidFill>
              </a:rPr>
              <a:t> في الـCross-Validation.</a:t>
            </a:r>
            <a:endParaRPr>
              <a:solidFill>
                <a:schemeClr val="dk1"/>
              </a:solidFill>
            </a:endParaRPr>
          </a:p>
          <a:p>
            <a:pPr indent="-298450" lvl="0" marL="457200" rtl="1" algn="r">
              <a:lnSpc>
                <a:spcPct val="115000"/>
              </a:lnSpc>
              <a:spcBef>
                <a:spcPts val="0"/>
              </a:spcBef>
              <a:spcAft>
                <a:spcPts val="0"/>
              </a:spcAft>
              <a:buClr>
                <a:schemeClr val="dk1"/>
              </a:buClr>
              <a:buSzPts val="1100"/>
              <a:buAutoNum type="arabicPeriod"/>
            </a:pPr>
            <a:r>
              <a:rPr lang="en-US">
                <a:solidFill>
                  <a:schemeClr val="dk1"/>
                </a:solidFill>
              </a:rPr>
              <a:t>على الـ</a:t>
            </a:r>
            <a:r>
              <a:rPr b="1" lang="en-US">
                <a:solidFill>
                  <a:schemeClr val="dk1"/>
                </a:solidFill>
              </a:rPr>
              <a:t>final held-out test set</a:t>
            </a:r>
            <a:r>
              <a:rPr lang="en-US">
                <a:solidFill>
                  <a:schemeClr val="dk1"/>
                </a:solidFill>
              </a:rPr>
              <a:t>، Gradient Boosting حقق تقريبًا </a:t>
            </a:r>
            <a:r>
              <a:rPr b="1" lang="en-US">
                <a:solidFill>
                  <a:schemeClr val="dk1"/>
                </a:solidFill>
              </a:rPr>
              <a:t>MAE = $1.54، RMSE = $3.87، R² = 0.84</a:t>
            </a:r>
            <a:r>
              <a:rPr lang="en-US">
                <a:solidFill>
                  <a:schemeClr val="dk1"/>
                </a:solidFill>
              </a:rPr>
              <a:t> مقابل حوالي </a:t>
            </a:r>
            <a:r>
              <a:rPr b="1" lang="en-US">
                <a:solidFill>
                  <a:schemeClr val="dk1"/>
                </a:solidFill>
              </a:rPr>
              <a:t>$2.15، $4.76، 0.75</a:t>
            </a:r>
            <a:r>
              <a:rPr lang="en-US">
                <a:solidFill>
                  <a:schemeClr val="dk1"/>
                </a:solidFill>
              </a:rPr>
              <a:t> للـbaseline.</a:t>
            </a:r>
            <a:endParaRPr>
              <a:solidFill>
                <a:schemeClr val="dk1"/>
              </a:solidFill>
            </a:endParaRPr>
          </a:p>
          <a:p>
            <a:pPr indent="-298450" lvl="0" marL="457200" rtl="1" algn="r">
              <a:lnSpc>
                <a:spcPct val="115000"/>
              </a:lnSpc>
              <a:spcBef>
                <a:spcPts val="0"/>
              </a:spcBef>
              <a:spcAft>
                <a:spcPts val="0"/>
              </a:spcAft>
              <a:buClr>
                <a:schemeClr val="dk1"/>
              </a:buClr>
              <a:buSzPts val="1100"/>
              <a:buAutoNum type="arabicPeriod"/>
            </a:pPr>
            <a:r>
              <a:rPr lang="en-US">
                <a:solidFill>
                  <a:schemeClr val="dk1"/>
                </a:solidFill>
              </a:rPr>
              <a:t>ومع ذلك، الـActual vs Predicted يوضح إن </a:t>
            </a:r>
            <a:r>
              <a:rPr b="1" lang="en-US">
                <a:solidFill>
                  <a:schemeClr val="dk1"/>
                </a:solidFill>
              </a:rPr>
              <a:t>الـextreme fares ما زالت أصعب حالات prediction</a:t>
            </a:r>
            <a:r>
              <a:rPr lang="en-US">
                <a:solidFill>
                  <a:schemeClr val="dk1"/>
                </a:solidFill>
              </a:rPr>
              <a:t>. </a:t>
            </a:r>
            <a:endParaRPr b="1">
              <a:solidFill>
                <a:schemeClr val="dk1"/>
              </a:solidFill>
            </a:endParaRPr>
          </a:p>
          <a:p>
            <a:pPr indent="-298450" lvl="0" marL="457200" rtl="1" algn="r">
              <a:lnSpc>
                <a:spcPct val="115000"/>
              </a:lnSpc>
              <a:spcBef>
                <a:spcPts val="0"/>
              </a:spcBef>
              <a:spcAft>
                <a:spcPts val="0"/>
              </a:spcAft>
              <a:buClr>
                <a:schemeClr val="dk1"/>
              </a:buClr>
              <a:buSzPts val="1100"/>
              <a:buAutoNum type="arabicPeriod"/>
            </a:pPr>
            <a:r>
              <a:rPr b="1" lang="en-US">
                <a:solidFill>
                  <a:schemeClr val="dk1"/>
                </a:solidFill>
              </a:rPr>
              <a:t>Distance is the dominant predictor:</a:t>
            </a:r>
            <a:r>
              <a:rPr lang="en-US">
                <a:solidFill>
                  <a:schemeClr val="dk1"/>
                </a:solidFill>
              </a:rPr>
              <a:t> الـdistance كانت أهم feature بوضوح، ومعاها location-related features حملت الجزء الأكبر من المعلومات المستخدمة في التنبؤ.</a:t>
            </a:r>
            <a:endParaRPr>
              <a:solidFill>
                <a:schemeClr val="dk1"/>
              </a:solidFill>
            </a:endParaRPr>
          </a:p>
          <a:p>
            <a:pPr indent="-298450" lvl="0" marL="457200" rtl="1" algn="r">
              <a:lnSpc>
                <a:spcPct val="115000"/>
              </a:lnSpc>
              <a:spcBef>
                <a:spcPts val="0"/>
              </a:spcBef>
              <a:spcAft>
                <a:spcPts val="0"/>
              </a:spcAft>
              <a:buClr>
                <a:schemeClr val="dk1"/>
              </a:buClr>
              <a:buSzPts val="1100"/>
              <a:buAutoNum type="arabicPeriod"/>
            </a:pPr>
            <a:r>
              <a:rPr b="1" lang="en-US">
                <a:solidFill>
                  <a:schemeClr val="dk1"/>
                </a:solidFill>
              </a:rPr>
              <a:t>Gradient Boosting outperformed Ridge:</a:t>
            </a:r>
            <a:r>
              <a:rPr lang="en-US">
                <a:solidFill>
                  <a:schemeClr val="dk1"/>
                </a:solidFill>
              </a:rPr>
              <a:t> حقق </a:t>
            </a:r>
            <a:r>
              <a:rPr b="1" lang="en-US">
                <a:solidFill>
                  <a:schemeClr val="dk1"/>
                </a:solidFill>
              </a:rPr>
              <a:t>RMSE أقل وR² أعلى</a:t>
            </a:r>
            <a:r>
              <a:rPr lang="en-US">
                <a:solidFill>
                  <a:schemeClr val="dk1"/>
                </a:solidFill>
              </a:rPr>
              <a:t>، وده ظهر باستمرار في الـCross-Validation والـfinal test.</a:t>
            </a:r>
            <a:endParaRPr>
              <a:solidFill>
                <a:schemeClr val="dk1"/>
              </a:solidFill>
            </a:endParaRPr>
          </a:p>
          <a:p>
            <a:pPr indent="-298450" lvl="0" marL="457200" rtl="1" algn="r">
              <a:lnSpc>
                <a:spcPct val="115000"/>
              </a:lnSpc>
              <a:spcBef>
                <a:spcPts val="0"/>
              </a:spcBef>
              <a:spcAft>
                <a:spcPts val="0"/>
              </a:spcAft>
              <a:buClr>
                <a:schemeClr val="dk1"/>
              </a:buClr>
              <a:buSzPts val="1100"/>
              <a:buAutoNum type="arabicPeriod"/>
            </a:pPr>
            <a:r>
              <a:rPr b="1" lang="en-US">
                <a:solidFill>
                  <a:schemeClr val="dk1"/>
                </a:solidFill>
              </a:rPr>
              <a:t>Weather and traffic:</a:t>
            </a:r>
            <a:r>
              <a:rPr lang="en-US">
                <a:solidFill>
                  <a:schemeClr val="dk1"/>
                </a:solidFill>
              </a:rPr>
              <a:t> تأثيرهم الفردي على الـfare كان ضعيف جدًا في الـanalysis.</a:t>
            </a:r>
            <a:endParaRPr>
              <a:solidFill>
                <a:schemeClr val="dk1"/>
              </a:solidFill>
            </a:endParaRPr>
          </a:p>
          <a:p>
            <a:pPr indent="-298450" lvl="0" marL="457200" rtl="1" algn="r">
              <a:lnSpc>
                <a:spcPct val="115000"/>
              </a:lnSpc>
              <a:spcBef>
                <a:spcPts val="0"/>
              </a:spcBef>
              <a:spcAft>
                <a:spcPts val="0"/>
              </a:spcAft>
              <a:buClr>
                <a:schemeClr val="dk1"/>
              </a:buClr>
              <a:buSzPts val="1100"/>
              <a:buAutoNum type="arabicPeriod"/>
            </a:pPr>
            <a:r>
              <a:rPr b="1" lang="en-US">
                <a:solidFill>
                  <a:schemeClr val="dk1"/>
                </a:solidFill>
              </a:rPr>
              <a:t>Long trips remain harder:</a:t>
            </a:r>
            <a:r>
              <a:rPr lang="en-US">
                <a:solidFill>
                  <a:schemeClr val="dk1"/>
                </a:solidFill>
              </a:rPr>
              <a:t> الـerrors بتزيد مع الرحلات الأطول، خصوصًا بعد </a:t>
            </a:r>
            <a:r>
              <a:rPr b="1" lang="en-US">
                <a:solidFill>
                  <a:schemeClr val="dk1"/>
                </a:solidFill>
              </a:rPr>
              <a:t>10 km</a:t>
            </a:r>
            <a:r>
              <a:rPr lang="en-US">
                <a:solidFill>
                  <a:schemeClr val="dk1"/>
                </a:solidFill>
              </a:rPr>
              <a:t>، فدي منطقة محتاجة تحسين إضافي.</a:t>
            </a:r>
            <a:endParaRPr>
              <a:solidFill>
                <a:schemeClr val="dk1"/>
              </a:solidFill>
            </a:endParaRPr>
          </a:p>
          <a:p>
            <a:pPr indent="-298450" lvl="0" marL="457200" rtl="1" algn="r">
              <a:lnSpc>
                <a:spcPct val="115000"/>
              </a:lnSpc>
              <a:spcBef>
                <a:spcPts val="0"/>
              </a:spcBef>
              <a:spcAft>
                <a:spcPts val="0"/>
              </a:spcAft>
              <a:buClr>
                <a:schemeClr val="dk1"/>
              </a:buClr>
              <a:buSzPts val="1100"/>
              <a:buAutoNum type="arabicPeriod"/>
            </a:pPr>
            <a:r>
              <a:rPr b="1" lang="en-US">
                <a:solidFill>
                  <a:schemeClr val="dk1"/>
                </a:solidFill>
              </a:rPr>
              <a:t>Log-distance:</a:t>
            </a:r>
            <a:r>
              <a:rPr lang="en-US">
                <a:solidFill>
                  <a:schemeClr val="dk1"/>
                </a:solidFill>
              </a:rPr>
              <a:t> تحويل </a:t>
            </a:r>
            <a:r>
              <a:rPr lang="en-US">
                <a:solidFill>
                  <a:srgbClr val="188038"/>
                </a:solidFill>
                <a:latin typeface="Roboto Mono"/>
                <a:ea typeface="Roboto Mono"/>
                <a:cs typeface="Roboto Mono"/>
                <a:sym typeface="Roboto Mono"/>
              </a:rPr>
              <a:t>distance</a:t>
            </a:r>
            <a:r>
              <a:rPr lang="en-US">
                <a:solidFill>
                  <a:schemeClr val="dk1"/>
                </a:solidFill>
              </a:rPr>
              <a:t> باستخدام </a:t>
            </a:r>
            <a:r>
              <a:rPr lang="en-US">
                <a:solidFill>
                  <a:srgbClr val="188038"/>
                </a:solidFill>
                <a:latin typeface="Roboto Mono"/>
                <a:ea typeface="Roboto Mono"/>
                <a:cs typeface="Roboto Mono"/>
                <a:sym typeface="Roboto Mono"/>
              </a:rPr>
              <a:t>log1p</a:t>
            </a:r>
            <a:r>
              <a:rPr lang="en-US">
                <a:solidFill>
                  <a:schemeClr val="dk1"/>
                </a:solidFill>
              </a:rPr>
              <a:t> أعطى تمثيلًا أفضل للعلاقة غير الخطية بين المسافة والسعر.</a:t>
            </a:r>
            <a:endParaRPr>
              <a:solidFill>
                <a:schemeClr val="dk1"/>
              </a:solidFill>
            </a:endParaRPr>
          </a:p>
          <a:p>
            <a:pPr indent="0" lvl="0" marL="381000" marR="381000" rtl="1" algn="r">
              <a:lnSpc>
                <a:spcPct val="115000"/>
              </a:lnSpc>
              <a:spcBef>
                <a:spcPts val="1200"/>
              </a:spcBef>
              <a:spcAft>
                <a:spcPts val="0"/>
              </a:spcAft>
              <a:buClr>
                <a:schemeClr val="dk1"/>
              </a:buClr>
              <a:buSzPts val="1100"/>
              <a:buFont typeface="Arial"/>
              <a:buNone/>
            </a:pPr>
            <a:r>
              <a:rPr b="1" lang="en-US">
                <a:solidFill>
                  <a:schemeClr val="dk1"/>
                </a:solidFill>
              </a:rPr>
              <a:t>."</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h4f2796e85df475ae_0_807"/>
          <p:cNvSpPr/>
          <p:nvPr/>
        </p:nvSpPr>
        <p:spPr>
          <a:xfrm>
            <a:off x="3658586" y="1008933"/>
            <a:ext cx="1442131" cy="1499896"/>
          </a:xfrm>
          <a:custGeom>
            <a:rect b="b" l="l" r="r" t="t"/>
            <a:pathLst>
              <a:path extrusionOk="0" h="44998" w="43265">
                <a:moveTo>
                  <a:pt x="0" y="44998"/>
                </a:moveTo>
                <a:lnTo>
                  <a:pt x="0" y="0"/>
                </a:lnTo>
                <a:lnTo>
                  <a:pt x="43265" y="0"/>
                </a:lnTo>
              </a:path>
            </a:pathLst>
          </a:custGeom>
          <a:noFill/>
          <a:ln cap="flat" cmpd="sng" w="38100">
            <a:solidFill>
              <a:schemeClr val="lt2"/>
            </a:solidFill>
            <a:prstDash val="solid"/>
            <a:miter lim="8000"/>
            <a:headEnd len="sm" w="sm" type="none"/>
            <a:tailEnd len="sm" w="sm" type="none"/>
          </a:ln>
        </p:spPr>
      </p:sp>
      <p:sp>
        <p:nvSpPr>
          <p:cNvPr id="11" name="Google Shape;11;h4f2796e85df475ae_0_807"/>
          <p:cNvSpPr/>
          <p:nvPr/>
        </p:nvSpPr>
        <p:spPr>
          <a:xfrm rot="10800000">
            <a:off x="7090942" y="4355671"/>
            <a:ext cx="1442131" cy="1499896"/>
          </a:xfrm>
          <a:custGeom>
            <a:rect b="b" l="l" r="r" t="t"/>
            <a:pathLst>
              <a:path extrusionOk="0" h="44998" w="43265">
                <a:moveTo>
                  <a:pt x="0" y="44998"/>
                </a:moveTo>
                <a:lnTo>
                  <a:pt x="0" y="0"/>
                </a:lnTo>
                <a:lnTo>
                  <a:pt x="43265" y="0"/>
                </a:lnTo>
              </a:path>
            </a:pathLst>
          </a:custGeom>
          <a:noFill/>
          <a:ln cap="flat" cmpd="sng" w="38100">
            <a:solidFill>
              <a:schemeClr val="lt2"/>
            </a:solidFill>
            <a:prstDash val="solid"/>
            <a:miter lim="8000"/>
            <a:headEnd len="sm" w="sm" type="none"/>
            <a:tailEnd len="sm" w="sm" type="none"/>
          </a:ln>
        </p:spPr>
      </p:sp>
      <p:sp>
        <p:nvSpPr>
          <p:cNvPr id="12" name="Google Shape;12;h4f2796e85df475ae_0_807"/>
          <p:cNvSpPr txBox="1"/>
          <p:nvPr>
            <p:ph type="ctrTitle"/>
          </p:nvPr>
        </p:nvSpPr>
        <p:spPr>
          <a:xfrm>
            <a:off x="4059492" y="1925674"/>
            <a:ext cx="4072800" cy="20496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a:lvl1pPr>
            <a:lvl2pPr lvl="1" algn="ctr">
              <a:spcBef>
                <a:spcPts val="0"/>
              </a:spcBef>
              <a:spcAft>
                <a:spcPts val="0"/>
              </a:spcAft>
              <a:buSzPts val="5600"/>
              <a:buNone/>
              <a:defRPr/>
            </a:lvl2pPr>
            <a:lvl3pPr lvl="2" algn="ctr">
              <a:spcBef>
                <a:spcPts val="0"/>
              </a:spcBef>
              <a:spcAft>
                <a:spcPts val="0"/>
              </a:spcAft>
              <a:buSzPts val="5600"/>
              <a:buNone/>
              <a:defRPr/>
            </a:lvl3pPr>
            <a:lvl4pPr lvl="3" algn="ctr">
              <a:spcBef>
                <a:spcPts val="0"/>
              </a:spcBef>
              <a:spcAft>
                <a:spcPts val="0"/>
              </a:spcAft>
              <a:buSzPts val="5600"/>
              <a:buNone/>
              <a:defRPr/>
            </a:lvl4pPr>
            <a:lvl5pPr lvl="4" algn="ctr">
              <a:spcBef>
                <a:spcPts val="0"/>
              </a:spcBef>
              <a:spcAft>
                <a:spcPts val="0"/>
              </a:spcAft>
              <a:buSzPts val="5600"/>
              <a:buNone/>
              <a:defRPr/>
            </a:lvl5pPr>
            <a:lvl6pPr lvl="5" algn="ctr">
              <a:spcBef>
                <a:spcPts val="0"/>
              </a:spcBef>
              <a:spcAft>
                <a:spcPts val="0"/>
              </a:spcAft>
              <a:buSzPts val="5600"/>
              <a:buNone/>
              <a:defRPr/>
            </a:lvl6pPr>
            <a:lvl7pPr lvl="6" algn="ctr">
              <a:spcBef>
                <a:spcPts val="0"/>
              </a:spcBef>
              <a:spcAft>
                <a:spcPts val="0"/>
              </a:spcAft>
              <a:buSzPts val="5600"/>
              <a:buNone/>
              <a:defRPr/>
            </a:lvl7pPr>
            <a:lvl8pPr lvl="7" algn="ctr">
              <a:spcBef>
                <a:spcPts val="0"/>
              </a:spcBef>
              <a:spcAft>
                <a:spcPts val="0"/>
              </a:spcAft>
              <a:buSzPts val="5600"/>
              <a:buNone/>
              <a:defRPr/>
            </a:lvl8pPr>
            <a:lvl9pPr lvl="8" algn="ctr">
              <a:spcBef>
                <a:spcPts val="0"/>
              </a:spcBef>
              <a:spcAft>
                <a:spcPts val="0"/>
              </a:spcAft>
              <a:buSzPts val="5600"/>
              <a:buNone/>
              <a:defRPr/>
            </a:lvl9pPr>
          </a:lstStyle>
          <a:p/>
        </p:txBody>
      </p:sp>
      <p:sp>
        <p:nvSpPr>
          <p:cNvPr id="13" name="Google Shape;13;h4f2796e85df475ae_0_807"/>
          <p:cNvSpPr txBox="1"/>
          <p:nvPr>
            <p:ph idx="1" type="subTitle"/>
          </p:nvPr>
        </p:nvSpPr>
        <p:spPr>
          <a:xfrm>
            <a:off x="4059492" y="4155440"/>
            <a:ext cx="4072800" cy="9351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Font typeface="Economica"/>
              <a:buNone/>
              <a:defRPr sz="2800">
                <a:latin typeface="Economica"/>
                <a:ea typeface="Economica"/>
                <a:cs typeface="Economica"/>
                <a:sym typeface="Economica"/>
              </a:defRPr>
            </a:lvl1pPr>
            <a:lvl2pPr lvl="1" algn="ctr">
              <a:lnSpc>
                <a:spcPct val="100000"/>
              </a:lnSpc>
              <a:spcBef>
                <a:spcPts val="0"/>
              </a:spcBef>
              <a:spcAft>
                <a:spcPts val="0"/>
              </a:spcAft>
              <a:buSzPts val="2800"/>
              <a:buFont typeface="Economica"/>
              <a:buNone/>
              <a:defRPr sz="2800">
                <a:latin typeface="Economica"/>
                <a:ea typeface="Economica"/>
                <a:cs typeface="Economica"/>
                <a:sym typeface="Economica"/>
              </a:defRPr>
            </a:lvl2pPr>
            <a:lvl3pPr lvl="2" algn="ctr">
              <a:lnSpc>
                <a:spcPct val="100000"/>
              </a:lnSpc>
              <a:spcBef>
                <a:spcPts val="0"/>
              </a:spcBef>
              <a:spcAft>
                <a:spcPts val="0"/>
              </a:spcAft>
              <a:buSzPts val="2800"/>
              <a:buFont typeface="Economica"/>
              <a:buNone/>
              <a:defRPr sz="2800">
                <a:latin typeface="Economica"/>
                <a:ea typeface="Economica"/>
                <a:cs typeface="Economica"/>
                <a:sym typeface="Economica"/>
              </a:defRPr>
            </a:lvl3pPr>
            <a:lvl4pPr lvl="3" algn="ctr">
              <a:lnSpc>
                <a:spcPct val="100000"/>
              </a:lnSpc>
              <a:spcBef>
                <a:spcPts val="0"/>
              </a:spcBef>
              <a:spcAft>
                <a:spcPts val="0"/>
              </a:spcAft>
              <a:buSzPts val="2800"/>
              <a:buFont typeface="Economica"/>
              <a:buNone/>
              <a:defRPr sz="2800">
                <a:latin typeface="Economica"/>
                <a:ea typeface="Economica"/>
                <a:cs typeface="Economica"/>
                <a:sym typeface="Economica"/>
              </a:defRPr>
            </a:lvl4pPr>
            <a:lvl5pPr lvl="4" algn="ctr">
              <a:lnSpc>
                <a:spcPct val="100000"/>
              </a:lnSpc>
              <a:spcBef>
                <a:spcPts val="0"/>
              </a:spcBef>
              <a:spcAft>
                <a:spcPts val="0"/>
              </a:spcAft>
              <a:buSzPts val="2800"/>
              <a:buFont typeface="Economica"/>
              <a:buNone/>
              <a:defRPr sz="2800">
                <a:latin typeface="Economica"/>
                <a:ea typeface="Economica"/>
                <a:cs typeface="Economica"/>
                <a:sym typeface="Economica"/>
              </a:defRPr>
            </a:lvl5pPr>
            <a:lvl6pPr lvl="5" algn="ctr">
              <a:lnSpc>
                <a:spcPct val="100000"/>
              </a:lnSpc>
              <a:spcBef>
                <a:spcPts val="0"/>
              </a:spcBef>
              <a:spcAft>
                <a:spcPts val="0"/>
              </a:spcAft>
              <a:buSzPts val="2800"/>
              <a:buFont typeface="Economica"/>
              <a:buNone/>
              <a:defRPr sz="2800">
                <a:latin typeface="Economica"/>
                <a:ea typeface="Economica"/>
                <a:cs typeface="Economica"/>
                <a:sym typeface="Economica"/>
              </a:defRPr>
            </a:lvl6pPr>
            <a:lvl7pPr lvl="6" algn="ctr">
              <a:lnSpc>
                <a:spcPct val="100000"/>
              </a:lnSpc>
              <a:spcBef>
                <a:spcPts val="0"/>
              </a:spcBef>
              <a:spcAft>
                <a:spcPts val="0"/>
              </a:spcAft>
              <a:buSzPts val="2800"/>
              <a:buFont typeface="Economica"/>
              <a:buNone/>
              <a:defRPr sz="2800">
                <a:latin typeface="Economica"/>
                <a:ea typeface="Economica"/>
                <a:cs typeface="Economica"/>
                <a:sym typeface="Economica"/>
              </a:defRPr>
            </a:lvl7pPr>
            <a:lvl8pPr lvl="7" algn="ctr">
              <a:lnSpc>
                <a:spcPct val="100000"/>
              </a:lnSpc>
              <a:spcBef>
                <a:spcPts val="0"/>
              </a:spcBef>
              <a:spcAft>
                <a:spcPts val="0"/>
              </a:spcAft>
              <a:buSzPts val="2800"/>
              <a:buFont typeface="Economica"/>
              <a:buNone/>
              <a:defRPr sz="2800">
                <a:latin typeface="Economica"/>
                <a:ea typeface="Economica"/>
                <a:cs typeface="Economica"/>
                <a:sym typeface="Economica"/>
              </a:defRPr>
            </a:lvl8pPr>
            <a:lvl9pPr lvl="8" algn="ctr">
              <a:lnSpc>
                <a:spcPct val="100000"/>
              </a:lnSpc>
              <a:spcBef>
                <a:spcPts val="0"/>
              </a:spcBef>
              <a:spcAft>
                <a:spcPts val="0"/>
              </a:spcAft>
              <a:buSzPts val="2800"/>
              <a:buFont typeface="Economica"/>
              <a:buNone/>
              <a:defRPr sz="2800">
                <a:latin typeface="Economica"/>
                <a:ea typeface="Economica"/>
                <a:cs typeface="Economica"/>
                <a:sym typeface="Economica"/>
              </a:defRPr>
            </a:lvl9pPr>
          </a:lstStyle>
          <a:p/>
        </p:txBody>
      </p:sp>
      <p:sp>
        <p:nvSpPr>
          <p:cNvPr id="14" name="Google Shape;14;h4f2796e85df475ae_0_807"/>
          <p:cNvSpPr txBox="1"/>
          <p:nvPr>
            <p:ph idx="12" type="sldNum"/>
          </p:nvPr>
        </p:nvSpPr>
        <p:spPr>
          <a:xfrm>
            <a:off x="11296309"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h4f2796e85df475ae_0_813"/>
          <p:cNvSpPr/>
          <p:nvPr/>
        </p:nvSpPr>
        <p:spPr>
          <a:xfrm flipH="1">
            <a:off x="10127644" y="613633"/>
            <a:ext cx="1442131" cy="1499896"/>
          </a:xfrm>
          <a:custGeom>
            <a:rect b="b" l="l" r="r" t="t"/>
            <a:pathLst>
              <a:path extrusionOk="0" h="44998" w="43265">
                <a:moveTo>
                  <a:pt x="0" y="44998"/>
                </a:moveTo>
                <a:lnTo>
                  <a:pt x="0" y="0"/>
                </a:lnTo>
                <a:lnTo>
                  <a:pt x="43265" y="0"/>
                </a:lnTo>
              </a:path>
            </a:pathLst>
          </a:custGeom>
          <a:noFill/>
          <a:ln cap="flat" cmpd="sng" w="38100">
            <a:solidFill>
              <a:schemeClr val="lt2"/>
            </a:solidFill>
            <a:prstDash val="solid"/>
            <a:miter lim="8000"/>
            <a:headEnd len="sm" w="sm" type="none"/>
            <a:tailEnd len="sm" w="sm" type="none"/>
          </a:ln>
        </p:spPr>
      </p:sp>
      <p:sp>
        <p:nvSpPr>
          <p:cNvPr id="17" name="Google Shape;17;h4f2796e85df475ae_0_813"/>
          <p:cNvSpPr/>
          <p:nvPr/>
        </p:nvSpPr>
        <p:spPr>
          <a:xfrm flipH="1" rot="10800000">
            <a:off x="621883" y="4744471"/>
            <a:ext cx="1442131" cy="1499896"/>
          </a:xfrm>
          <a:custGeom>
            <a:rect b="b" l="l" r="r" t="t"/>
            <a:pathLst>
              <a:path extrusionOk="0" h="44998" w="43265">
                <a:moveTo>
                  <a:pt x="0" y="44998"/>
                </a:moveTo>
                <a:lnTo>
                  <a:pt x="0" y="0"/>
                </a:lnTo>
                <a:lnTo>
                  <a:pt x="43265" y="0"/>
                </a:lnTo>
              </a:path>
            </a:pathLst>
          </a:custGeom>
          <a:noFill/>
          <a:ln cap="flat" cmpd="sng" w="38100">
            <a:solidFill>
              <a:schemeClr val="lt2"/>
            </a:solidFill>
            <a:prstDash val="solid"/>
            <a:miter lim="8000"/>
            <a:headEnd len="sm" w="sm" type="none"/>
            <a:tailEnd len="sm" w="sm" type="none"/>
          </a:ln>
        </p:spPr>
      </p:sp>
      <p:sp>
        <p:nvSpPr>
          <p:cNvPr id="18" name="Google Shape;18;h4f2796e85df475ae_0_813"/>
          <p:cNvSpPr txBox="1"/>
          <p:nvPr>
            <p:ph type="title"/>
          </p:nvPr>
        </p:nvSpPr>
        <p:spPr>
          <a:xfrm>
            <a:off x="1031572" y="2408600"/>
            <a:ext cx="10128600" cy="20409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5600"/>
              <a:buNone/>
              <a:defRPr/>
            </a:lvl1pPr>
            <a:lvl2pPr lvl="1" algn="ctr">
              <a:spcBef>
                <a:spcPts val="0"/>
              </a:spcBef>
              <a:spcAft>
                <a:spcPts val="0"/>
              </a:spcAft>
              <a:buSzPts val="5600"/>
              <a:buNone/>
              <a:defRPr/>
            </a:lvl2pPr>
            <a:lvl3pPr lvl="2" algn="ctr">
              <a:spcBef>
                <a:spcPts val="0"/>
              </a:spcBef>
              <a:spcAft>
                <a:spcPts val="0"/>
              </a:spcAft>
              <a:buSzPts val="5600"/>
              <a:buNone/>
              <a:defRPr/>
            </a:lvl3pPr>
            <a:lvl4pPr lvl="3" algn="ctr">
              <a:spcBef>
                <a:spcPts val="0"/>
              </a:spcBef>
              <a:spcAft>
                <a:spcPts val="0"/>
              </a:spcAft>
              <a:buSzPts val="5600"/>
              <a:buNone/>
              <a:defRPr/>
            </a:lvl4pPr>
            <a:lvl5pPr lvl="4" algn="ctr">
              <a:spcBef>
                <a:spcPts val="0"/>
              </a:spcBef>
              <a:spcAft>
                <a:spcPts val="0"/>
              </a:spcAft>
              <a:buSzPts val="5600"/>
              <a:buNone/>
              <a:defRPr/>
            </a:lvl5pPr>
            <a:lvl6pPr lvl="5" algn="ctr">
              <a:spcBef>
                <a:spcPts val="0"/>
              </a:spcBef>
              <a:spcAft>
                <a:spcPts val="0"/>
              </a:spcAft>
              <a:buSzPts val="5600"/>
              <a:buNone/>
              <a:defRPr/>
            </a:lvl6pPr>
            <a:lvl7pPr lvl="6" algn="ctr">
              <a:spcBef>
                <a:spcPts val="0"/>
              </a:spcBef>
              <a:spcAft>
                <a:spcPts val="0"/>
              </a:spcAft>
              <a:buSzPts val="5600"/>
              <a:buNone/>
              <a:defRPr/>
            </a:lvl7pPr>
            <a:lvl8pPr lvl="7" algn="ctr">
              <a:spcBef>
                <a:spcPts val="0"/>
              </a:spcBef>
              <a:spcAft>
                <a:spcPts val="0"/>
              </a:spcAft>
              <a:buSzPts val="5600"/>
              <a:buNone/>
              <a:defRPr/>
            </a:lvl8pPr>
            <a:lvl9pPr lvl="8" algn="ctr">
              <a:spcBef>
                <a:spcPts val="0"/>
              </a:spcBef>
              <a:spcAft>
                <a:spcPts val="0"/>
              </a:spcAft>
              <a:buSzPts val="5600"/>
              <a:buNone/>
              <a:defRPr/>
            </a:lvl9pPr>
          </a:lstStyle>
          <a:p/>
        </p:txBody>
      </p:sp>
      <p:sp>
        <p:nvSpPr>
          <p:cNvPr id="19" name="Google Shape;19;h4f2796e85df475ae_0_813"/>
          <p:cNvSpPr txBox="1"/>
          <p:nvPr>
            <p:ph idx="12" type="sldNum"/>
          </p:nvPr>
        </p:nvSpPr>
        <p:spPr>
          <a:xfrm>
            <a:off x="11296309"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h4f2796e85df475ae_0_818"/>
          <p:cNvSpPr/>
          <p:nvPr/>
        </p:nvSpPr>
        <p:spPr>
          <a:xfrm>
            <a:off x="0" y="6727600"/>
            <a:ext cx="12191700" cy="1305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 name="Google Shape;22;h4f2796e85df475ae_0_818"/>
          <p:cNvSpPr txBox="1"/>
          <p:nvPr>
            <p:ph type="title"/>
          </p:nvPr>
        </p:nvSpPr>
        <p:spPr>
          <a:xfrm>
            <a:off x="415589" y="421233"/>
            <a:ext cx="11360400" cy="1108500"/>
          </a:xfrm>
          <a:prstGeom prst="rect">
            <a:avLst/>
          </a:prstGeom>
        </p:spPr>
        <p:txBody>
          <a:bodyPr anchorCtr="0" anchor="b" bIns="121900" lIns="121900" spcFirstLastPara="1" rIns="121900" wrap="square" tIns="12190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3" name="Google Shape;23;h4f2796e85df475ae_0_818"/>
          <p:cNvSpPr txBox="1"/>
          <p:nvPr>
            <p:ph idx="1" type="body"/>
          </p:nvPr>
        </p:nvSpPr>
        <p:spPr>
          <a:xfrm>
            <a:off x="415589" y="1633633"/>
            <a:ext cx="11360400" cy="44721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24" name="Google Shape;24;h4f2796e85df475ae_0_818"/>
          <p:cNvSpPr txBox="1"/>
          <p:nvPr>
            <p:ph idx="12" type="sldNum"/>
          </p:nvPr>
        </p:nvSpPr>
        <p:spPr>
          <a:xfrm>
            <a:off x="11296309"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h4f2796e85df475ae_0_823"/>
          <p:cNvSpPr txBox="1"/>
          <p:nvPr>
            <p:ph type="title"/>
          </p:nvPr>
        </p:nvSpPr>
        <p:spPr>
          <a:xfrm>
            <a:off x="415589" y="421233"/>
            <a:ext cx="11360400" cy="1108500"/>
          </a:xfrm>
          <a:prstGeom prst="rect">
            <a:avLst/>
          </a:prstGeom>
        </p:spPr>
        <p:txBody>
          <a:bodyPr anchorCtr="0" anchor="b" bIns="121900" lIns="121900" spcFirstLastPara="1" rIns="121900" wrap="square" tIns="12190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7" name="Google Shape;27;h4f2796e85df475ae_0_823"/>
          <p:cNvSpPr txBox="1"/>
          <p:nvPr>
            <p:ph idx="1" type="body"/>
          </p:nvPr>
        </p:nvSpPr>
        <p:spPr>
          <a:xfrm>
            <a:off x="415589" y="1633633"/>
            <a:ext cx="5333100" cy="44721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8" name="Google Shape;28;h4f2796e85df475ae_0_823"/>
          <p:cNvSpPr txBox="1"/>
          <p:nvPr>
            <p:ph idx="2" type="body"/>
          </p:nvPr>
        </p:nvSpPr>
        <p:spPr>
          <a:xfrm>
            <a:off x="6443028" y="1633633"/>
            <a:ext cx="5333100" cy="44721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9" name="Google Shape;29;h4f2796e85df475ae_0_823"/>
          <p:cNvSpPr txBox="1"/>
          <p:nvPr>
            <p:ph idx="12" type="sldNum"/>
          </p:nvPr>
        </p:nvSpPr>
        <p:spPr>
          <a:xfrm>
            <a:off x="11296309"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h4f2796e85df475ae_0_828"/>
          <p:cNvSpPr txBox="1"/>
          <p:nvPr>
            <p:ph type="title"/>
          </p:nvPr>
        </p:nvSpPr>
        <p:spPr>
          <a:xfrm>
            <a:off x="415589" y="421233"/>
            <a:ext cx="11360400" cy="1108500"/>
          </a:xfrm>
          <a:prstGeom prst="rect">
            <a:avLst/>
          </a:prstGeom>
        </p:spPr>
        <p:txBody>
          <a:bodyPr anchorCtr="0" anchor="b" bIns="121900" lIns="121900" spcFirstLastPara="1" rIns="121900" wrap="square" tIns="12190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2" name="Google Shape;32;h4f2796e85df475ae_0_828"/>
          <p:cNvSpPr txBox="1"/>
          <p:nvPr>
            <p:ph idx="12" type="sldNum"/>
          </p:nvPr>
        </p:nvSpPr>
        <p:spPr>
          <a:xfrm>
            <a:off x="11296309"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h4f2796e85df475ae_0_831"/>
          <p:cNvSpPr txBox="1"/>
          <p:nvPr>
            <p:ph type="title"/>
          </p:nvPr>
        </p:nvSpPr>
        <p:spPr>
          <a:xfrm>
            <a:off x="415589"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35" name="Google Shape;35;h4f2796e85df475ae_0_831"/>
          <p:cNvSpPr txBox="1"/>
          <p:nvPr>
            <p:ph idx="1" type="body"/>
          </p:nvPr>
        </p:nvSpPr>
        <p:spPr>
          <a:xfrm>
            <a:off x="415589" y="1865867"/>
            <a:ext cx="3744000" cy="37131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6" name="Google Shape;36;h4f2796e85df475ae_0_831"/>
          <p:cNvSpPr txBox="1"/>
          <p:nvPr>
            <p:ph idx="12" type="sldNum"/>
          </p:nvPr>
        </p:nvSpPr>
        <p:spPr>
          <a:xfrm>
            <a:off x="11296309"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h4f2796e85df475ae_0_835"/>
          <p:cNvSpPr/>
          <p:nvPr/>
        </p:nvSpPr>
        <p:spPr>
          <a:xfrm>
            <a:off x="0" y="6727600"/>
            <a:ext cx="12191700" cy="1305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 name="Google Shape;39;h4f2796e85df475ae_0_835"/>
          <p:cNvSpPr txBox="1"/>
          <p:nvPr>
            <p:ph type="title"/>
          </p:nvPr>
        </p:nvSpPr>
        <p:spPr>
          <a:xfrm>
            <a:off x="653649" y="600200"/>
            <a:ext cx="78381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40" name="Google Shape;40;h4f2796e85df475ae_0_835"/>
          <p:cNvSpPr txBox="1"/>
          <p:nvPr>
            <p:ph idx="12" type="sldNum"/>
          </p:nvPr>
        </p:nvSpPr>
        <p:spPr>
          <a:xfrm>
            <a:off x="11296309"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h4f2796e85df475ae_0_839"/>
          <p:cNvSpPr/>
          <p:nvPr/>
        </p:nvSpPr>
        <p:spPr>
          <a:xfrm>
            <a:off x="6095838" y="-33"/>
            <a:ext cx="60957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43" name="Google Shape;43;h4f2796e85df475ae_0_839"/>
          <p:cNvCxnSpPr/>
          <p:nvPr/>
        </p:nvCxnSpPr>
        <p:spPr>
          <a:xfrm>
            <a:off x="6706055" y="5994000"/>
            <a:ext cx="624300" cy="0"/>
          </a:xfrm>
          <a:prstGeom prst="straightConnector1">
            <a:avLst/>
          </a:prstGeom>
          <a:noFill/>
          <a:ln cap="flat" cmpd="sng" w="25400">
            <a:solidFill>
              <a:schemeClr val="lt1"/>
            </a:solidFill>
            <a:prstDash val="solid"/>
            <a:round/>
            <a:headEnd len="sm" w="sm" type="none"/>
            <a:tailEnd len="sm" w="sm" type="none"/>
          </a:ln>
        </p:spPr>
      </p:cxnSp>
      <p:sp>
        <p:nvSpPr>
          <p:cNvPr id="44" name="Google Shape;44;h4f2796e85df475ae_0_839"/>
          <p:cNvSpPr txBox="1"/>
          <p:nvPr>
            <p:ph type="title"/>
          </p:nvPr>
        </p:nvSpPr>
        <p:spPr>
          <a:xfrm>
            <a:off x="353991" y="1239033"/>
            <a:ext cx="5393400" cy="2381700"/>
          </a:xfrm>
          <a:prstGeom prst="rect">
            <a:avLst/>
          </a:prstGeom>
        </p:spPr>
        <p:txBody>
          <a:bodyPr anchorCtr="0" anchor="b" bIns="121900" lIns="121900" spcFirstLastPara="1" rIns="121900" wrap="square" tIns="121900">
            <a:normAutofit/>
          </a:bodyPr>
          <a:lstStyle>
            <a:lvl1pPr lvl="0" algn="ctr">
              <a:spcBef>
                <a:spcPts val="0"/>
              </a:spcBef>
              <a:spcAft>
                <a:spcPts val="0"/>
              </a:spcAft>
              <a:buClr>
                <a:schemeClr val="lt2"/>
              </a:buClr>
              <a:buSzPts val="5600"/>
              <a:buNone/>
              <a:defRPr>
                <a:solidFill>
                  <a:schemeClr val="lt2"/>
                </a:solidFill>
              </a:defRPr>
            </a:lvl1pPr>
            <a:lvl2pPr lvl="1" algn="ctr">
              <a:spcBef>
                <a:spcPts val="0"/>
              </a:spcBef>
              <a:spcAft>
                <a:spcPts val="0"/>
              </a:spcAft>
              <a:buClr>
                <a:schemeClr val="lt2"/>
              </a:buClr>
              <a:buSzPts val="5600"/>
              <a:buNone/>
              <a:defRPr>
                <a:solidFill>
                  <a:schemeClr val="lt2"/>
                </a:solidFill>
              </a:defRPr>
            </a:lvl2pPr>
            <a:lvl3pPr lvl="2" algn="ctr">
              <a:spcBef>
                <a:spcPts val="0"/>
              </a:spcBef>
              <a:spcAft>
                <a:spcPts val="0"/>
              </a:spcAft>
              <a:buClr>
                <a:schemeClr val="lt2"/>
              </a:buClr>
              <a:buSzPts val="5600"/>
              <a:buNone/>
              <a:defRPr>
                <a:solidFill>
                  <a:schemeClr val="lt2"/>
                </a:solidFill>
              </a:defRPr>
            </a:lvl3pPr>
            <a:lvl4pPr lvl="3" algn="ctr">
              <a:spcBef>
                <a:spcPts val="0"/>
              </a:spcBef>
              <a:spcAft>
                <a:spcPts val="0"/>
              </a:spcAft>
              <a:buClr>
                <a:schemeClr val="lt2"/>
              </a:buClr>
              <a:buSzPts val="5600"/>
              <a:buNone/>
              <a:defRPr>
                <a:solidFill>
                  <a:schemeClr val="lt2"/>
                </a:solidFill>
              </a:defRPr>
            </a:lvl4pPr>
            <a:lvl5pPr lvl="4" algn="ctr">
              <a:spcBef>
                <a:spcPts val="0"/>
              </a:spcBef>
              <a:spcAft>
                <a:spcPts val="0"/>
              </a:spcAft>
              <a:buClr>
                <a:schemeClr val="lt2"/>
              </a:buClr>
              <a:buSzPts val="5600"/>
              <a:buNone/>
              <a:defRPr>
                <a:solidFill>
                  <a:schemeClr val="lt2"/>
                </a:solidFill>
              </a:defRPr>
            </a:lvl5pPr>
            <a:lvl6pPr lvl="5" algn="ctr">
              <a:spcBef>
                <a:spcPts val="0"/>
              </a:spcBef>
              <a:spcAft>
                <a:spcPts val="0"/>
              </a:spcAft>
              <a:buClr>
                <a:schemeClr val="lt2"/>
              </a:buClr>
              <a:buSzPts val="5600"/>
              <a:buNone/>
              <a:defRPr>
                <a:solidFill>
                  <a:schemeClr val="lt2"/>
                </a:solidFill>
              </a:defRPr>
            </a:lvl6pPr>
            <a:lvl7pPr lvl="6" algn="ctr">
              <a:spcBef>
                <a:spcPts val="0"/>
              </a:spcBef>
              <a:spcAft>
                <a:spcPts val="0"/>
              </a:spcAft>
              <a:buClr>
                <a:schemeClr val="lt2"/>
              </a:buClr>
              <a:buSzPts val="5600"/>
              <a:buNone/>
              <a:defRPr>
                <a:solidFill>
                  <a:schemeClr val="lt2"/>
                </a:solidFill>
              </a:defRPr>
            </a:lvl7pPr>
            <a:lvl8pPr lvl="7" algn="ctr">
              <a:spcBef>
                <a:spcPts val="0"/>
              </a:spcBef>
              <a:spcAft>
                <a:spcPts val="0"/>
              </a:spcAft>
              <a:buClr>
                <a:schemeClr val="lt2"/>
              </a:buClr>
              <a:buSzPts val="5600"/>
              <a:buNone/>
              <a:defRPr>
                <a:solidFill>
                  <a:schemeClr val="lt2"/>
                </a:solidFill>
              </a:defRPr>
            </a:lvl8pPr>
            <a:lvl9pPr lvl="8" algn="ctr">
              <a:spcBef>
                <a:spcPts val="0"/>
              </a:spcBef>
              <a:spcAft>
                <a:spcPts val="0"/>
              </a:spcAft>
              <a:buClr>
                <a:schemeClr val="lt2"/>
              </a:buClr>
              <a:buSzPts val="5600"/>
              <a:buNone/>
              <a:defRPr>
                <a:solidFill>
                  <a:schemeClr val="lt2"/>
                </a:solidFill>
              </a:defRPr>
            </a:lvl9pPr>
          </a:lstStyle>
          <a:p/>
        </p:txBody>
      </p:sp>
      <p:sp>
        <p:nvSpPr>
          <p:cNvPr id="45" name="Google Shape;45;h4f2796e85df475ae_0_839"/>
          <p:cNvSpPr txBox="1"/>
          <p:nvPr>
            <p:ph idx="1" type="subTitle"/>
          </p:nvPr>
        </p:nvSpPr>
        <p:spPr>
          <a:xfrm>
            <a:off x="353991" y="3692001"/>
            <a:ext cx="5393400" cy="20988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200"/>
              <a:buFont typeface="Economica"/>
              <a:buNone/>
              <a:defRPr sz="3200">
                <a:latin typeface="Economica"/>
                <a:ea typeface="Economica"/>
                <a:cs typeface="Economica"/>
                <a:sym typeface="Economica"/>
              </a:defRPr>
            </a:lvl1pPr>
            <a:lvl2pPr lvl="1" algn="ctr">
              <a:lnSpc>
                <a:spcPct val="100000"/>
              </a:lnSpc>
              <a:spcBef>
                <a:spcPts val="0"/>
              </a:spcBef>
              <a:spcAft>
                <a:spcPts val="0"/>
              </a:spcAft>
              <a:buSzPts val="3200"/>
              <a:buFont typeface="Economica"/>
              <a:buNone/>
              <a:defRPr sz="3200">
                <a:latin typeface="Economica"/>
                <a:ea typeface="Economica"/>
                <a:cs typeface="Economica"/>
                <a:sym typeface="Economica"/>
              </a:defRPr>
            </a:lvl2pPr>
            <a:lvl3pPr lvl="2" algn="ctr">
              <a:lnSpc>
                <a:spcPct val="100000"/>
              </a:lnSpc>
              <a:spcBef>
                <a:spcPts val="0"/>
              </a:spcBef>
              <a:spcAft>
                <a:spcPts val="0"/>
              </a:spcAft>
              <a:buSzPts val="3200"/>
              <a:buFont typeface="Economica"/>
              <a:buNone/>
              <a:defRPr sz="3200">
                <a:latin typeface="Economica"/>
                <a:ea typeface="Economica"/>
                <a:cs typeface="Economica"/>
                <a:sym typeface="Economica"/>
              </a:defRPr>
            </a:lvl3pPr>
            <a:lvl4pPr lvl="3" algn="ctr">
              <a:lnSpc>
                <a:spcPct val="100000"/>
              </a:lnSpc>
              <a:spcBef>
                <a:spcPts val="0"/>
              </a:spcBef>
              <a:spcAft>
                <a:spcPts val="0"/>
              </a:spcAft>
              <a:buSzPts val="3200"/>
              <a:buFont typeface="Economica"/>
              <a:buNone/>
              <a:defRPr sz="3200">
                <a:latin typeface="Economica"/>
                <a:ea typeface="Economica"/>
                <a:cs typeface="Economica"/>
                <a:sym typeface="Economica"/>
              </a:defRPr>
            </a:lvl4pPr>
            <a:lvl5pPr lvl="4" algn="ctr">
              <a:lnSpc>
                <a:spcPct val="100000"/>
              </a:lnSpc>
              <a:spcBef>
                <a:spcPts val="0"/>
              </a:spcBef>
              <a:spcAft>
                <a:spcPts val="0"/>
              </a:spcAft>
              <a:buSzPts val="3200"/>
              <a:buFont typeface="Economica"/>
              <a:buNone/>
              <a:defRPr sz="3200">
                <a:latin typeface="Economica"/>
                <a:ea typeface="Economica"/>
                <a:cs typeface="Economica"/>
                <a:sym typeface="Economica"/>
              </a:defRPr>
            </a:lvl5pPr>
            <a:lvl6pPr lvl="5" algn="ctr">
              <a:lnSpc>
                <a:spcPct val="100000"/>
              </a:lnSpc>
              <a:spcBef>
                <a:spcPts val="0"/>
              </a:spcBef>
              <a:spcAft>
                <a:spcPts val="0"/>
              </a:spcAft>
              <a:buSzPts val="3200"/>
              <a:buFont typeface="Economica"/>
              <a:buNone/>
              <a:defRPr sz="3200">
                <a:latin typeface="Economica"/>
                <a:ea typeface="Economica"/>
                <a:cs typeface="Economica"/>
                <a:sym typeface="Economica"/>
              </a:defRPr>
            </a:lvl6pPr>
            <a:lvl7pPr lvl="6" algn="ctr">
              <a:lnSpc>
                <a:spcPct val="100000"/>
              </a:lnSpc>
              <a:spcBef>
                <a:spcPts val="0"/>
              </a:spcBef>
              <a:spcAft>
                <a:spcPts val="0"/>
              </a:spcAft>
              <a:buSzPts val="3200"/>
              <a:buFont typeface="Economica"/>
              <a:buNone/>
              <a:defRPr sz="3200">
                <a:latin typeface="Economica"/>
                <a:ea typeface="Economica"/>
                <a:cs typeface="Economica"/>
                <a:sym typeface="Economica"/>
              </a:defRPr>
            </a:lvl7pPr>
            <a:lvl8pPr lvl="7" algn="ctr">
              <a:lnSpc>
                <a:spcPct val="100000"/>
              </a:lnSpc>
              <a:spcBef>
                <a:spcPts val="0"/>
              </a:spcBef>
              <a:spcAft>
                <a:spcPts val="0"/>
              </a:spcAft>
              <a:buSzPts val="3200"/>
              <a:buFont typeface="Economica"/>
              <a:buNone/>
              <a:defRPr sz="3200">
                <a:latin typeface="Economica"/>
                <a:ea typeface="Economica"/>
                <a:cs typeface="Economica"/>
                <a:sym typeface="Economica"/>
              </a:defRPr>
            </a:lvl8pPr>
            <a:lvl9pPr lvl="8" algn="ctr">
              <a:lnSpc>
                <a:spcPct val="100000"/>
              </a:lnSpc>
              <a:spcBef>
                <a:spcPts val="0"/>
              </a:spcBef>
              <a:spcAft>
                <a:spcPts val="0"/>
              </a:spcAft>
              <a:buSzPts val="3200"/>
              <a:buFont typeface="Economica"/>
              <a:buNone/>
              <a:defRPr sz="3200">
                <a:latin typeface="Economica"/>
                <a:ea typeface="Economica"/>
                <a:cs typeface="Economica"/>
                <a:sym typeface="Economica"/>
              </a:defRPr>
            </a:lvl9pPr>
          </a:lstStyle>
          <a:p/>
        </p:txBody>
      </p:sp>
      <p:sp>
        <p:nvSpPr>
          <p:cNvPr id="46" name="Google Shape;46;h4f2796e85df475ae_0_839"/>
          <p:cNvSpPr txBox="1"/>
          <p:nvPr>
            <p:ph idx="2" type="body"/>
          </p:nvPr>
        </p:nvSpPr>
        <p:spPr>
          <a:xfrm>
            <a:off x="6585824" y="965600"/>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Clr>
                <a:schemeClr val="lt1"/>
              </a:buClr>
              <a:buSzPts val="2400"/>
              <a:buChar char="●"/>
              <a:defRPr>
                <a:solidFill>
                  <a:schemeClr val="lt1"/>
                </a:solidFill>
              </a:defRPr>
            </a:lvl1pPr>
            <a:lvl2pPr indent="-349250" lvl="1" marL="914400">
              <a:spcBef>
                <a:spcPts val="0"/>
              </a:spcBef>
              <a:spcAft>
                <a:spcPts val="0"/>
              </a:spcAft>
              <a:buClr>
                <a:schemeClr val="lt1"/>
              </a:buClr>
              <a:buSzPts val="1900"/>
              <a:buChar char="○"/>
              <a:defRPr>
                <a:solidFill>
                  <a:schemeClr val="lt1"/>
                </a:solidFill>
              </a:defRPr>
            </a:lvl2pPr>
            <a:lvl3pPr indent="-349250" lvl="2" marL="1371600">
              <a:spcBef>
                <a:spcPts val="0"/>
              </a:spcBef>
              <a:spcAft>
                <a:spcPts val="0"/>
              </a:spcAft>
              <a:buClr>
                <a:schemeClr val="lt1"/>
              </a:buClr>
              <a:buSzPts val="1900"/>
              <a:buChar char="■"/>
              <a:defRPr>
                <a:solidFill>
                  <a:schemeClr val="lt1"/>
                </a:solidFill>
              </a:defRPr>
            </a:lvl3pPr>
            <a:lvl4pPr indent="-349250" lvl="3" marL="1828800">
              <a:spcBef>
                <a:spcPts val="0"/>
              </a:spcBef>
              <a:spcAft>
                <a:spcPts val="0"/>
              </a:spcAft>
              <a:buClr>
                <a:schemeClr val="lt1"/>
              </a:buClr>
              <a:buSzPts val="1900"/>
              <a:buChar char="●"/>
              <a:defRPr>
                <a:solidFill>
                  <a:schemeClr val="lt1"/>
                </a:solidFill>
              </a:defRPr>
            </a:lvl4pPr>
            <a:lvl5pPr indent="-349250" lvl="4" marL="2286000">
              <a:spcBef>
                <a:spcPts val="0"/>
              </a:spcBef>
              <a:spcAft>
                <a:spcPts val="0"/>
              </a:spcAft>
              <a:buClr>
                <a:schemeClr val="lt1"/>
              </a:buClr>
              <a:buSzPts val="1900"/>
              <a:buChar char="○"/>
              <a:defRPr>
                <a:solidFill>
                  <a:schemeClr val="lt1"/>
                </a:solidFill>
              </a:defRPr>
            </a:lvl5pPr>
            <a:lvl6pPr indent="-349250" lvl="5" marL="2743200">
              <a:spcBef>
                <a:spcPts val="0"/>
              </a:spcBef>
              <a:spcAft>
                <a:spcPts val="0"/>
              </a:spcAft>
              <a:buClr>
                <a:schemeClr val="lt1"/>
              </a:buClr>
              <a:buSzPts val="1900"/>
              <a:buChar char="■"/>
              <a:defRPr>
                <a:solidFill>
                  <a:schemeClr val="lt1"/>
                </a:solidFill>
              </a:defRPr>
            </a:lvl6pPr>
            <a:lvl7pPr indent="-349250" lvl="6" marL="3200400">
              <a:spcBef>
                <a:spcPts val="0"/>
              </a:spcBef>
              <a:spcAft>
                <a:spcPts val="0"/>
              </a:spcAft>
              <a:buClr>
                <a:schemeClr val="lt1"/>
              </a:buClr>
              <a:buSzPts val="1900"/>
              <a:buChar char="●"/>
              <a:defRPr>
                <a:solidFill>
                  <a:schemeClr val="lt1"/>
                </a:solidFill>
              </a:defRPr>
            </a:lvl7pPr>
            <a:lvl8pPr indent="-349250" lvl="7" marL="3657600">
              <a:spcBef>
                <a:spcPts val="0"/>
              </a:spcBef>
              <a:spcAft>
                <a:spcPts val="0"/>
              </a:spcAft>
              <a:buClr>
                <a:schemeClr val="lt1"/>
              </a:buClr>
              <a:buSzPts val="1900"/>
              <a:buChar char="○"/>
              <a:defRPr>
                <a:solidFill>
                  <a:schemeClr val="lt1"/>
                </a:solidFill>
              </a:defRPr>
            </a:lvl8pPr>
            <a:lvl9pPr indent="-349250" lvl="8" marL="4114800">
              <a:spcBef>
                <a:spcPts val="0"/>
              </a:spcBef>
              <a:spcAft>
                <a:spcPts val="0"/>
              </a:spcAft>
              <a:buClr>
                <a:schemeClr val="lt1"/>
              </a:buClr>
              <a:buSzPts val="1900"/>
              <a:buChar char="■"/>
              <a:defRPr>
                <a:solidFill>
                  <a:schemeClr val="lt1"/>
                </a:solidFill>
              </a:defRPr>
            </a:lvl9pPr>
          </a:lstStyle>
          <a:p/>
        </p:txBody>
      </p:sp>
      <p:sp>
        <p:nvSpPr>
          <p:cNvPr id="47" name="Google Shape;47;h4f2796e85df475ae_0_839"/>
          <p:cNvSpPr txBox="1"/>
          <p:nvPr>
            <p:ph idx="12" type="sldNum"/>
          </p:nvPr>
        </p:nvSpPr>
        <p:spPr>
          <a:xfrm>
            <a:off x="11296309"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h4f2796e85df475ae_0_846"/>
          <p:cNvSpPr txBox="1"/>
          <p:nvPr>
            <p:ph idx="1" type="body"/>
          </p:nvPr>
        </p:nvSpPr>
        <p:spPr>
          <a:xfrm>
            <a:off x="425989" y="5625233"/>
            <a:ext cx="7998300" cy="7983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3200"/>
              <a:buFont typeface="Economica"/>
              <a:buNone/>
              <a:defRPr sz="3200">
                <a:latin typeface="Economica"/>
                <a:ea typeface="Economica"/>
                <a:cs typeface="Economica"/>
                <a:sym typeface="Economica"/>
              </a:defRPr>
            </a:lvl1pPr>
          </a:lstStyle>
          <a:p/>
        </p:txBody>
      </p:sp>
      <p:sp>
        <p:nvSpPr>
          <p:cNvPr id="50" name="Google Shape;50;h4f2796e85df475ae_0_846"/>
          <p:cNvSpPr txBox="1"/>
          <p:nvPr>
            <p:ph idx="12" type="sldNum"/>
          </p:nvPr>
        </p:nvSpPr>
        <p:spPr>
          <a:xfrm>
            <a:off x="11296309"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h4f2796e85df475ae_0_849"/>
          <p:cNvSpPr/>
          <p:nvPr/>
        </p:nvSpPr>
        <p:spPr>
          <a:xfrm>
            <a:off x="0" y="6727600"/>
            <a:ext cx="12191700" cy="1305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 name="Google Shape;53;h4f2796e85df475ae_0_849"/>
          <p:cNvSpPr txBox="1"/>
          <p:nvPr>
            <p:ph hasCustomPrompt="1" type="title"/>
          </p:nvPr>
        </p:nvSpPr>
        <p:spPr>
          <a:xfrm>
            <a:off x="415589" y="1276167"/>
            <a:ext cx="11360400" cy="2838300"/>
          </a:xfrm>
          <a:prstGeom prst="rect">
            <a:avLst/>
          </a:prstGeom>
        </p:spPr>
        <p:txBody>
          <a:bodyPr anchorCtr="0" anchor="ctr" bIns="121900" lIns="121900" spcFirstLastPara="1" rIns="121900" wrap="square" tIns="121900">
            <a:normAutofit/>
          </a:bodyPr>
          <a:lstStyle>
            <a:lvl1pPr lvl="0" algn="ctr">
              <a:spcBef>
                <a:spcPts val="0"/>
              </a:spcBef>
              <a:spcAft>
                <a:spcPts val="0"/>
              </a:spcAft>
              <a:buClr>
                <a:schemeClr val="lt2"/>
              </a:buClr>
              <a:buSzPts val="21300"/>
              <a:buNone/>
              <a:defRPr sz="21300">
                <a:solidFill>
                  <a:schemeClr val="lt2"/>
                </a:solidFill>
              </a:defRPr>
            </a:lvl1pPr>
            <a:lvl2pPr lvl="1" algn="ctr">
              <a:spcBef>
                <a:spcPts val="0"/>
              </a:spcBef>
              <a:spcAft>
                <a:spcPts val="0"/>
              </a:spcAft>
              <a:buClr>
                <a:schemeClr val="lt2"/>
              </a:buClr>
              <a:buSzPts val="21300"/>
              <a:buNone/>
              <a:defRPr sz="21300">
                <a:solidFill>
                  <a:schemeClr val="lt2"/>
                </a:solidFill>
              </a:defRPr>
            </a:lvl2pPr>
            <a:lvl3pPr lvl="2" algn="ctr">
              <a:spcBef>
                <a:spcPts val="0"/>
              </a:spcBef>
              <a:spcAft>
                <a:spcPts val="0"/>
              </a:spcAft>
              <a:buClr>
                <a:schemeClr val="lt2"/>
              </a:buClr>
              <a:buSzPts val="21300"/>
              <a:buNone/>
              <a:defRPr sz="21300">
                <a:solidFill>
                  <a:schemeClr val="lt2"/>
                </a:solidFill>
              </a:defRPr>
            </a:lvl3pPr>
            <a:lvl4pPr lvl="3" algn="ctr">
              <a:spcBef>
                <a:spcPts val="0"/>
              </a:spcBef>
              <a:spcAft>
                <a:spcPts val="0"/>
              </a:spcAft>
              <a:buClr>
                <a:schemeClr val="lt2"/>
              </a:buClr>
              <a:buSzPts val="21300"/>
              <a:buNone/>
              <a:defRPr sz="21300">
                <a:solidFill>
                  <a:schemeClr val="lt2"/>
                </a:solidFill>
              </a:defRPr>
            </a:lvl4pPr>
            <a:lvl5pPr lvl="4" algn="ctr">
              <a:spcBef>
                <a:spcPts val="0"/>
              </a:spcBef>
              <a:spcAft>
                <a:spcPts val="0"/>
              </a:spcAft>
              <a:buClr>
                <a:schemeClr val="lt2"/>
              </a:buClr>
              <a:buSzPts val="21300"/>
              <a:buNone/>
              <a:defRPr sz="21300">
                <a:solidFill>
                  <a:schemeClr val="lt2"/>
                </a:solidFill>
              </a:defRPr>
            </a:lvl5pPr>
            <a:lvl6pPr lvl="5" algn="ctr">
              <a:spcBef>
                <a:spcPts val="0"/>
              </a:spcBef>
              <a:spcAft>
                <a:spcPts val="0"/>
              </a:spcAft>
              <a:buClr>
                <a:schemeClr val="lt2"/>
              </a:buClr>
              <a:buSzPts val="21300"/>
              <a:buNone/>
              <a:defRPr sz="21300">
                <a:solidFill>
                  <a:schemeClr val="lt2"/>
                </a:solidFill>
              </a:defRPr>
            </a:lvl6pPr>
            <a:lvl7pPr lvl="6" algn="ctr">
              <a:spcBef>
                <a:spcPts val="0"/>
              </a:spcBef>
              <a:spcAft>
                <a:spcPts val="0"/>
              </a:spcAft>
              <a:buClr>
                <a:schemeClr val="lt2"/>
              </a:buClr>
              <a:buSzPts val="21300"/>
              <a:buNone/>
              <a:defRPr sz="21300">
                <a:solidFill>
                  <a:schemeClr val="lt2"/>
                </a:solidFill>
              </a:defRPr>
            </a:lvl7pPr>
            <a:lvl8pPr lvl="7" algn="ctr">
              <a:spcBef>
                <a:spcPts val="0"/>
              </a:spcBef>
              <a:spcAft>
                <a:spcPts val="0"/>
              </a:spcAft>
              <a:buClr>
                <a:schemeClr val="lt2"/>
              </a:buClr>
              <a:buSzPts val="21300"/>
              <a:buNone/>
              <a:defRPr sz="21300">
                <a:solidFill>
                  <a:schemeClr val="lt2"/>
                </a:solidFill>
              </a:defRPr>
            </a:lvl8pPr>
            <a:lvl9pPr lvl="8" algn="ctr">
              <a:spcBef>
                <a:spcPts val="0"/>
              </a:spcBef>
              <a:spcAft>
                <a:spcPts val="0"/>
              </a:spcAft>
              <a:buClr>
                <a:schemeClr val="lt2"/>
              </a:buClr>
              <a:buSzPts val="21300"/>
              <a:buNone/>
              <a:defRPr sz="21300">
                <a:solidFill>
                  <a:schemeClr val="lt2"/>
                </a:solidFill>
              </a:defRPr>
            </a:lvl9pPr>
          </a:lstStyle>
          <a:p>
            <a:r>
              <a:t>xx%</a:t>
            </a:r>
          </a:p>
        </p:txBody>
      </p:sp>
      <p:sp>
        <p:nvSpPr>
          <p:cNvPr id="54" name="Google Shape;54;h4f2796e85df475ae_0_849"/>
          <p:cNvSpPr txBox="1"/>
          <p:nvPr>
            <p:ph idx="1" type="body"/>
          </p:nvPr>
        </p:nvSpPr>
        <p:spPr>
          <a:xfrm>
            <a:off x="415589" y="4216000"/>
            <a:ext cx="11360400" cy="14289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55" name="Google Shape;55;h4f2796e85df475ae_0_849"/>
          <p:cNvSpPr txBox="1"/>
          <p:nvPr>
            <p:ph idx="12" type="sldNum"/>
          </p:nvPr>
        </p:nvSpPr>
        <p:spPr>
          <a:xfrm>
            <a:off x="11296309"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h4f2796e85df475ae_0_854"/>
          <p:cNvSpPr txBox="1"/>
          <p:nvPr>
            <p:ph idx="12" type="sldNum"/>
          </p:nvPr>
        </p:nvSpPr>
        <p:spPr>
          <a:xfrm>
            <a:off x="11296309"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h4f2796e85df475ae_0_803"/>
          <p:cNvSpPr txBox="1"/>
          <p:nvPr>
            <p:ph type="title"/>
          </p:nvPr>
        </p:nvSpPr>
        <p:spPr>
          <a:xfrm>
            <a:off x="415589" y="421233"/>
            <a:ext cx="11360400" cy="1108500"/>
          </a:xfrm>
          <a:prstGeom prst="rect">
            <a:avLst/>
          </a:prstGeom>
          <a:noFill/>
          <a:ln>
            <a:noFill/>
          </a:ln>
        </p:spPr>
        <p:txBody>
          <a:bodyPr anchorCtr="0" anchor="b" bIns="121900" lIns="121900" spcFirstLastPara="1" rIns="121900" wrap="square" tIns="121900">
            <a:normAutofit/>
          </a:bodyPr>
          <a:lstStyle>
            <a:lvl1pPr lvl="0">
              <a:spcBef>
                <a:spcPts val="0"/>
              </a:spcBef>
              <a:spcAft>
                <a:spcPts val="0"/>
              </a:spcAft>
              <a:buClr>
                <a:schemeClr val="dk1"/>
              </a:buClr>
              <a:buSzPts val="5600"/>
              <a:buFont typeface="Economica"/>
              <a:buNone/>
              <a:defRPr sz="5600">
                <a:solidFill>
                  <a:schemeClr val="dk1"/>
                </a:solidFill>
                <a:latin typeface="Economica"/>
                <a:ea typeface="Economica"/>
                <a:cs typeface="Economica"/>
                <a:sym typeface="Economica"/>
              </a:defRPr>
            </a:lvl1pPr>
            <a:lvl2pPr lvl="1">
              <a:spcBef>
                <a:spcPts val="0"/>
              </a:spcBef>
              <a:spcAft>
                <a:spcPts val="0"/>
              </a:spcAft>
              <a:buClr>
                <a:schemeClr val="dk1"/>
              </a:buClr>
              <a:buSzPts val="5600"/>
              <a:buFont typeface="Economica"/>
              <a:buNone/>
              <a:defRPr sz="5600">
                <a:solidFill>
                  <a:schemeClr val="dk1"/>
                </a:solidFill>
                <a:latin typeface="Economica"/>
                <a:ea typeface="Economica"/>
                <a:cs typeface="Economica"/>
                <a:sym typeface="Economica"/>
              </a:defRPr>
            </a:lvl2pPr>
            <a:lvl3pPr lvl="2">
              <a:spcBef>
                <a:spcPts val="0"/>
              </a:spcBef>
              <a:spcAft>
                <a:spcPts val="0"/>
              </a:spcAft>
              <a:buClr>
                <a:schemeClr val="dk1"/>
              </a:buClr>
              <a:buSzPts val="5600"/>
              <a:buFont typeface="Economica"/>
              <a:buNone/>
              <a:defRPr sz="5600">
                <a:solidFill>
                  <a:schemeClr val="dk1"/>
                </a:solidFill>
                <a:latin typeface="Economica"/>
                <a:ea typeface="Economica"/>
                <a:cs typeface="Economica"/>
                <a:sym typeface="Economica"/>
              </a:defRPr>
            </a:lvl3pPr>
            <a:lvl4pPr lvl="3">
              <a:spcBef>
                <a:spcPts val="0"/>
              </a:spcBef>
              <a:spcAft>
                <a:spcPts val="0"/>
              </a:spcAft>
              <a:buClr>
                <a:schemeClr val="dk1"/>
              </a:buClr>
              <a:buSzPts val="5600"/>
              <a:buFont typeface="Economica"/>
              <a:buNone/>
              <a:defRPr sz="5600">
                <a:solidFill>
                  <a:schemeClr val="dk1"/>
                </a:solidFill>
                <a:latin typeface="Economica"/>
                <a:ea typeface="Economica"/>
                <a:cs typeface="Economica"/>
                <a:sym typeface="Economica"/>
              </a:defRPr>
            </a:lvl4pPr>
            <a:lvl5pPr lvl="4">
              <a:spcBef>
                <a:spcPts val="0"/>
              </a:spcBef>
              <a:spcAft>
                <a:spcPts val="0"/>
              </a:spcAft>
              <a:buClr>
                <a:schemeClr val="dk1"/>
              </a:buClr>
              <a:buSzPts val="5600"/>
              <a:buFont typeface="Economica"/>
              <a:buNone/>
              <a:defRPr sz="5600">
                <a:solidFill>
                  <a:schemeClr val="dk1"/>
                </a:solidFill>
                <a:latin typeface="Economica"/>
                <a:ea typeface="Economica"/>
                <a:cs typeface="Economica"/>
                <a:sym typeface="Economica"/>
              </a:defRPr>
            </a:lvl5pPr>
            <a:lvl6pPr lvl="5">
              <a:spcBef>
                <a:spcPts val="0"/>
              </a:spcBef>
              <a:spcAft>
                <a:spcPts val="0"/>
              </a:spcAft>
              <a:buClr>
                <a:schemeClr val="dk1"/>
              </a:buClr>
              <a:buSzPts val="5600"/>
              <a:buFont typeface="Economica"/>
              <a:buNone/>
              <a:defRPr sz="5600">
                <a:solidFill>
                  <a:schemeClr val="dk1"/>
                </a:solidFill>
                <a:latin typeface="Economica"/>
                <a:ea typeface="Economica"/>
                <a:cs typeface="Economica"/>
                <a:sym typeface="Economica"/>
              </a:defRPr>
            </a:lvl6pPr>
            <a:lvl7pPr lvl="6">
              <a:spcBef>
                <a:spcPts val="0"/>
              </a:spcBef>
              <a:spcAft>
                <a:spcPts val="0"/>
              </a:spcAft>
              <a:buClr>
                <a:schemeClr val="dk1"/>
              </a:buClr>
              <a:buSzPts val="5600"/>
              <a:buFont typeface="Economica"/>
              <a:buNone/>
              <a:defRPr sz="5600">
                <a:solidFill>
                  <a:schemeClr val="dk1"/>
                </a:solidFill>
                <a:latin typeface="Economica"/>
                <a:ea typeface="Economica"/>
                <a:cs typeface="Economica"/>
                <a:sym typeface="Economica"/>
              </a:defRPr>
            </a:lvl7pPr>
            <a:lvl8pPr lvl="7">
              <a:spcBef>
                <a:spcPts val="0"/>
              </a:spcBef>
              <a:spcAft>
                <a:spcPts val="0"/>
              </a:spcAft>
              <a:buClr>
                <a:schemeClr val="dk1"/>
              </a:buClr>
              <a:buSzPts val="5600"/>
              <a:buFont typeface="Economica"/>
              <a:buNone/>
              <a:defRPr sz="5600">
                <a:solidFill>
                  <a:schemeClr val="dk1"/>
                </a:solidFill>
                <a:latin typeface="Economica"/>
                <a:ea typeface="Economica"/>
                <a:cs typeface="Economica"/>
                <a:sym typeface="Economica"/>
              </a:defRPr>
            </a:lvl8pPr>
            <a:lvl9pPr lvl="8">
              <a:spcBef>
                <a:spcPts val="0"/>
              </a:spcBef>
              <a:spcAft>
                <a:spcPts val="0"/>
              </a:spcAft>
              <a:buClr>
                <a:schemeClr val="dk1"/>
              </a:buClr>
              <a:buSzPts val="5600"/>
              <a:buFont typeface="Economica"/>
              <a:buNone/>
              <a:defRPr sz="5600">
                <a:solidFill>
                  <a:schemeClr val="dk1"/>
                </a:solidFill>
                <a:latin typeface="Economica"/>
                <a:ea typeface="Economica"/>
                <a:cs typeface="Economica"/>
                <a:sym typeface="Economica"/>
              </a:defRPr>
            </a:lvl9pPr>
          </a:lstStyle>
          <a:p/>
        </p:txBody>
      </p:sp>
      <p:sp>
        <p:nvSpPr>
          <p:cNvPr id="7" name="Google Shape;7;h4f2796e85df475ae_0_803"/>
          <p:cNvSpPr txBox="1"/>
          <p:nvPr>
            <p:ph idx="1" type="body"/>
          </p:nvPr>
        </p:nvSpPr>
        <p:spPr>
          <a:xfrm>
            <a:off x="415589" y="1633633"/>
            <a:ext cx="11360400" cy="44721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1"/>
              </a:buClr>
              <a:buSzPts val="2400"/>
              <a:buFont typeface="Open Sans"/>
              <a:buChar char="●"/>
              <a:defRPr sz="2400">
                <a:solidFill>
                  <a:schemeClr val="dk1"/>
                </a:solidFill>
                <a:latin typeface="Open Sans"/>
                <a:ea typeface="Open Sans"/>
                <a:cs typeface="Open Sans"/>
                <a:sym typeface="Open Sans"/>
              </a:defRPr>
            </a:lvl1pPr>
            <a:lvl2pPr indent="-349250" lvl="1" marL="914400">
              <a:lnSpc>
                <a:spcPct val="115000"/>
              </a:lnSpc>
              <a:spcBef>
                <a:spcPts val="0"/>
              </a:spcBef>
              <a:spcAft>
                <a:spcPts val="0"/>
              </a:spcAft>
              <a:buClr>
                <a:schemeClr val="dk1"/>
              </a:buClr>
              <a:buSzPts val="1900"/>
              <a:buFont typeface="Open Sans"/>
              <a:buChar char="○"/>
              <a:defRPr sz="1900">
                <a:solidFill>
                  <a:schemeClr val="dk1"/>
                </a:solidFill>
                <a:latin typeface="Open Sans"/>
                <a:ea typeface="Open Sans"/>
                <a:cs typeface="Open Sans"/>
                <a:sym typeface="Open Sans"/>
              </a:defRPr>
            </a:lvl2pPr>
            <a:lvl3pPr indent="-349250" lvl="2" marL="1371600">
              <a:lnSpc>
                <a:spcPct val="115000"/>
              </a:lnSpc>
              <a:spcBef>
                <a:spcPts val="0"/>
              </a:spcBef>
              <a:spcAft>
                <a:spcPts val="0"/>
              </a:spcAft>
              <a:buClr>
                <a:schemeClr val="dk1"/>
              </a:buClr>
              <a:buSzPts val="1900"/>
              <a:buFont typeface="Open Sans"/>
              <a:buChar char="■"/>
              <a:defRPr sz="1900">
                <a:solidFill>
                  <a:schemeClr val="dk1"/>
                </a:solidFill>
                <a:latin typeface="Open Sans"/>
                <a:ea typeface="Open Sans"/>
                <a:cs typeface="Open Sans"/>
                <a:sym typeface="Open Sans"/>
              </a:defRPr>
            </a:lvl3pPr>
            <a:lvl4pPr indent="-349250" lvl="3" marL="1828800">
              <a:lnSpc>
                <a:spcPct val="115000"/>
              </a:lnSpc>
              <a:spcBef>
                <a:spcPts val="0"/>
              </a:spcBef>
              <a:spcAft>
                <a:spcPts val="0"/>
              </a:spcAft>
              <a:buClr>
                <a:schemeClr val="dk1"/>
              </a:buClr>
              <a:buSzPts val="1900"/>
              <a:buFont typeface="Open Sans"/>
              <a:buChar char="●"/>
              <a:defRPr sz="1900">
                <a:solidFill>
                  <a:schemeClr val="dk1"/>
                </a:solidFill>
                <a:latin typeface="Open Sans"/>
                <a:ea typeface="Open Sans"/>
                <a:cs typeface="Open Sans"/>
                <a:sym typeface="Open Sans"/>
              </a:defRPr>
            </a:lvl4pPr>
            <a:lvl5pPr indent="-349250" lvl="4" marL="2286000">
              <a:lnSpc>
                <a:spcPct val="115000"/>
              </a:lnSpc>
              <a:spcBef>
                <a:spcPts val="0"/>
              </a:spcBef>
              <a:spcAft>
                <a:spcPts val="0"/>
              </a:spcAft>
              <a:buClr>
                <a:schemeClr val="dk1"/>
              </a:buClr>
              <a:buSzPts val="1900"/>
              <a:buFont typeface="Open Sans"/>
              <a:buChar char="○"/>
              <a:defRPr sz="1900">
                <a:solidFill>
                  <a:schemeClr val="dk1"/>
                </a:solidFill>
                <a:latin typeface="Open Sans"/>
                <a:ea typeface="Open Sans"/>
                <a:cs typeface="Open Sans"/>
                <a:sym typeface="Open Sans"/>
              </a:defRPr>
            </a:lvl5pPr>
            <a:lvl6pPr indent="-349250" lvl="5" marL="2743200">
              <a:lnSpc>
                <a:spcPct val="115000"/>
              </a:lnSpc>
              <a:spcBef>
                <a:spcPts val="0"/>
              </a:spcBef>
              <a:spcAft>
                <a:spcPts val="0"/>
              </a:spcAft>
              <a:buClr>
                <a:schemeClr val="dk1"/>
              </a:buClr>
              <a:buSzPts val="1900"/>
              <a:buFont typeface="Open Sans"/>
              <a:buChar char="■"/>
              <a:defRPr sz="1900">
                <a:solidFill>
                  <a:schemeClr val="dk1"/>
                </a:solidFill>
                <a:latin typeface="Open Sans"/>
                <a:ea typeface="Open Sans"/>
                <a:cs typeface="Open Sans"/>
                <a:sym typeface="Open Sans"/>
              </a:defRPr>
            </a:lvl6pPr>
            <a:lvl7pPr indent="-349250" lvl="6" marL="3200400">
              <a:lnSpc>
                <a:spcPct val="115000"/>
              </a:lnSpc>
              <a:spcBef>
                <a:spcPts val="0"/>
              </a:spcBef>
              <a:spcAft>
                <a:spcPts val="0"/>
              </a:spcAft>
              <a:buClr>
                <a:schemeClr val="dk1"/>
              </a:buClr>
              <a:buSzPts val="1900"/>
              <a:buFont typeface="Open Sans"/>
              <a:buChar char="●"/>
              <a:defRPr sz="1900">
                <a:solidFill>
                  <a:schemeClr val="dk1"/>
                </a:solidFill>
                <a:latin typeface="Open Sans"/>
                <a:ea typeface="Open Sans"/>
                <a:cs typeface="Open Sans"/>
                <a:sym typeface="Open Sans"/>
              </a:defRPr>
            </a:lvl7pPr>
            <a:lvl8pPr indent="-349250" lvl="7" marL="3657600">
              <a:lnSpc>
                <a:spcPct val="115000"/>
              </a:lnSpc>
              <a:spcBef>
                <a:spcPts val="0"/>
              </a:spcBef>
              <a:spcAft>
                <a:spcPts val="0"/>
              </a:spcAft>
              <a:buClr>
                <a:schemeClr val="dk1"/>
              </a:buClr>
              <a:buSzPts val="1900"/>
              <a:buFont typeface="Open Sans"/>
              <a:buChar char="○"/>
              <a:defRPr sz="1900">
                <a:solidFill>
                  <a:schemeClr val="dk1"/>
                </a:solidFill>
                <a:latin typeface="Open Sans"/>
                <a:ea typeface="Open Sans"/>
                <a:cs typeface="Open Sans"/>
                <a:sym typeface="Open Sans"/>
              </a:defRPr>
            </a:lvl8pPr>
            <a:lvl9pPr indent="-349250" lvl="8" marL="4114800">
              <a:lnSpc>
                <a:spcPct val="115000"/>
              </a:lnSpc>
              <a:spcBef>
                <a:spcPts val="0"/>
              </a:spcBef>
              <a:spcAft>
                <a:spcPts val="0"/>
              </a:spcAft>
              <a:buClr>
                <a:schemeClr val="dk1"/>
              </a:buClr>
              <a:buSzPts val="1900"/>
              <a:buFont typeface="Open Sans"/>
              <a:buChar char="■"/>
              <a:defRPr sz="1900">
                <a:solidFill>
                  <a:schemeClr val="dk1"/>
                </a:solidFill>
                <a:latin typeface="Open Sans"/>
                <a:ea typeface="Open Sans"/>
                <a:cs typeface="Open Sans"/>
                <a:sym typeface="Open Sans"/>
              </a:defRPr>
            </a:lvl9pPr>
          </a:lstStyle>
          <a:p/>
        </p:txBody>
      </p:sp>
      <p:sp>
        <p:nvSpPr>
          <p:cNvPr id="8" name="Google Shape;8;h4f2796e85df475ae_0_803"/>
          <p:cNvSpPr txBox="1"/>
          <p:nvPr>
            <p:ph idx="12" type="sldNum"/>
          </p:nvPr>
        </p:nvSpPr>
        <p:spPr>
          <a:xfrm>
            <a:off x="11296309"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1"/>
                </a:solidFill>
                <a:latin typeface="Economica"/>
                <a:ea typeface="Economica"/>
                <a:cs typeface="Economica"/>
                <a:sym typeface="Economica"/>
              </a:defRPr>
            </a:lvl1pPr>
            <a:lvl2pPr lvl="1" algn="r">
              <a:buNone/>
              <a:defRPr sz="1300">
                <a:solidFill>
                  <a:schemeClr val="dk1"/>
                </a:solidFill>
                <a:latin typeface="Economica"/>
                <a:ea typeface="Economica"/>
                <a:cs typeface="Economica"/>
                <a:sym typeface="Economica"/>
              </a:defRPr>
            </a:lvl2pPr>
            <a:lvl3pPr lvl="2" algn="r">
              <a:buNone/>
              <a:defRPr sz="1300">
                <a:solidFill>
                  <a:schemeClr val="dk1"/>
                </a:solidFill>
                <a:latin typeface="Economica"/>
                <a:ea typeface="Economica"/>
                <a:cs typeface="Economica"/>
                <a:sym typeface="Economica"/>
              </a:defRPr>
            </a:lvl3pPr>
            <a:lvl4pPr lvl="3" algn="r">
              <a:buNone/>
              <a:defRPr sz="1300">
                <a:solidFill>
                  <a:schemeClr val="dk1"/>
                </a:solidFill>
                <a:latin typeface="Economica"/>
                <a:ea typeface="Economica"/>
                <a:cs typeface="Economica"/>
                <a:sym typeface="Economica"/>
              </a:defRPr>
            </a:lvl4pPr>
            <a:lvl5pPr lvl="4" algn="r">
              <a:buNone/>
              <a:defRPr sz="1300">
                <a:solidFill>
                  <a:schemeClr val="dk1"/>
                </a:solidFill>
                <a:latin typeface="Economica"/>
                <a:ea typeface="Economica"/>
                <a:cs typeface="Economica"/>
                <a:sym typeface="Economica"/>
              </a:defRPr>
            </a:lvl5pPr>
            <a:lvl6pPr lvl="5" algn="r">
              <a:buNone/>
              <a:defRPr sz="1300">
                <a:solidFill>
                  <a:schemeClr val="dk1"/>
                </a:solidFill>
                <a:latin typeface="Economica"/>
                <a:ea typeface="Economica"/>
                <a:cs typeface="Economica"/>
                <a:sym typeface="Economica"/>
              </a:defRPr>
            </a:lvl6pPr>
            <a:lvl7pPr lvl="6" algn="r">
              <a:buNone/>
              <a:defRPr sz="1300">
                <a:solidFill>
                  <a:schemeClr val="dk1"/>
                </a:solidFill>
                <a:latin typeface="Economica"/>
                <a:ea typeface="Economica"/>
                <a:cs typeface="Economica"/>
                <a:sym typeface="Economica"/>
              </a:defRPr>
            </a:lvl7pPr>
            <a:lvl8pPr lvl="7" algn="r">
              <a:buNone/>
              <a:defRPr sz="1300">
                <a:solidFill>
                  <a:schemeClr val="dk1"/>
                </a:solidFill>
                <a:latin typeface="Economica"/>
                <a:ea typeface="Economica"/>
                <a:cs typeface="Economica"/>
                <a:sym typeface="Economica"/>
              </a:defRPr>
            </a:lvl8pPr>
            <a:lvl9pPr lvl="8" algn="r">
              <a:buNone/>
              <a:defRPr sz="13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B46"/>
        </a:solidFill>
      </p:bgPr>
    </p:bg>
    <p:spTree>
      <p:nvGrpSpPr>
        <p:cNvPr id="61" name="Shape 61"/>
        <p:cNvGrpSpPr/>
        <p:nvPr/>
      </p:nvGrpSpPr>
      <p:grpSpPr>
        <a:xfrm>
          <a:off x="0" y="0"/>
          <a:ext cx="0" cy="0"/>
          <a:chOff x="0" y="0"/>
          <a:chExt cx="0" cy="0"/>
        </a:xfrm>
      </p:grpSpPr>
      <p:sp>
        <p:nvSpPr>
          <p:cNvPr id="62" name="Google Shape;62;h4f2796e85df475ae_0_0"/>
          <p:cNvSpPr/>
          <p:nvPr/>
        </p:nvSpPr>
        <p:spPr>
          <a:xfrm>
            <a:off x="1981050" y="2029995"/>
            <a:ext cx="822960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5400"/>
              <a:buFont typeface="Calibri"/>
              <a:buNone/>
            </a:pPr>
            <a:r>
              <a:rPr b="1" i="0" lang="en-US" sz="5400" u="none" cap="none" strike="noStrike">
                <a:solidFill>
                  <a:srgbClr val="FFFFFF"/>
                </a:solidFill>
                <a:latin typeface="Calibri"/>
                <a:ea typeface="Calibri"/>
                <a:cs typeface="Calibri"/>
                <a:sym typeface="Calibri"/>
              </a:rPr>
              <a:t>Taxi Fare Prediction</a:t>
            </a:r>
            <a:endParaRPr b="0" i="0" sz="5400" u="none" cap="none" strike="noStrike">
              <a:solidFill>
                <a:srgbClr val="000000"/>
              </a:solidFill>
              <a:latin typeface="Calibri"/>
              <a:ea typeface="Calibri"/>
              <a:cs typeface="Calibri"/>
              <a:sym typeface="Calibri"/>
            </a:endParaRPr>
          </a:p>
        </p:txBody>
      </p:sp>
      <p:sp>
        <p:nvSpPr>
          <p:cNvPr id="63" name="Google Shape;63;h4f2796e85df475ae_0_0"/>
          <p:cNvSpPr/>
          <p:nvPr/>
        </p:nvSpPr>
        <p:spPr>
          <a:xfrm>
            <a:off x="1981038" y="3429010"/>
            <a:ext cx="82296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7E6E6"/>
              </a:buClr>
              <a:buSzPts val="2800"/>
              <a:buFont typeface="Calibri"/>
              <a:buNone/>
            </a:pPr>
            <a:r>
              <a:rPr b="0" i="0" lang="en-US" sz="2800" u="none" cap="none" strike="noStrike">
                <a:solidFill>
                  <a:srgbClr val="E7E6E6"/>
                </a:solidFill>
                <a:latin typeface="Calibri"/>
                <a:ea typeface="Calibri"/>
                <a:cs typeface="Calibri"/>
                <a:sym typeface="Calibri"/>
              </a:rPr>
              <a:t>End-to-End ML Pipeline with 488K+ Records</a:t>
            </a:r>
            <a:endParaRPr b="0" i="0" sz="2800" u="none" cap="none" strike="noStrike">
              <a:solidFill>
                <a:srgbClr val="000000"/>
              </a:solidFill>
              <a:latin typeface="Calibri"/>
              <a:ea typeface="Calibri"/>
              <a:cs typeface="Calibri"/>
              <a:sym typeface="Calibri"/>
            </a:endParaRPr>
          </a:p>
        </p:txBody>
      </p:sp>
      <p:sp>
        <p:nvSpPr>
          <p:cNvPr id="64" name="Google Shape;64;h4f2796e85df475ae_0_0"/>
          <p:cNvSpPr/>
          <p:nvPr/>
        </p:nvSpPr>
        <p:spPr>
          <a:xfrm>
            <a:off x="1981038" y="5299220"/>
            <a:ext cx="8229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7E6E6"/>
              </a:buClr>
              <a:buSzPts val="1400"/>
              <a:buFont typeface="Calibri"/>
              <a:buNone/>
            </a:pPr>
            <a:r>
              <a:rPr b="0" i="1" lang="en-US" sz="1400" u="none" cap="none" strike="noStrike">
                <a:solidFill>
                  <a:srgbClr val="E7E6E6"/>
                </a:solidFill>
                <a:latin typeface="Calibri"/>
                <a:ea typeface="Calibri"/>
                <a:cs typeface="Calibri"/>
                <a:sym typeface="Calibri"/>
              </a:rPr>
              <a:t>Exploratory Data Analysis • Feature Engineering • Model Selection • Optimization</a:t>
            </a:r>
            <a:endParaRPr b="0" i="0" sz="1400" u="none" cap="none" strike="noStrike">
              <a:solidFill>
                <a:srgbClr val="000000"/>
              </a:solidFill>
              <a:latin typeface="Calibri"/>
              <a:ea typeface="Calibri"/>
              <a:cs typeface="Calibri"/>
              <a:sym typeface="Calibri"/>
            </a:endParaRPr>
          </a:p>
        </p:txBody>
      </p:sp>
      <p:sp>
        <p:nvSpPr>
          <p:cNvPr id="65" name="Google Shape;65;h4f2796e85df475ae_0_0"/>
          <p:cNvSpPr/>
          <p:nvPr/>
        </p:nvSpPr>
        <p:spPr>
          <a:xfrm>
            <a:off x="751350" y="76532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0A35E"/>
              </a:buClr>
              <a:buSzPts val="1200"/>
              <a:buFont typeface="IBM Plex Sans"/>
              <a:buNone/>
            </a:pPr>
            <a:r>
              <a:rPr b="1" i="0" lang="en-US" sz="1200" u="none" cap="none" strike="noStrike">
                <a:solidFill>
                  <a:srgbClr val="F0A35E"/>
                </a:solidFill>
                <a:latin typeface="IBM Plex Sans"/>
                <a:ea typeface="IBM Plex Sans"/>
                <a:cs typeface="IBM Plex Sans"/>
                <a:sym typeface="IBM Plex Sans"/>
              </a:rPr>
              <a:t>MACHINE LEARNING INTERNSHIP · TASK 2</a:t>
            </a:r>
            <a:endParaRPr b="0" i="0" sz="1200" u="none" cap="none" strike="noStrike">
              <a:solidFill>
                <a:srgbClr val="16213A"/>
              </a:solidFill>
              <a:latin typeface="IBM Plex Sans"/>
              <a:ea typeface="IBM Plex Sans"/>
              <a:cs typeface="IBM Plex Sans"/>
              <a:sym typeface="IBM Plex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 name="Shape 69"/>
        <p:cNvGrpSpPr/>
        <p:nvPr/>
      </p:nvGrpSpPr>
      <p:grpSpPr>
        <a:xfrm>
          <a:off x="0" y="0"/>
          <a:ext cx="0" cy="0"/>
          <a:chOff x="0" y="0"/>
          <a:chExt cx="0" cy="0"/>
        </a:xfrm>
      </p:grpSpPr>
      <p:sp>
        <p:nvSpPr>
          <p:cNvPr id="70" name="Google Shape;70;p1"/>
          <p:cNvSpPr txBox="1"/>
          <p:nvPr/>
        </p:nvSpPr>
        <p:spPr>
          <a:xfrm>
            <a:off x="502920" y="201168"/>
            <a:ext cx="11155800" cy="1108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1F4E78"/>
              </a:buClr>
              <a:buSzPts val="4000"/>
              <a:buFont typeface="Calibri"/>
              <a:buNone/>
            </a:pPr>
            <a:r>
              <a:rPr b="1" lang="en-US" sz="4000">
                <a:solidFill>
                  <a:srgbClr val="1F4E78"/>
                </a:solidFill>
                <a:latin typeface="Calibri"/>
                <a:ea typeface="Calibri"/>
                <a:cs typeface="Calibri"/>
                <a:sym typeface="Calibri"/>
              </a:rPr>
              <a:t>Dataset Overview</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2600">
              <a:solidFill>
                <a:srgbClr val="132B46"/>
              </a:solidFill>
            </a:endParaRPr>
          </a:p>
        </p:txBody>
      </p:sp>
      <p:sp>
        <p:nvSpPr>
          <p:cNvPr id="71" name="Google Shape;71;p1"/>
          <p:cNvSpPr/>
          <p:nvPr/>
        </p:nvSpPr>
        <p:spPr>
          <a:xfrm>
            <a:off x="775325" y="1309375"/>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B5C8A"/>
              </a:buClr>
              <a:buSzPts val="1200"/>
              <a:buFont typeface="IBM Plex Sans"/>
              <a:buNone/>
            </a:pPr>
            <a:r>
              <a:rPr b="1" i="0" lang="en-US" sz="1200" u="none" cap="none" strike="noStrike">
                <a:solidFill>
                  <a:srgbClr val="2B5C8A"/>
                </a:solidFill>
                <a:latin typeface="IBM Plex Sans"/>
                <a:ea typeface="IBM Plex Sans"/>
                <a:cs typeface="IBM Plex Sans"/>
                <a:sym typeface="IBM Plex Sans"/>
              </a:rPr>
              <a:t>FEATURES</a:t>
            </a:r>
            <a:endParaRPr b="0" i="0" sz="1200" u="none" cap="none" strike="noStrike">
              <a:solidFill>
                <a:srgbClr val="16213A"/>
              </a:solidFill>
              <a:latin typeface="IBM Plex Sans"/>
              <a:ea typeface="IBM Plex Sans"/>
              <a:cs typeface="IBM Plex Sans"/>
              <a:sym typeface="IBM Plex Sans"/>
            </a:endParaRPr>
          </a:p>
        </p:txBody>
      </p:sp>
      <p:sp>
        <p:nvSpPr>
          <p:cNvPr id="72" name="Google Shape;72;p1"/>
          <p:cNvSpPr txBox="1"/>
          <p:nvPr/>
        </p:nvSpPr>
        <p:spPr>
          <a:xfrm>
            <a:off x="775325" y="1573536"/>
            <a:ext cx="10883400" cy="472500"/>
          </a:xfrm>
          <a:prstGeom prst="rect">
            <a:avLst/>
          </a:prstGeom>
          <a:noFill/>
          <a:ln>
            <a:noFill/>
          </a:ln>
        </p:spPr>
        <p:txBody>
          <a:bodyPr anchorCtr="0" anchor="t" bIns="0" lIns="0" spcFirstLastPara="1" rIns="0" wrap="square" tIns="0">
            <a:normAutofit lnSpcReduction="20000"/>
          </a:bodyPr>
          <a:lstStyle/>
          <a:p>
            <a:pPr indent="0" lvl="0" marL="0" rtl="0" algn="l">
              <a:lnSpc>
                <a:spcPct val="110000"/>
              </a:lnSpc>
              <a:spcBef>
                <a:spcPts val="0"/>
              </a:spcBef>
              <a:spcAft>
                <a:spcPts val="0"/>
              </a:spcAft>
              <a:buNone/>
            </a:pPr>
            <a:r>
              <a:rPr b="1" lang="en-US" sz="3200">
                <a:solidFill>
                  <a:srgbClr val="16213A"/>
                </a:solidFill>
                <a:latin typeface="IBM Plex Sans"/>
                <a:ea typeface="IBM Plex Sans"/>
                <a:cs typeface="IBM Plex Sans"/>
                <a:sym typeface="IBM Plex Sans"/>
              </a:rPr>
              <a:t>Three patterns in the EDA became features</a:t>
            </a:r>
            <a:endParaRPr sz="3200">
              <a:solidFill>
                <a:srgbClr val="16213A"/>
              </a:solidFill>
              <a:latin typeface="IBM Plex Sans"/>
              <a:ea typeface="IBM Plex Sans"/>
              <a:cs typeface="IBM Plex Sans"/>
              <a:sym typeface="IBM Plex Sans"/>
            </a:endParaRPr>
          </a:p>
        </p:txBody>
      </p:sp>
      <p:sp>
        <p:nvSpPr>
          <p:cNvPr id="73" name="Google Shape;73;p1"/>
          <p:cNvSpPr/>
          <p:nvPr/>
        </p:nvSpPr>
        <p:spPr>
          <a:xfrm>
            <a:off x="778500" y="2226950"/>
            <a:ext cx="10560000" cy="2448600"/>
          </a:xfrm>
          <a:prstGeom prst="roundRect">
            <a:avLst>
              <a:gd fmla="val 4020" name="adj"/>
            </a:avLst>
          </a:prstGeom>
          <a:solidFill>
            <a:srgbClr val="FDFCF9"/>
          </a:solidFill>
          <a:ln cap="flat" cmpd="sng" w="9525">
            <a:solidFill>
              <a:srgbClr val="E2E0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edian fare per km by month in 2011 to 2013 with the September 2012 jump, and the fare distribution of JFK to Manhattan trips" id="74" name="Google Shape;74;p1"/>
          <p:cNvPicPr preferRelativeResize="0"/>
          <p:nvPr/>
        </p:nvPicPr>
        <p:blipFill rotWithShape="1">
          <a:blip r:embed="rId3">
            <a:alphaModFix/>
          </a:blip>
          <a:srcRect b="0" l="-20" r="-30" t="0"/>
          <a:stretch/>
        </p:blipFill>
        <p:spPr>
          <a:xfrm>
            <a:off x="2312025" y="2330455"/>
            <a:ext cx="7492999" cy="2241550"/>
          </a:xfrm>
          <a:prstGeom prst="rect">
            <a:avLst/>
          </a:prstGeom>
          <a:noFill/>
          <a:ln>
            <a:noFill/>
          </a:ln>
        </p:spPr>
      </p:pic>
      <p:sp>
        <p:nvSpPr>
          <p:cNvPr id="75" name="Google Shape;75;p1"/>
          <p:cNvSpPr/>
          <p:nvPr/>
        </p:nvSpPr>
        <p:spPr>
          <a:xfrm>
            <a:off x="778500" y="4885061"/>
            <a:ext cx="3414300" cy="1192500"/>
          </a:xfrm>
          <a:prstGeom prst="roundRect">
            <a:avLst>
              <a:gd fmla="val 8253" name="adj"/>
            </a:avLst>
          </a:prstGeom>
          <a:solidFill>
            <a:srgbClr val="FDFCF9"/>
          </a:solidFill>
          <a:ln cap="flat" cmpd="sng" w="9525">
            <a:solidFill>
              <a:srgbClr val="E2E0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
          <p:cNvSpPr/>
          <p:nvPr/>
        </p:nvSpPr>
        <p:spPr>
          <a:xfrm>
            <a:off x="983605" y="5090166"/>
            <a:ext cx="3094200" cy="269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13A"/>
              </a:buClr>
              <a:buSzPts val="1600"/>
              <a:buFont typeface="IBM Plex Sans"/>
              <a:buNone/>
            </a:pPr>
            <a:r>
              <a:rPr b="1" i="0" lang="en-US" sz="1600" u="none" cap="none" strike="noStrike">
                <a:solidFill>
                  <a:srgbClr val="16213A"/>
                </a:solidFill>
                <a:latin typeface="IBM Plex Sans"/>
                <a:ea typeface="IBM Plex Sans"/>
                <a:cs typeface="IBM Plex Sans"/>
                <a:sym typeface="IBM Plex Sans"/>
              </a:rPr>
              <a:t>September 2012</a:t>
            </a:r>
            <a:endParaRPr b="0" i="0" sz="1600" u="none" cap="none" strike="noStrike">
              <a:solidFill>
                <a:srgbClr val="16213A"/>
              </a:solidFill>
              <a:latin typeface="IBM Plex Sans"/>
              <a:ea typeface="IBM Plex Sans"/>
              <a:cs typeface="IBM Plex Sans"/>
              <a:sym typeface="IBM Plex Sans"/>
            </a:endParaRPr>
          </a:p>
        </p:txBody>
      </p:sp>
      <p:sp>
        <p:nvSpPr>
          <p:cNvPr id="77" name="Google Shape;77;p1"/>
          <p:cNvSpPr/>
          <p:nvPr/>
        </p:nvSpPr>
        <p:spPr>
          <a:xfrm>
            <a:off x="983605" y="5410205"/>
            <a:ext cx="3094200" cy="487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F5868"/>
              </a:buClr>
              <a:buSzPts val="1300"/>
              <a:buFont typeface="IBM Plex Sans"/>
              <a:buNone/>
            </a:pPr>
            <a:r>
              <a:rPr b="0" i="0" lang="en-US" sz="1300" u="none" cap="none" strike="noStrike">
                <a:solidFill>
                  <a:srgbClr val="4F5868"/>
                </a:solidFill>
                <a:latin typeface="IBM Plex Sans"/>
                <a:ea typeface="IBM Plex Sans"/>
                <a:cs typeface="IBM Plex Sans"/>
                <a:sym typeface="IBM Plex Sans"/>
              </a:rPr>
              <a:t>Price per km jumps from about $3.6 to $4.2.</a:t>
            </a:r>
            <a:endParaRPr b="0" i="0" sz="1300" u="none" cap="none" strike="noStrike">
              <a:solidFill>
                <a:srgbClr val="16213A"/>
              </a:solidFill>
              <a:latin typeface="IBM Plex Sans"/>
              <a:ea typeface="IBM Plex Sans"/>
              <a:cs typeface="IBM Plex Sans"/>
              <a:sym typeface="IBM Plex Sans"/>
            </a:endParaRPr>
          </a:p>
        </p:txBody>
      </p:sp>
      <p:sp>
        <p:nvSpPr>
          <p:cNvPr id="78" name="Google Shape;78;p1"/>
          <p:cNvSpPr/>
          <p:nvPr/>
        </p:nvSpPr>
        <p:spPr>
          <a:xfrm>
            <a:off x="4351407" y="4885061"/>
            <a:ext cx="3414300" cy="1192500"/>
          </a:xfrm>
          <a:prstGeom prst="roundRect">
            <a:avLst>
              <a:gd fmla="val 8253" name="adj"/>
            </a:avLst>
          </a:prstGeom>
          <a:solidFill>
            <a:srgbClr val="FDFCF9"/>
          </a:solidFill>
          <a:ln cap="flat" cmpd="sng" w="9525">
            <a:solidFill>
              <a:srgbClr val="E2E0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
          <p:cNvSpPr/>
          <p:nvPr/>
        </p:nvSpPr>
        <p:spPr>
          <a:xfrm>
            <a:off x="4556512" y="5090166"/>
            <a:ext cx="3094200" cy="269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13A"/>
              </a:buClr>
              <a:buSzPts val="1600"/>
              <a:buFont typeface="IBM Plex Sans"/>
              <a:buNone/>
            </a:pPr>
            <a:r>
              <a:rPr b="1" i="0" lang="en-US" sz="1600" u="none" cap="none" strike="noStrike">
                <a:solidFill>
                  <a:srgbClr val="16213A"/>
                </a:solidFill>
                <a:latin typeface="IBM Plex Sans"/>
                <a:ea typeface="IBM Plex Sans"/>
                <a:cs typeface="IBM Plex Sans"/>
                <a:sym typeface="IBM Plex Sans"/>
              </a:rPr>
              <a:t>Hour as a circle</a:t>
            </a:r>
            <a:endParaRPr b="0" i="0" sz="1600" u="none" cap="none" strike="noStrike">
              <a:solidFill>
                <a:srgbClr val="16213A"/>
              </a:solidFill>
              <a:latin typeface="IBM Plex Sans"/>
              <a:ea typeface="IBM Plex Sans"/>
              <a:cs typeface="IBM Plex Sans"/>
              <a:sym typeface="IBM Plex Sans"/>
            </a:endParaRPr>
          </a:p>
        </p:txBody>
      </p:sp>
      <p:sp>
        <p:nvSpPr>
          <p:cNvPr id="80" name="Google Shape;80;p1"/>
          <p:cNvSpPr/>
          <p:nvPr/>
        </p:nvSpPr>
        <p:spPr>
          <a:xfrm>
            <a:off x="4556512" y="5410205"/>
            <a:ext cx="30942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F5868"/>
              </a:buClr>
              <a:buSzPts val="1300"/>
              <a:buFont typeface="IBM Plex Sans"/>
              <a:buNone/>
            </a:pPr>
            <a:r>
              <a:rPr b="0" i="0" lang="en-US" sz="1300" u="none" cap="none" strike="noStrike">
                <a:solidFill>
                  <a:srgbClr val="4F5868"/>
                </a:solidFill>
                <a:latin typeface="IBM Plex Sans"/>
                <a:ea typeface="IBM Plex Sans"/>
                <a:cs typeface="IBM Plex Sans"/>
                <a:sym typeface="IBM Plex Sans"/>
              </a:rPr>
              <a:t>Sine and cosine of the hour.</a:t>
            </a:r>
            <a:endParaRPr b="0" i="0" sz="1300" u="none" cap="none" strike="noStrike">
              <a:solidFill>
                <a:srgbClr val="16213A"/>
              </a:solidFill>
              <a:latin typeface="IBM Plex Sans"/>
              <a:ea typeface="IBM Plex Sans"/>
              <a:cs typeface="IBM Plex Sans"/>
              <a:sym typeface="IBM Plex Sans"/>
            </a:endParaRPr>
          </a:p>
        </p:txBody>
      </p:sp>
      <p:sp>
        <p:nvSpPr>
          <p:cNvPr id="81" name="Google Shape;81;p1"/>
          <p:cNvSpPr/>
          <p:nvPr/>
        </p:nvSpPr>
        <p:spPr>
          <a:xfrm>
            <a:off x="7924393" y="4885061"/>
            <a:ext cx="3414300" cy="1192500"/>
          </a:xfrm>
          <a:prstGeom prst="roundRect">
            <a:avLst>
              <a:gd fmla="val 8253" name="adj"/>
            </a:avLst>
          </a:prstGeom>
          <a:solidFill>
            <a:srgbClr val="FDFCF9"/>
          </a:solidFill>
          <a:ln cap="flat" cmpd="sng" w="9525">
            <a:solidFill>
              <a:srgbClr val="E2E0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
          <p:cNvSpPr/>
          <p:nvPr/>
        </p:nvSpPr>
        <p:spPr>
          <a:xfrm>
            <a:off x="8129499" y="5090166"/>
            <a:ext cx="3094200" cy="269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13A"/>
              </a:buClr>
              <a:buSzPts val="1600"/>
              <a:buFont typeface="IBM Plex Sans"/>
              <a:buNone/>
            </a:pPr>
            <a:r>
              <a:rPr b="1" i="0" lang="en-US" sz="1600" u="none" cap="none" strike="noStrike">
                <a:solidFill>
                  <a:srgbClr val="16213A"/>
                </a:solidFill>
                <a:latin typeface="IBM Plex Sans"/>
                <a:ea typeface="IBM Plex Sans"/>
                <a:cs typeface="IBM Plex Sans"/>
                <a:sym typeface="IBM Plex Sans"/>
              </a:rPr>
              <a:t>JFK to Manhattan</a:t>
            </a:r>
            <a:endParaRPr b="0" i="0" sz="1600" u="none" cap="none" strike="noStrike">
              <a:solidFill>
                <a:srgbClr val="16213A"/>
              </a:solidFill>
              <a:latin typeface="IBM Plex Sans"/>
              <a:ea typeface="IBM Plex Sans"/>
              <a:cs typeface="IBM Plex Sans"/>
              <a:sym typeface="IBM Plex Sans"/>
            </a:endParaRPr>
          </a:p>
        </p:txBody>
      </p:sp>
      <p:sp>
        <p:nvSpPr>
          <p:cNvPr id="83" name="Google Shape;83;p1"/>
          <p:cNvSpPr/>
          <p:nvPr/>
        </p:nvSpPr>
        <p:spPr>
          <a:xfrm>
            <a:off x="8129499" y="5410205"/>
            <a:ext cx="30942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F5868"/>
              </a:buClr>
              <a:buSzPts val="1300"/>
              <a:buFont typeface="IBM Plex Sans"/>
              <a:buNone/>
            </a:pPr>
            <a:r>
              <a:rPr b="0" i="0" lang="en-US" sz="1300" u="none" cap="none" strike="noStrike">
                <a:solidFill>
                  <a:srgbClr val="4F5868"/>
                </a:solidFill>
                <a:latin typeface="IBM Plex Sans"/>
                <a:ea typeface="IBM Plex Sans"/>
                <a:cs typeface="IBM Plex Sans"/>
                <a:sym typeface="IBM Plex Sans"/>
              </a:rPr>
              <a:t>Fixed fares of about $45-57.</a:t>
            </a:r>
            <a:endParaRPr b="0" i="0" sz="1300" u="none" cap="none" strike="noStrike">
              <a:solidFill>
                <a:srgbClr val="16213A"/>
              </a:solidFill>
              <a:latin typeface="IBM Plex Sans"/>
              <a:ea typeface="IBM Plex Sans"/>
              <a:cs typeface="IBM Plex Sans"/>
              <a:sym typeface="IBM Plex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 name="Shape 87"/>
        <p:cNvGrpSpPr/>
        <p:nvPr/>
      </p:nvGrpSpPr>
      <p:grpSpPr>
        <a:xfrm>
          <a:off x="0" y="0"/>
          <a:ext cx="0" cy="0"/>
          <a:chOff x="0" y="0"/>
          <a:chExt cx="0" cy="0"/>
        </a:xfrm>
      </p:grpSpPr>
      <p:sp>
        <p:nvSpPr>
          <p:cNvPr id="88" name="Google Shape;88;p2"/>
          <p:cNvSpPr txBox="1"/>
          <p:nvPr/>
        </p:nvSpPr>
        <p:spPr>
          <a:xfrm>
            <a:off x="502920" y="201168"/>
            <a:ext cx="11155800" cy="1108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4000"/>
              <a:buNone/>
            </a:pPr>
            <a:r>
              <a:rPr b="1" lang="en-US" sz="4000">
                <a:solidFill>
                  <a:srgbClr val="1F4E78"/>
                </a:solidFill>
                <a:latin typeface="Calibri"/>
                <a:ea typeface="Calibri"/>
                <a:cs typeface="Calibri"/>
                <a:sym typeface="Calibri"/>
              </a:rPr>
              <a:t>Data Quality &amp; Domain Rules</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2600">
              <a:solidFill>
                <a:srgbClr val="132B46"/>
              </a:solidFill>
            </a:endParaRPr>
          </a:p>
        </p:txBody>
      </p:sp>
      <p:pic>
        <p:nvPicPr>
          <p:cNvPr descr="Encoding.png" id="89" name="Google Shape;89;p2"/>
          <p:cNvPicPr preferRelativeResize="0"/>
          <p:nvPr/>
        </p:nvPicPr>
        <p:blipFill rotWithShape="1">
          <a:blip r:embed="rId3">
            <a:alphaModFix/>
          </a:blip>
          <a:srcRect b="0" l="0" r="0" t="0"/>
          <a:stretch/>
        </p:blipFill>
        <p:spPr>
          <a:xfrm>
            <a:off x="320040" y="2112199"/>
            <a:ext cx="11548873" cy="3456560"/>
          </a:xfrm>
          <a:prstGeom prst="rect">
            <a:avLst/>
          </a:prstGeom>
          <a:noFill/>
          <a:ln>
            <a:noFill/>
          </a:ln>
        </p:spPr>
      </p:pic>
      <p:pic>
        <p:nvPicPr>
          <p:cNvPr id="90" name="Google Shape;90;p2" title="missing values.png"/>
          <p:cNvPicPr preferRelativeResize="0"/>
          <p:nvPr/>
        </p:nvPicPr>
        <p:blipFill>
          <a:blip r:embed="rId4">
            <a:alphaModFix/>
          </a:blip>
          <a:stretch>
            <a:fillRect/>
          </a:stretch>
        </p:blipFill>
        <p:spPr>
          <a:xfrm>
            <a:off x="0" y="1605946"/>
            <a:ext cx="12191676" cy="364610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 name="Shape 94"/>
        <p:cNvGrpSpPr/>
        <p:nvPr/>
      </p:nvGrpSpPr>
      <p:grpSpPr>
        <a:xfrm>
          <a:off x="0" y="0"/>
          <a:ext cx="0" cy="0"/>
          <a:chOff x="0" y="0"/>
          <a:chExt cx="0" cy="0"/>
        </a:xfrm>
      </p:grpSpPr>
      <p:sp>
        <p:nvSpPr>
          <p:cNvPr id="95" name="Google Shape;95;h4f2796e85df475ae_0_880"/>
          <p:cNvSpPr txBox="1"/>
          <p:nvPr/>
        </p:nvSpPr>
        <p:spPr>
          <a:xfrm>
            <a:off x="502920" y="201168"/>
            <a:ext cx="11155800" cy="1108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4000"/>
              <a:buNone/>
            </a:pPr>
            <a:r>
              <a:rPr b="1" lang="en-US" sz="4000">
                <a:solidFill>
                  <a:srgbClr val="1F4E78"/>
                </a:solidFill>
                <a:latin typeface="Calibri"/>
                <a:ea typeface="Calibri"/>
                <a:cs typeface="Calibri"/>
                <a:sym typeface="Calibri"/>
              </a:rPr>
              <a:t>Data Quality &amp; Domain Rules</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2600">
              <a:solidFill>
                <a:srgbClr val="132B46"/>
              </a:solidFill>
            </a:endParaRPr>
          </a:p>
        </p:txBody>
      </p:sp>
      <p:pic>
        <p:nvPicPr>
          <p:cNvPr descr="Encoding.png" id="96" name="Google Shape;96;h4f2796e85df475ae_0_880"/>
          <p:cNvPicPr preferRelativeResize="0"/>
          <p:nvPr/>
        </p:nvPicPr>
        <p:blipFill rotWithShape="1">
          <a:blip r:embed="rId3">
            <a:alphaModFix/>
          </a:blip>
          <a:srcRect b="0" l="0" r="0" t="0"/>
          <a:stretch/>
        </p:blipFill>
        <p:spPr>
          <a:xfrm>
            <a:off x="320040" y="2112199"/>
            <a:ext cx="11548873" cy="345656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p3"/>
          <p:cNvSpPr txBox="1"/>
          <p:nvPr/>
        </p:nvSpPr>
        <p:spPr>
          <a:xfrm>
            <a:off x="502920" y="201168"/>
            <a:ext cx="11155800" cy="1108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1F4E78"/>
              </a:buClr>
              <a:buSzPts val="4000"/>
              <a:buFont typeface="Calibri"/>
              <a:buNone/>
            </a:pPr>
            <a:r>
              <a:rPr b="1" lang="en-US" sz="4000">
                <a:solidFill>
                  <a:srgbClr val="1F4E78"/>
                </a:solidFill>
                <a:latin typeface="Calibri"/>
                <a:ea typeface="Calibri"/>
                <a:cs typeface="Calibri"/>
                <a:sym typeface="Calibri"/>
              </a:rPr>
              <a:t>Feature Scaling</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2600">
              <a:solidFill>
                <a:srgbClr val="132B46"/>
              </a:solidFill>
            </a:endParaRPr>
          </a:p>
        </p:txBody>
      </p:sp>
      <p:pic>
        <p:nvPicPr>
          <p:cNvPr descr="FeatureSclaing.png" id="102" name="Google Shape;102;p3"/>
          <p:cNvPicPr preferRelativeResize="0"/>
          <p:nvPr/>
        </p:nvPicPr>
        <p:blipFill rotWithShape="1">
          <a:blip r:embed="rId3">
            <a:alphaModFix/>
          </a:blip>
          <a:srcRect b="0" l="0" r="0" t="0"/>
          <a:stretch/>
        </p:blipFill>
        <p:spPr>
          <a:xfrm>
            <a:off x="320040" y="2112199"/>
            <a:ext cx="11548872" cy="3456560"/>
          </a:xfrm>
          <a:prstGeom prst="rect">
            <a:avLst/>
          </a:prstGeom>
          <a:noFill/>
          <a:ln>
            <a:noFill/>
          </a:ln>
        </p:spPr>
      </p:pic>
      <p:sp>
        <p:nvSpPr>
          <p:cNvPr id="103" name="Google Shape;103;p3"/>
          <p:cNvSpPr/>
          <p:nvPr/>
        </p:nvSpPr>
        <p:spPr>
          <a:xfrm>
            <a:off x="457200" y="914400"/>
            <a:ext cx="8229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546A"/>
              </a:buClr>
              <a:buSzPts val="1200"/>
              <a:buFont typeface="Calibri"/>
              <a:buNone/>
            </a:pPr>
            <a:r>
              <a:rPr b="0" i="0" lang="en-US" sz="1600" u="none" cap="none" strike="noStrike">
                <a:solidFill>
                  <a:srgbClr val="44546A"/>
                </a:solidFill>
                <a:latin typeface="Calibri"/>
                <a:ea typeface="Calibri"/>
                <a:cs typeface="Calibri"/>
                <a:sym typeface="Calibri"/>
              </a:rPr>
              <a:t>RobustScaler handles outliers better than StandardScaler</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sp>
        <p:nvSpPr>
          <p:cNvPr id="108" name="Google Shape;108;p4"/>
          <p:cNvSpPr txBox="1"/>
          <p:nvPr/>
        </p:nvSpPr>
        <p:spPr>
          <a:xfrm>
            <a:off x="502920" y="201168"/>
            <a:ext cx="11155800" cy="708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4000"/>
              <a:buNone/>
            </a:pPr>
            <a:r>
              <a:rPr b="1" lang="en-US" sz="4000">
                <a:solidFill>
                  <a:srgbClr val="1F4E78"/>
                </a:solidFill>
                <a:latin typeface="Calibri"/>
                <a:ea typeface="Calibri"/>
                <a:cs typeface="Calibri"/>
                <a:sym typeface="Calibri"/>
              </a:rPr>
              <a:t>Feature Extraction</a:t>
            </a:r>
            <a:endParaRPr b="1" sz="2600">
              <a:solidFill>
                <a:srgbClr val="132B46"/>
              </a:solidFill>
            </a:endParaRPr>
          </a:p>
        </p:txBody>
      </p:sp>
      <p:pic>
        <p:nvPicPr>
          <p:cNvPr descr="Feature Extraction.png" id="109" name="Google Shape;109;p4"/>
          <p:cNvPicPr preferRelativeResize="0"/>
          <p:nvPr/>
        </p:nvPicPr>
        <p:blipFill rotWithShape="1">
          <a:blip r:embed="rId3">
            <a:alphaModFix/>
          </a:blip>
          <a:srcRect b="0" l="0" r="0" t="0"/>
          <a:stretch/>
        </p:blipFill>
        <p:spPr>
          <a:xfrm>
            <a:off x="2116546" y="1143000"/>
            <a:ext cx="7955858" cy="539496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5"/>
          <p:cNvSpPr txBox="1"/>
          <p:nvPr/>
        </p:nvSpPr>
        <p:spPr>
          <a:xfrm>
            <a:off x="502920" y="201168"/>
            <a:ext cx="11155800" cy="1108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1F4E78"/>
              </a:buClr>
              <a:buSzPts val="4000"/>
              <a:buFont typeface="Calibri"/>
              <a:buNone/>
            </a:pPr>
            <a:r>
              <a:rPr b="1" lang="en-US" sz="4000">
                <a:solidFill>
                  <a:srgbClr val="1F4E78"/>
                </a:solidFill>
                <a:latin typeface="Calibri"/>
                <a:ea typeface="Calibri"/>
                <a:cs typeface="Calibri"/>
                <a:sym typeface="Calibri"/>
              </a:rPr>
              <a:t>Feature Engineering </a:t>
            </a:r>
            <a:endParaRPr sz="4000">
              <a:latin typeface="Calibri"/>
              <a:ea typeface="Calibri"/>
              <a:cs typeface="Calibri"/>
              <a:sym typeface="Calibri"/>
            </a:endParaRPr>
          </a:p>
          <a:p>
            <a:pPr indent="0" lvl="0" marL="0" marR="0" rtl="0" algn="l">
              <a:spcBef>
                <a:spcPts val="0"/>
              </a:spcBef>
              <a:spcAft>
                <a:spcPts val="0"/>
              </a:spcAft>
              <a:buNone/>
            </a:pPr>
            <a:r>
              <a:t/>
            </a:r>
            <a:endParaRPr b="1" sz="2600">
              <a:solidFill>
                <a:srgbClr val="132B46"/>
              </a:solidFill>
            </a:endParaRPr>
          </a:p>
        </p:txBody>
      </p:sp>
      <p:pic>
        <p:nvPicPr>
          <p:cNvPr descr="Feature Engineering.png" id="115" name="Google Shape;115;p5"/>
          <p:cNvPicPr preferRelativeResize="0"/>
          <p:nvPr/>
        </p:nvPicPr>
        <p:blipFill rotWithShape="1">
          <a:blip r:embed="rId3">
            <a:alphaModFix/>
          </a:blip>
          <a:srcRect b="0" l="0" r="0" t="0"/>
          <a:stretch/>
        </p:blipFill>
        <p:spPr>
          <a:xfrm>
            <a:off x="320040" y="2112199"/>
            <a:ext cx="11548872" cy="345656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 name="Shape 119"/>
        <p:cNvGrpSpPr/>
        <p:nvPr/>
      </p:nvGrpSpPr>
      <p:grpSpPr>
        <a:xfrm>
          <a:off x="0" y="0"/>
          <a:ext cx="0" cy="0"/>
          <a:chOff x="0" y="0"/>
          <a:chExt cx="0" cy="0"/>
        </a:xfrm>
      </p:grpSpPr>
      <p:sp>
        <p:nvSpPr>
          <p:cNvPr id="120" name="Google Shape;120;p7"/>
          <p:cNvSpPr txBox="1"/>
          <p:nvPr/>
        </p:nvSpPr>
        <p:spPr>
          <a:xfrm>
            <a:off x="502920" y="201168"/>
            <a:ext cx="11155800" cy="962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5650">
                <a:solidFill>
                  <a:srgbClr val="1F4E78"/>
                </a:solidFill>
                <a:latin typeface="Calibri"/>
                <a:ea typeface="Calibri"/>
                <a:cs typeface="Calibri"/>
                <a:sym typeface="Calibri"/>
              </a:rPr>
              <a:t>Outlier Detection &amp; Treatment</a:t>
            </a:r>
            <a:endParaRPr sz="5650">
              <a:solidFill>
                <a:srgbClr val="1F4E78"/>
              </a:solidFill>
              <a:latin typeface="Calibri"/>
              <a:ea typeface="Calibri"/>
              <a:cs typeface="Calibri"/>
              <a:sym typeface="Calibri"/>
            </a:endParaRPr>
          </a:p>
        </p:txBody>
      </p:sp>
      <p:pic>
        <p:nvPicPr>
          <p:cNvPr descr="Distance-faredistruation.png" id="121" name="Google Shape;121;p7"/>
          <p:cNvPicPr preferRelativeResize="0"/>
          <p:nvPr/>
        </p:nvPicPr>
        <p:blipFill rotWithShape="1">
          <a:blip r:embed="rId3">
            <a:alphaModFix/>
          </a:blip>
          <a:srcRect b="0" l="0" r="0" t="0"/>
          <a:stretch/>
        </p:blipFill>
        <p:spPr>
          <a:xfrm>
            <a:off x="320040" y="1663823"/>
            <a:ext cx="11548872" cy="435331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 name="Shape 125"/>
        <p:cNvGrpSpPr/>
        <p:nvPr/>
      </p:nvGrpSpPr>
      <p:grpSpPr>
        <a:xfrm>
          <a:off x="0" y="0"/>
          <a:ext cx="0" cy="0"/>
          <a:chOff x="0" y="0"/>
          <a:chExt cx="0" cy="0"/>
        </a:xfrm>
      </p:grpSpPr>
      <p:sp>
        <p:nvSpPr>
          <p:cNvPr id="126" name="Google Shape;126;p8"/>
          <p:cNvSpPr txBox="1"/>
          <p:nvPr/>
        </p:nvSpPr>
        <p:spPr>
          <a:xfrm>
            <a:off x="502920" y="201168"/>
            <a:ext cx="11155800" cy="962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5650">
                <a:solidFill>
                  <a:srgbClr val="1F4E78"/>
                </a:solidFill>
                <a:latin typeface="Calibri"/>
                <a:ea typeface="Calibri"/>
                <a:cs typeface="Calibri"/>
                <a:sym typeface="Calibri"/>
              </a:rPr>
              <a:t>Train/Test Split &amp; Data Leakage</a:t>
            </a:r>
            <a:endParaRPr sz="5650">
              <a:solidFill>
                <a:srgbClr val="1F4E78"/>
              </a:solidFill>
              <a:latin typeface="Calibri"/>
              <a:ea typeface="Calibri"/>
              <a:cs typeface="Calibri"/>
              <a:sym typeface="Calibri"/>
            </a:endParaRPr>
          </a:p>
        </p:txBody>
      </p:sp>
      <p:pic>
        <p:nvPicPr>
          <p:cNvPr descr="fareamount-distance trainvs test.png" id="127" name="Google Shape;127;p8"/>
          <p:cNvPicPr preferRelativeResize="0"/>
          <p:nvPr/>
        </p:nvPicPr>
        <p:blipFill rotWithShape="1">
          <a:blip r:embed="rId3">
            <a:alphaModFix/>
          </a:blip>
          <a:srcRect b="0" l="0" r="0" t="0"/>
          <a:stretch/>
        </p:blipFill>
        <p:spPr>
          <a:xfrm>
            <a:off x="320040" y="2113545"/>
            <a:ext cx="11548872" cy="345386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 name="Shape 131"/>
        <p:cNvGrpSpPr/>
        <p:nvPr/>
      </p:nvGrpSpPr>
      <p:grpSpPr>
        <a:xfrm>
          <a:off x="0" y="0"/>
          <a:ext cx="0" cy="0"/>
          <a:chOff x="0" y="0"/>
          <a:chExt cx="0" cy="0"/>
        </a:xfrm>
      </p:grpSpPr>
      <p:sp>
        <p:nvSpPr>
          <p:cNvPr id="132" name="Google Shape;132;h4f2796e85df475ae_0_926"/>
          <p:cNvSpPr txBox="1"/>
          <p:nvPr/>
        </p:nvSpPr>
        <p:spPr>
          <a:xfrm>
            <a:off x="502920" y="201168"/>
            <a:ext cx="11155800" cy="22704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n-US" sz="4250">
                <a:solidFill>
                  <a:srgbClr val="2B5C8A"/>
                </a:solidFill>
                <a:latin typeface="Calibri"/>
                <a:ea typeface="Calibri"/>
                <a:cs typeface="Calibri"/>
                <a:sym typeface="Calibri"/>
              </a:rPr>
              <a:t>Which features mutual information ranks highest </a:t>
            </a:r>
            <a:endParaRPr b="1" sz="4250">
              <a:solidFill>
                <a:srgbClr val="2B5C8A"/>
              </a:solidFill>
              <a:latin typeface="Calibri"/>
              <a:ea typeface="Calibri"/>
              <a:cs typeface="Calibri"/>
              <a:sym typeface="Calibri"/>
            </a:endParaRPr>
          </a:p>
          <a:p>
            <a:pPr indent="0" lvl="0" marL="0" marR="0" rtl="0" algn="l">
              <a:spcBef>
                <a:spcPts val="0"/>
              </a:spcBef>
              <a:spcAft>
                <a:spcPts val="0"/>
              </a:spcAft>
              <a:buNone/>
            </a:pPr>
            <a:r>
              <a:t/>
            </a:r>
            <a:endParaRPr b="1" sz="5650">
              <a:solidFill>
                <a:srgbClr val="1F4E78"/>
              </a:solidFill>
              <a:latin typeface="Calibri"/>
              <a:ea typeface="Calibri"/>
              <a:cs typeface="Calibri"/>
              <a:sym typeface="Calibri"/>
            </a:endParaRPr>
          </a:p>
        </p:txBody>
      </p:sp>
      <p:pic>
        <p:nvPicPr>
          <p:cNvPr id="133" name="Google Shape;133;h4f2796e85df475ae_0_926" title="featuresrankers the highest.png"/>
          <p:cNvPicPr preferRelativeResize="0"/>
          <p:nvPr/>
        </p:nvPicPr>
        <p:blipFill rotWithShape="1">
          <a:blip r:embed="rId3">
            <a:alphaModFix/>
          </a:blip>
          <a:srcRect b="42470" l="1205" r="0" t="-2472"/>
          <a:stretch/>
        </p:blipFill>
        <p:spPr>
          <a:xfrm>
            <a:off x="0" y="1338477"/>
            <a:ext cx="12191675" cy="519417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sp>
        <p:nvSpPr>
          <p:cNvPr id="138" name="Google Shape;138;p9"/>
          <p:cNvSpPr txBox="1"/>
          <p:nvPr/>
        </p:nvSpPr>
        <p:spPr>
          <a:xfrm>
            <a:off x="502920" y="201168"/>
            <a:ext cx="11155800" cy="1108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1F4E78"/>
              </a:buClr>
              <a:buSzPts val="4000"/>
              <a:buFont typeface="Calibri"/>
              <a:buNone/>
            </a:pPr>
            <a:r>
              <a:rPr b="1" lang="en-US" sz="4000">
                <a:solidFill>
                  <a:srgbClr val="1F4E78"/>
                </a:solidFill>
                <a:latin typeface="Calibri"/>
                <a:ea typeface="Calibri"/>
                <a:cs typeface="Calibri"/>
                <a:sym typeface="Calibri"/>
              </a:rPr>
              <a:t>Cross-Validation Results</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2600">
              <a:solidFill>
                <a:srgbClr val="132B46"/>
              </a:solidFill>
            </a:endParaRPr>
          </a:p>
        </p:txBody>
      </p:sp>
      <p:pic>
        <p:nvPicPr>
          <p:cNvPr descr="Crossvalidation.png" id="139" name="Google Shape;139;p9"/>
          <p:cNvPicPr preferRelativeResize="0"/>
          <p:nvPr/>
        </p:nvPicPr>
        <p:blipFill rotWithShape="1">
          <a:blip r:embed="rId3">
            <a:alphaModFix/>
          </a:blip>
          <a:srcRect b="0" l="0" r="0" t="0"/>
          <a:stretch/>
        </p:blipFill>
        <p:spPr>
          <a:xfrm>
            <a:off x="320040" y="2350177"/>
            <a:ext cx="11548872" cy="298060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sp>
        <p:nvSpPr>
          <p:cNvPr id="144" name="Google Shape;144;p10"/>
          <p:cNvSpPr txBox="1"/>
          <p:nvPr/>
        </p:nvSpPr>
        <p:spPr>
          <a:xfrm>
            <a:off x="502920" y="201168"/>
            <a:ext cx="11155800" cy="962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5650">
                <a:solidFill>
                  <a:srgbClr val="1F4E78"/>
                </a:solidFill>
                <a:latin typeface="Calibri"/>
                <a:ea typeface="Calibri"/>
                <a:cs typeface="Calibri"/>
                <a:sym typeface="Calibri"/>
              </a:rPr>
              <a:t>Ridge Hyperparameter Tuning</a:t>
            </a:r>
            <a:endParaRPr sz="5650">
              <a:solidFill>
                <a:srgbClr val="1F4E78"/>
              </a:solidFill>
              <a:latin typeface="Calibri"/>
              <a:ea typeface="Calibri"/>
              <a:cs typeface="Calibri"/>
              <a:sym typeface="Calibri"/>
            </a:endParaRPr>
          </a:p>
        </p:txBody>
      </p:sp>
      <p:pic>
        <p:nvPicPr>
          <p:cNvPr descr="Hypertuning.png" id="145" name="Google Shape;145;p10"/>
          <p:cNvPicPr preferRelativeResize="0"/>
          <p:nvPr/>
        </p:nvPicPr>
        <p:blipFill rotWithShape="1">
          <a:blip r:embed="rId3">
            <a:alphaModFix/>
          </a:blip>
          <a:srcRect b="0" l="0" r="0" t="0"/>
          <a:stretch/>
        </p:blipFill>
        <p:spPr>
          <a:xfrm>
            <a:off x="1167673" y="1143000"/>
            <a:ext cx="9853604" cy="539496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sp>
        <p:nvSpPr>
          <p:cNvPr id="150" name="Google Shape;150;p11"/>
          <p:cNvSpPr txBox="1"/>
          <p:nvPr/>
        </p:nvSpPr>
        <p:spPr>
          <a:xfrm>
            <a:off x="502920" y="201168"/>
            <a:ext cx="11155800" cy="962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5650">
                <a:solidFill>
                  <a:srgbClr val="1F4E78"/>
                </a:solidFill>
                <a:latin typeface="Calibri"/>
                <a:ea typeface="Calibri"/>
                <a:cs typeface="Calibri"/>
                <a:sym typeface="Calibri"/>
              </a:rPr>
              <a:t>Baseline vs Tuned Ridge</a:t>
            </a:r>
            <a:endParaRPr sz="5650">
              <a:solidFill>
                <a:srgbClr val="1F4E78"/>
              </a:solidFill>
              <a:latin typeface="Calibri"/>
              <a:ea typeface="Calibri"/>
              <a:cs typeface="Calibri"/>
              <a:sym typeface="Calibri"/>
            </a:endParaRPr>
          </a:p>
        </p:txBody>
      </p:sp>
      <p:pic>
        <p:nvPicPr>
          <p:cNvPr descr="BaselineVstuned.png" id="151" name="Google Shape;151;p11"/>
          <p:cNvPicPr preferRelativeResize="0"/>
          <p:nvPr/>
        </p:nvPicPr>
        <p:blipFill rotWithShape="1">
          <a:blip r:embed="rId3">
            <a:alphaModFix/>
          </a:blip>
          <a:srcRect b="0" l="0" r="0" t="0"/>
          <a:stretch/>
        </p:blipFill>
        <p:spPr>
          <a:xfrm>
            <a:off x="320040" y="2113545"/>
            <a:ext cx="11548872" cy="345386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 name="Shape 155"/>
        <p:cNvGrpSpPr/>
        <p:nvPr/>
      </p:nvGrpSpPr>
      <p:grpSpPr>
        <a:xfrm>
          <a:off x="0" y="0"/>
          <a:ext cx="0" cy="0"/>
          <a:chOff x="0" y="0"/>
          <a:chExt cx="0" cy="0"/>
        </a:xfrm>
      </p:grpSpPr>
      <p:sp>
        <p:nvSpPr>
          <p:cNvPr id="156" name="Google Shape;156;p12"/>
          <p:cNvSpPr txBox="1"/>
          <p:nvPr/>
        </p:nvSpPr>
        <p:spPr>
          <a:xfrm>
            <a:off x="502920" y="201168"/>
            <a:ext cx="11155800" cy="1108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1F4E78"/>
              </a:buClr>
              <a:buSzPts val="4000"/>
              <a:buFont typeface="Calibri"/>
              <a:buNone/>
            </a:pPr>
            <a:r>
              <a:rPr b="1" lang="en-US" sz="4000">
                <a:solidFill>
                  <a:srgbClr val="1F4E78"/>
                </a:solidFill>
                <a:latin typeface="Calibri"/>
                <a:ea typeface="Calibri"/>
                <a:cs typeface="Calibri"/>
                <a:sym typeface="Calibri"/>
              </a:rPr>
              <a:t>Baseline vs Ridge vs Gradient Boosting Comparison</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2600">
              <a:solidFill>
                <a:srgbClr val="132B46"/>
              </a:solidFill>
            </a:endParaRPr>
          </a:p>
        </p:txBody>
      </p:sp>
      <p:pic>
        <p:nvPicPr>
          <p:cNvPr descr="performanceridevsgradient bossting.png" id="157" name="Google Shape;157;p12"/>
          <p:cNvPicPr preferRelativeResize="0"/>
          <p:nvPr/>
        </p:nvPicPr>
        <p:blipFill rotWithShape="1">
          <a:blip r:embed="rId3">
            <a:alphaModFix/>
          </a:blip>
          <a:srcRect b="0" l="0" r="0" t="0"/>
          <a:stretch/>
        </p:blipFill>
        <p:spPr>
          <a:xfrm>
            <a:off x="320040" y="2311266"/>
            <a:ext cx="11548872" cy="305842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p13"/>
          <p:cNvSpPr txBox="1"/>
          <p:nvPr/>
        </p:nvSpPr>
        <p:spPr>
          <a:xfrm>
            <a:off x="502920" y="201168"/>
            <a:ext cx="11155800" cy="1108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1F4E78"/>
              </a:buClr>
              <a:buSzPts val="4000"/>
              <a:buFont typeface="Calibri"/>
              <a:buNone/>
            </a:pPr>
            <a:r>
              <a:rPr b="1" lang="en-US" sz="4000">
                <a:solidFill>
                  <a:srgbClr val="1F4E78"/>
                </a:solidFill>
                <a:latin typeface="Calibri"/>
                <a:ea typeface="Calibri"/>
                <a:cs typeface="Calibri"/>
                <a:sym typeface="Calibri"/>
              </a:rPr>
              <a:t>Ridge vs Gradient Boosting Comparison</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2600">
              <a:solidFill>
                <a:srgbClr val="132B46"/>
              </a:solidFill>
            </a:endParaRPr>
          </a:p>
        </p:txBody>
      </p:sp>
      <p:pic>
        <p:nvPicPr>
          <p:cNvPr descr="ReidgeVs Gradient Bossint.png" id="163" name="Google Shape;163;p13"/>
          <p:cNvPicPr preferRelativeResize="0"/>
          <p:nvPr/>
        </p:nvPicPr>
        <p:blipFill rotWithShape="1">
          <a:blip r:embed="rId3">
            <a:alphaModFix/>
          </a:blip>
          <a:srcRect b="0" l="0" r="0" t="0"/>
          <a:stretch/>
        </p:blipFill>
        <p:spPr>
          <a:xfrm>
            <a:off x="1167673" y="1143000"/>
            <a:ext cx="9853604" cy="539496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7" name="Shape 167"/>
        <p:cNvGrpSpPr/>
        <p:nvPr/>
      </p:nvGrpSpPr>
      <p:grpSpPr>
        <a:xfrm>
          <a:off x="0" y="0"/>
          <a:ext cx="0" cy="0"/>
          <a:chOff x="0" y="0"/>
          <a:chExt cx="0" cy="0"/>
        </a:xfrm>
      </p:grpSpPr>
      <p:sp>
        <p:nvSpPr>
          <p:cNvPr id="168" name="Google Shape;168;p14"/>
          <p:cNvSpPr txBox="1"/>
          <p:nvPr/>
        </p:nvSpPr>
        <p:spPr>
          <a:xfrm>
            <a:off x="502920" y="201168"/>
            <a:ext cx="11155800" cy="962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5650">
                <a:solidFill>
                  <a:srgbClr val="1F4E78"/>
                </a:solidFill>
                <a:latin typeface="Calibri"/>
                <a:ea typeface="Calibri"/>
                <a:cs typeface="Calibri"/>
                <a:sym typeface="Calibri"/>
              </a:rPr>
              <a:t>Model Benchmark &amp; Selection</a:t>
            </a:r>
            <a:endParaRPr sz="5650">
              <a:solidFill>
                <a:srgbClr val="1F4E78"/>
              </a:solidFill>
              <a:latin typeface="Calibri"/>
              <a:ea typeface="Calibri"/>
              <a:cs typeface="Calibri"/>
              <a:sym typeface="Calibri"/>
            </a:endParaRPr>
          </a:p>
        </p:txBody>
      </p:sp>
      <p:pic>
        <p:nvPicPr>
          <p:cNvPr descr="stageone RMSE.png" id="169" name="Google Shape;169;p14"/>
          <p:cNvPicPr preferRelativeResize="0"/>
          <p:nvPr/>
        </p:nvPicPr>
        <p:blipFill rotWithShape="1">
          <a:blip r:embed="rId3">
            <a:alphaModFix/>
          </a:blip>
          <a:srcRect b="0" l="0" r="0" t="0"/>
          <a:stretch/>
        </p:blipFill>
        <p:spPr>
          <a:xfrm>
            <a:off x="320040" y="2112199"/>
            <a:ext cx="11548872" cy="345656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h4f2796e85df475ae_0_862"/>
          <p:cNvSpPr/>
          <p:nvPr/>
        </p:nvSpPr>
        <p:spPr>
          <a:xfrm>
            <a:off x="533400" y="274327"/>
            <a:ext cx="11658300" cy="777300"/>
          </a:xfrm>
          <a:prstGeom prst="rect">
            <a:avLst/>
          </a:prstGeom>
          <a:noFill/>
          <a:ln>
            <a:noFill/>
          </a:ln>
        </p:spPr>
        <p:txBody>
          <a:bodyPr anchorCtr="0" anchor="ctr" bIns="64750" lIns="129525" spcFirstLastPara="1" rIns="129525" wrap="square" tIns="64750">
            <a:noAutofit/>
          </a:bodyPr>
          <a:lstStyle/>
          <a:p>
            <a:pPr indent="0" lvl="0" marL="0" marR="0" rtl="0" algn="l">
              <a:spcBef>
                <a:spcPts val="0"/>
              </a:spcBef>
              <a:spcAft>
                <a:spcPts val="0"/>
              </a:spcAft>
              <a:buClr>
                <a:srgbClr val="1F4E78"/>
              </a:buClr>
              <a:buSzPts val="5667"/>
              <a:buFont typeface="Calibri"/>
              <a:buNone/>
            </a:pPr>
            <a:r>
              <a:rPr b="1" i="0" lang="en-US" sz="5667" u="none" cap="none" strike="noStrike">
                <a:solidFill>
                  <a:srgbClr val="1F4E78"/>
                </a:solidFill>
                <a:latin typeface="Calibri"/>
                <a:ea typeface="Calibri"/>
                <a:cs typeface="Calibri"/>
                <a:sym typeface="Calibri"/>
              </a:rPr>
              <a:t>Actual vs Predicted Fares</a:t>
            </a:r>
            <a:endParaRPr b="0" i="0" sz="5667" u="none" cap="none" strike="noStrike">
              <a:solidFill>
                <a:srgbClr val="000000"/>
              </a:solidFill>
              <a:latin typeface="Calibri"/>
              <a:ea typeface="Calibri"/>
              <a:cs typeface="Calibri"/>
              <a:sym typeface="Calibri"/>
            </a:endParaRPr>
          </a:p>
        </p:txBody>
      </p:sp>
      <p:pic>
        <p:nvPicPr>
          <p:cNvPr descr="/mnt/user-data/uploads/Redige_Graidtion_actual_and_fear.png" id="175" name="Google Shape;175;h4f2796e85df475ae_0_862"/>
          <p:cNvPicPr preferRelativeResize="0"/>
          <p:nvPr/>
        </p:nvPicPr>
        <p:blipFill rotWithShape="1">
          <a:blip r:embed="rId3">
            <a:alphaModFix/>
          </a:blip>
          <a:srcRect b="0" l="0" r="0" t="0"/>
          <a:stretch/>
        </p:blipFill>
        <p:spPr>
          <a:xfrm>
            <a:off x="274327" y="1440153"/>
            <a:ext cx="11658278" cy="518144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79" name="Shape 179"/>
        <p:cNvGrpSpPr/>
        <p:nvPr/>
      </p:nvGrpSpPr>
      <p:grpSpPr>
        <a:xfrm>
          <a:off x="0" y="0"/>
          <a:ext cx="0" cy="0"/>
          <a:chOff x="0" y="0"/>
          <a:chExt cx="0" cy="0"/>
        </a:xfrm>
      </p:grpSpPr>
      <p:sp>
        <p:nvSpPr>
          <p:cNvPr id="180" name="Google Shape;180;h4f2796e85df475ae_0_867"/>
          <p:cNvSpPr/>
          <p:nvPr/>
        </p:nvSpPr>
        <p:spPr>
          <a:xfrm>
            <a:off x="127950" y="457200"/>
            <a:ext cx="11866500" cy="923100"/>
          </a:xfrm>
          <a:prstGeom prst="rect">
            <a:avLst/>
          </a:prstGeom>
          <a:noFill/>
          <a:ln>
            <a:noFill/>
          </a:ln>
        </p:spPr>
        <p:txBody>
          <a:bodyPr anchorCtr="0" anchor="ctr" bIns="65900" lIns="131825" spcFirstLastPara="1" rIns="131825" wrap="square" tIns="65900">
            <a:noAutofit/>
          </a:bodyPr>
          <a:lstStyle/>
          <a:p>
            <a:pPr indent="0" lvl="0" marL="0" marR="0" rtl="0" algn="l">
              <a:spcBef>
                <a:spcPts val="0"/>
              </a:spcBef>
              <a:spcAft>
                <a:spcPts val="0"/>
              </a:spcAft>
              <a:buClr>
                <a:srgbClr val="FFFFFF"/>
              </a:buClr>
              <a:buSzPts val="6344"/>
              <a:buFont typeface="Calibri"/>
              <a:buNone/>
            </a:pPr>
            <a:r>
              <a:rPr b="1" i="0" lang="en-US" sz="6344" u="none" cap="none" strike="noStrike">
                <a:solidFill>
                  <a:srgbClr val="1F4E78"/>
                </a:solidFill>
                <a:latin typeface="Calibri"/>
                <a:ea typeface="Calibri"/>
                <a:cs typeface="Calibri"/>
                <a:sym typeface="Calibri"/>
              </a:rPr>
              <a:t>Key Findings &amp; Recommendations</a:t>
            </a:r>
            <a:endParaRPr b="0" i="0" sz="6344" u="none" cap="none" strike="noStrike">
              <a:solidFill>
                <a:srgbClr val="1F4E78"/>
              </a:solidFill>
              <a:latin typeface="Calibri"/>
              <a:ea typeface="Calibri"/>
              <a:cs typeface="Calibri"/>
              <a:sym typeface="Calibri"/>
            </a:endParaRPr>
          </a:p>
        </p:txBody>
      </p:sp>
      <p:sp>
        <p:nvSpPr>
          <p:cNvPr id="181" name="Google Shape;181;h4f2796e85df475ae_0_867"/>
          <p:cNvSpPr/>
          <p:nvPr/>
        </p:nvSpPr>
        <p:spPr>
          <a:xfrm>
            <a:off x="523499" y="1775699"/>
            <a:ext cx="11075100" cy="791100"/>
          </a:xfrm>
          <a:prstGeom prst="rect">
            <a:avLst/>
          </a:prstGeom>
          <a:noFill/>
          <a:ln>
            <a:noFill/>
          </a:ln>
        </p:spPr>
        <p:txBody>
          <a:bodyPr anchorCtr="0" anchor="t" bIns="65900" lIns="131825" spcFirstLastPara="1" rIns="131825" wrap="square" tIns="65900">
            <a:noAutofit/>
          </a:bodyPr>
          <a:lstStyle/>
          <a:p>
            <a:pPr indent="-507137" lvl="0" marL="494436" marR="0" rtl="0" algn="l">
              <a:spcBef>
                <a:spcPts val="0"/>
              </a:spcBef>
              <a:spcAft>
                <a:spcPts val="0"/>
              </a:spcAft>
              <a:buClr>
                <a:schemeClr val="dk1"/>
              </a:buClr>
              <a:buSzPts val="2075"/>
              <a:buChar char="•"/>
            </a:pPr>
            <a:r>
              <a:rPr i="0" lang="en-US" sz="2075" u="none" cap="none" strike="noStrike">
                <a:solidFill>
                  <a:schemeClr val="dk1"/>
                </a:solidFill>
              </a:rPr>
              <a:t>Distance is the dominant predictor — location features capture 95% of information</a:t>
            </a:r>
            <a:endParaRPr i="0" sz="2075" u="none" cap="none" strike="noStrike">
              <a:solidFill>
                <a:schemeClr val="dk1"/>
              </a:solidFill>
            </a:endParaRPr>
          </a:p>
        </p:txBody>
      </p:sp>
      <p:sp>
        <p:nvSpPr>
          <p:cNvPr id="182" name="Google Shape;182;h4f2796e85df475ae_0_867"/>
          <p:cNvSpPr/>
          <p:nvPr/>
        </p:nvSpPr>
        <p:spPr>
          <a:xfrm>
            <a:off x="523499" y="2632724"/>
            <a:ext cx="11075100" cy="791100"/>
          </a:xfrm>
          <a:prstGeom prst="rect">
            <a:avLst/>
          </a:prstGeom>
          <a:noFill/>
          <a:ln>
            <a:noFill/>
          </a:ln>
        </p:spPr>
        <p:txBody>
          <a:bodyPr anchorCtr="0" anchor="t" bIns="65900" lIns="131825" spcFirstLastPara="1" rIns="131825" wrap="square" tIns="65900">
            <a:noAutofit/>
          </a:bodyPr>
          <a:lstStyle/>
          <a:p>
            <a:pPr indent="-507137" lvl="0" marL="494436" marR="0" rtl="0" algn="l">
              <a:spcBef>
                <a:spcPts val="0"/>
              </a:spcBef>
              <a:spcAft>
                <a:spcPts val="0"/>
              </a:spcAft>
              <a:buClr>
                <a:schemeClr val="dk1"/>
              </a:buClr>
              <a:buSzPts val="2075"/>
              <a:buChar char="•"/>
            </a:pPr>
            <a:r>
              <a:rPr i="0" lang="en-US" sz="2075" u="none" cap="none" strike="noStrike">
                <a:solidFill>
                  <a:schemeClr val="dk1"/>
                </a:solidFill>
              </a:rPr>
              <a:t>Gradient Boosting outperforms Ridge regression with lower RMSE and higher R²</a:t>
            </a:r>
            <a:endParaRPr i="0" sz="2075" u="none" cap="none" strike="noStrike">
              <a:solidFill>
                <a:schemeClr val="dk1"/>
              </a:solidFill>
            </a:endParaRPr>
          </a:p>
        </p:txBody>
      </p:sp>
      <p:sp>
        <p:nvSpPr>
          <p:cNvPr id="183" name="Google Shape;183;h4f2796e85df475ae_0_867"/>
          <p:cNvSpPr/>
          <p:nvPr/>
        </p:nvSpPr>
        <p:spPr>
          <a:xfrm>
            <a:off x="523499" y="3489748"/>
            <a:ext cx="11075100" cy="791100"/>
          </a:xfrm>
          <a:prstGeom prst="rect">
            <a:avLst/>
          </a:prstGeom>
          <a:noFill/>
          <a:ln>
            <a:noFill/>
          </a:ln>
        </p:spPr>
        <p:txBody>
          <a:bodyPr anchorCtr="0" anchor="t" bIns="65900" lIns="131825" spcFirstLastPara="1" rIns="131825" wrap="square" tIns="65900">
            <a:noAutofit/>
          </a:bodyPr>
          <a:lstStyle/>
          <a:p>
            <a:pPr indent="-507137" lvl="0" marL="494436" marR="0" rtl="0" algn="l">
              <a:spcBef>
                <a:spcPts val="0"/>
              </a:spcBef>
              <a:spcAft>
                <a:spcPts val="0"/>
              </a:spcAft>
              <a:buClr>
                <a:schemeClr val="dk1"/>
              </a:buClr>
              <a:buSzPts val="2075"/>
              <a:buChar char="•"/>
            </a:pPr>
            <a:r>
              <a:rPr i="0" lang="en-US" sz="2075" u="none" cap="none" strike="noStrike">
                <a:solidFill>
                  <a:schemeClr val="dk1"/>
                </a:solidFill>
              </a:rPr>
              <a:t>Weather and traffic conditions show weak correlation with fare (encoded impact is minimal)</a:t>
            </a:r>
            <a:endParaRPr i="0" sz="2075" u="none" cap="none" strike="noStrike">
              <a:solidFill>
                <a:schemeClr val="dk1"/>
              </a:solidFill>
            </a:endParaRPr>
          </a:p>
        </p:txBody>
      </p:sp>
      <p:sp>
        <p:nvSpPr>
          <p:cNvPr id="184" name="Google Shape;184;h4f2796e85df475ae_0_867"/>
          <p:cNvSpPr/>
          <p:nvPr/>
        </p:nvSpPr>
        <p:spPr>
          <a:xfrm>
            <a:off x="523499" y="4346773"/>
            <a:ext cx="11075100" cy="791100"/>
          </a:xfrm>
          <a:prstGeom prst="rect">
            <a:avLst/>
          </a:prstGeom>
          <a:noFill/>
          <a:ln>
            <a:noFill/>
          </a:ln>
        </p:spPr>
        <p:txBody>
          <a:bodyPr anchorCtr="0" anchor="t" bIns="65900" lIns="131825" spcFirstLastPara="1" rIns="131825" wrap="square" tIns="65900">
            <a:noAutofit/>
          </a:bodyPr>
          <a:lstStyle/>
          <a:p>
            <a:pPr indent="-507137" lvl="0" marL="494436" marR="0" rtl="0" algn="l">
              <a:spcBef>
                <a:spcPts val="0"/>
              </a:spcBef>
              <a:spcAft>
                <a:spcPts val="0"/>
              </a:spcAft>
              <a:buClr>
                <a:schemeClr val="dk1"/>
              </a:buClr>
              <a:buSzPts val="2075"/>
              <a:buChar char="•"/>
            </a:pPr>
            <a:r>
              <a:rPr i="0" lang="en-US" sz="2075" u="none" cap="none" strike="noStrike">
                <a:solidFill>
                  <a:schemeClr val="dk1"/>
                </a:solidFill>
              </a:rPr>
              <a:t>Model performance degrades for longer trips (&gt;10km) — consider separate models for distance segments</a:t>
            </a:r>
            <a:endParaRPr i="0" sz="2075" u="none" cap="none" strike="noStrike">
              <a:solidFill>
                <a:schemeClr val="dk1"/>
              </a:solidFill>
            </a:endParaRPr>
          </a:p>
        </p:txBody>
      </p:sp>
      <p:sp>
        <p:nvSpPr>
          <p:cNvPr id="185" name="Google Shape;185;h4f2796e85df475ae_0_867"/>
          <p:cNvSpPr/>
          <p:nvPr/>
        </p:nvSpPr>
        <p:spPr>
          <a:xfrm>
            <a:off x="523499" y="5203798"/>
            <a:ext cx="11075100" cy="791100"/>
          </a:xfrm>
          <a:prstGeom prst="rect">
            <a:avLst/>
          </a:prstGeom>
          <a:noFill/>
          <a:ln>
            <a:noFill/>
          </a:ln>
        </p:spPr>
        <p:txBody>
          <a:bodyPr anchorCtr="0" anchor="t" bIns="65900" lIns="131825" spcFirstLastPara="1" rIns="131825" wrap="square" tIns="65900">
            <a:noAutofit/>
          </a:bodyPr>
          <a:lstStyle/>
          <a:p>
            <a:pPr indent="-507137" lvl="0" marL="494436" marR="0" rtl="0" algn="l">
              <a:spcBef>
                <a:spcPts val="0"/>
              </a:spcBef>
              <a:spcAft>
                <a:spcPts val="0"/>
              </a:spcAft>
              <a:buClr>
                <a:schemeClr val="dk1"/>
              </a:buClr>
              <a:buSzPts val="2075"/>
              <a:buChar char="•"/>
            </a:pPr>
            <a:r>
              <a:rPr i="0" lang="en-US" sz="2075" u="none" cap="none" strike="noStrike">
                <a:solidFill>
                  <a:schemeClr val="dk1"/>
                </a:solidFill>
              </a:rPr>
              <a:t>Log-transformation of distance captures the non-linear relationship better than raw distance</a:t>
            </a:r>
            <a:endParaRPr i="0" sz="2075" u="none" cap="none" strike="noStrike">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Esraa Elgebaly</dc:creator>
</cp:coreProperties>
</file>